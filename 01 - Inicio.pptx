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315" r:id="rId3"/>
    <p:sldId id="307" r:id="rId4"/>
    <p:sldId id="308" r:id="rId5"/>
    <p:sldId id="309" r:id="rId6"/>
    <p:sldId id="311" r:id="rId7"/>
    <p:sldId id="310" r:id="rId8"/>
    <p:sldId id="316" r:id="rId9"/>
    <p:sldId id="332" r:id="rId10"/>
    <p:sldId id="313" r:id="rId11"/>
    <p:sldId id="259" r:id="rId12"/>
    <p:sldId id="317" r:id="rId13"/>
    <p:sldId id="318" r:id="rId14"/>
    <p:sldId id="319" r:id="rId15"/>
    <p:sldId id="322" r:id="rId16"/>
    <p:sldId id="323" r:id="rId17"/>
    <p:sldId id="324" r:id="rId18"/>
    <p:sldId id="312" r:id="rId19"/>
    <p:sldId id="320" r:id="rId20"/>
    <p:sldId id="326" r:id="rId21"/>
    <p:sldId id="321" r:id="rId22"/>
    <p:sldId id="327" r:id="rId23"/>
    <p:sldId id="328" r:id="rId24"/>
    <p:sldId id="329" r:id="rId25"/>
    <p:sldId id="325" r:id="rId26"/>
    <p:sldId id="331" r:id="rId27"/>
    <p:sldId id="333" r:id="rId28"/>
    <p:sldId id="334" r:id="rId29"/>
    <p:sldId id="335" r:id="rId30"/>
    <p:sldId id="336" r:id="rId31"/>
    <p:sldId id="330" r:id="rId32"/>
    <p:sldId id="338" r:id="rId33"/>
    <p:sldId id="337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90" autoAdjust="0"/>
    <p:restoredTop sz="86467" autoAdjust="0"/>
  </p:normalViewPr>
  <p:slideViewPr>
    <p:cSldViewPr snapToGrid="0" snapToObjects="1">
      <p:cViewPr varScale="1">
        <p:scale>
          <a:sx n="95" d="100"/>
          <a:sy n="95" d="100"/>
        </p:scale>
        <p:origin x="396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D7C45-680E-4489-80EB-BBEA1434BA56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C9F70-A0BE-4079-B8B5-04DAAB5E5C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06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413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20551-D513-9723-2BB6-660023BEC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0698A83-DFC9-0BD1-54BF-18C3D6E90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DEB0AC9-FDA0-0C62-754D-BA9EC7A22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71E5E5-D490-2393-43FF-0716D30AB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869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0C2CE-915D-C2A1-23D3-D4EBFCB9F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D88D36E-91A9-EFC8-3363-22D675E15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6DE074-760C-089C-6369-61DCC42C7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E6083E-98BE-2AD3-EFF2-D1A57C4EA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2852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3980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9E785-E6A1-9F28-61E8-50BD3AFC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91DD6E-ADCA-EC27-9CFB-8371BB42A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33CF2DB-E612-B8A3-12C5-98686D3C5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E9579D-D0C2-A4A1-6973-656081FCB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4033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2813F-760D-C7D6-3CBD-DF5B53525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4020B15-0A49-C4B5-E94D-6ABE13D05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D89890A-3C0B-C811-EA54-2FA7F5C11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28A3B1-0B80-0D46-7922-9624C976B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7552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99EE1-0D7E-73BD-0EA9-7D65405F0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F10FC9D-6F45-899F-F62E-2DF8D90F3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39B44D4-79D6-C789-0B6A-2D43564AC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4CBC23-84C8-A187-3ADD-BBBBCFB17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7458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0009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7171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2188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792" y="2130426"/>
            <a:ext cx="984274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792" y="3864634"/>
            <a:ext cx="984274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76883" y="6356351"/>
            <a:ext cx="192464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657" y="4406901"/>
            <a:ext cx="982877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657" y="2906713"/>
            <a:ext cx="982877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1017" y="1552577"/>
            <a:ext cx="464917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6437" y="1561383"/>
            <a:ext cx="454899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017" y="1535113"/>
            <a:ext cx="508049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8166" y="2174875"/>
            <a:ext cx="505334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91509" y="1535113"/>
            <a:ext cx="5149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92381" y="2174875"/>
            <a:ext cx="487305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797" y="273051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5737" y="273051"/>
            <a:ext cx="565892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9797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166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8166" y="685800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8166" y="5366035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017" y="274638"/>
            <a:ext cx="995441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017" y="1600201"/>
            <a:ext cx="995441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8166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7017" y="6356351"/>
            <a:ext cx="35024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40785" y="6356351"/>
            <a:ext cx="192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pic>
        <p:nvPicPr>
          <p:cNvPr id="1031" name="Imagem 1030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50F0E33-6D96-819A-F084-8DC047D0F98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340136" y="0"/>
            <a:ext cx="1851863" cy="5763853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14B44035-AFE9-B53C-C283-0D620D4577F8}"/>
              </a:ext>
            </a:extLst>
          </p:cNvPr>
          <p:cNvSpPr/>
          <p:nvPr userDrawn="1"/>
        </p:nvSpPr>
        <p:spPr>
          <a:xfrm>
            <a:off x="10363200" y="5753819"/>
            <a:ext cx="1828800" cy="1104181"/>
          </a:xfrm>
          <a:prstGeom prst="rect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Picture 2" descr="Universidade Estadual de Goiás">
            <a:extLst>
              <a:ext uri="{FF2B5EF4-FFF2-40B4-BE49-F238E27FC236}">
                <a16:creationId xmlns:a16="http://schemas.microsoft.com/office/drawing/2014/main" id="{18AB2DC8-328B-1683-CA2B-023A50B2F2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217" y="6418144"/>
            <a:ext cx="1206766" cy="36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just" defTabSz="4572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just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defTabSz="457200" rtl="0" eaLnBrk="1" latinLnBrk="0" hangingPunct="1">
        <a:spcBef>
          <a:spcPct val="20000"/>
        </a:spcBef>
        <a:buFont typeface="Arial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457200" rtl="0" eaLnBrk="1" latinLnBrk="0" hangingPunct="1">
        <a:spcBef>
          <a:spcPct val="20000"/>
        </a:spcBef>
        <a:buFont typeface="Arial"/>
        <a:buChar char="–"/>
        <a:defRPr sz="2000" u="sng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38D8062-D185-A225-A53A-B6501DA3323D}"/>
              </a:ext>
            </a:extLst>
          </p:cNvPr>
          <p:cNvSpPr txBox="1"/>
          <p:nvPr/>
        </p:nvSpPr>
        <p:spPr>
          <a:xfrm>
            <a:off x="1097280" y="1359568"/>
            <a:ext cx="588815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b="1" dirty="0"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Bancos de Dados I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65C5E3-E48B-49FC-3351-D42F2E92F8A1}"/>
              </a:ext>
            </a:extLst>
          </p:cNvPr>
          <p:cNvSpPr txBox="1"/>
          <p:nvPr/>
        </p:nvSpPr>
        <p:spPr>
          <a:xfrm>
            <a:off x="1097279" y="2159787"/>
            <a:ext cx="1119217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b="1" dirty="0">
                <a:solidFill>
                  <a:srgbClr val="3E3EEC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TSI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BF2CD0B-5541-7125-8B87-C1ED8D1E3A78}"/>
              </a:ext>
            </a:extLst>
          </p:cNvPr>
          <p:cNvSpPr txBox="1"/>
          <p:nvPr/>
        </p:nvSpPr>
        <p:spPr>
          <a:xfrm>
            <a:off x="1085705" y="3437059"/>
            <a:ext cx="6135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Introdução e fundamentos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0FC8993-9C43-CF86-EBF5-D44B006FFB99}"/>
              </a:ext>
            </a:extLst>
          </p:cNvPr>
          <p:cNvSpPr txBox="1"/>
          <p:nvPr/>
        </p:nvSpPr>
        <p:spPr>
          <a:xfrm>
            <a:off x="960119" y="6115551"/>
            <a:ext cx="6135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Alison Filgueiras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Professor | UEG</a:t>
            </a:r>
          </a:p>
        </p:txBody>
      </p:sp>
      <p:grpSp>
        <p:nvGrpSpPr>
          <p:cNvPr id="1034" name="Agrupar 1033">
            <a:extLst>
              <a:ext uri="{FF2B5EF4-FFF2-40B4-BE49-F238E27FC236}">
                <a16:creationId xmlns:a16="http://schemas.microsoft.com/office/drawing/2014/main" id="{F2684B3C-CED0-121B-CAF8-575122981630}"/>
              </a:ext>
            </a:extLst>
          </p:cNvPr>
          <p:cNvGrpSpPr/>
          <p:nvPr/>
        </p:nvGrpSpPr>
        <p:grpSpPr>
          <a:xfrm>
            <a:off x="226700" y="6103288"/>
            <a:ext cx="685800" cy="615554"/>
            <a:chOff x="226700" y="6103288"/>
            <a:chExt cx="685800" cy="615554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85D935DD-DDDA-FF65-63FD-530CB8DBE80E}"/>
                </a:ext>
              </a:extLst>
            </p:cNvPr>
            <p:cNvSpPr/>
            <p:nvPr/>
          </p:nvSpPr>
          <p:spPr>
            <a:xfrm>
              <a:off x="226700" y="6103288"/>
              <a:ext cx="685800" cy="61555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0" name="Gráfico 19" descr="Usuário com preenchimento sólido">
              <a:extLst>
                <a:ext uri="{FF2B5EF4-FFF2-40B4-BE49-F238E27FC236}">
                  <a16:creationId xmlns:a16="http://schemas.microsoft.com/office/drawing/2014/main" id="{C66295BE-8410-F15A-A753-03D0AB13B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3414" y="6204878"/>
              <a:ext cx="412373" cy="412373"/>
            </a:xfrm>
            <a:prstGeom prst="rect">
              <a:avLst/>
            </a:prstGeom>
          </p:spPr>
        </p:pic>
      </p:grpSp>
      <p:sp>
        <p:nvSpPr>
          <p:cNvPr id="24" name="Retângulo 23">
            <a:extLst>
              <a:ext uri="{FF2B5EF4-FFF2-40B4-BE49-F238E27FC236}">
                <a16:creationId xmlns:a16="http://schemas.microsoft.com/office/drawing/2014/main" id="{A679D320-6A19-BA43-1417-38BF23578455}"/>
              </a:ext>
            </a:extLst>
          </p:cNvPr>
          <p:cNvSpPr/>
          <p:nvPr/>
        </p:nvSpPr>
        <p:spPr>
          <a:xfrm>
            <a:off x="1212352" y="3088519"/>
            <a:ext cx="1009639" cy="81561"/>
          </a:xfrm>
          <a:prstGeom prst="rect">
            <a:avLst/>
          </a:prstGeom>
          <a:solidFill>
            <a:srgbClr val="3E3E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5" name="Imagem 1024" descr="Palco com luzes azuis&#10;&#10;O conteúdo gerado por IA pode estar incorreto.">
            <a:extLst>
              <a:ext uri="{FF2B5EF4-FFF2-40B4-BE49-F238E27FC236}">
                <a16:creationId xmlns:a16="http://schemas.microsoft.com/office/drawing/2014/main" id="{B9266E90-32F5-C287-214F-67EC1490E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9165" y="0"/>
            <a:ext cx="2391109" cy="3972479"/>
          </a:xfrm>
          <a:prstGeom prst="rect">
            <a:avLst/>
          </a:prstGeom>
        </p:spPr>
      </p:pic>
      <p:pic>
        <p:nvPicPr>
          <p:cNvPr id="1027" name="Imagem 1026" descr="Lousa com letras e números em fundo preto&#10;&#10;O conteúdo gerado por IA pode estar incorreto.">
            <a:extLst>
              <a:ext uri="{FF2B5EF4-FFF2-40B4-BE49-F238E27FC236}">
                <a16:creationId xmlns:a16="http://schemas.microsoft.com/office/drawing/2014/main" id="{A4B543E0-C29B-E196-B7C7-5E66271B5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9164" y="3928750"/>
            <a:ext cx="2391109" cy="4182059"/>
          </a:xfrm>
          <a:prstGeom prst="rect">
            <a:avLst/>
          </a:prstGeom>
        </p:spPr>
      </p:pic>
      <p:sp>
        <p:nvSpPr>
          <p:cNvPr id="1029" name="AutoShape 6" descr="Imagem de ">
            <a:extLst>
              <a:ext uri="{FF2B5EF4-FFF2-40B4-BE49-F238E27FC236}">
                <a16:creationId xmlns:a16="http://schemas.microsoft.com/office/drawing/2014/main" id="{9EAD35B4-A30E-3E1D-0195-D40D66F1CC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" name="Picture 2" descr="Universidade Estadual de Goiás">
            <a:extLst>
              <a:ext uri="{FF2B5EF4-FFF2-40B4-BE49-F238E27FC236}">
                <a16:creationId xmlns:a16="http://schemas.microsoft.com/office/drawing/2014/main" id="{2A0A8953-2E8B-09AD-FF7B-0FC207565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217" y="6418144"/>
            <a:ext cx="1206766" cy="36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1BFCD8B-611F-E161-11A6-C23A82F6C4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008" y="168620"/>
            <a:ext cx="9954417" cy="1143000"/>
          </a:xfrm>
        </p:spPr>
        <p:txBody>
          <a:bodyPr/>
          <a:lstStyle/>
          <a:p>
            <a:r>
              <a:rPr lang="pt-BR" dirty="0"/>
              <a:t>Objetivos</a:t>
            </a:r>
            <a:r>
              <a:rPr lang="pt-BR" baseline="0" dirty="0"/>
              <a:t> do encontro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3FEDF3-A8A2-12B5-77A6-DD23F1E58EB5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Parte teórica</a:t>
            </a:r>
            <a:endParaRPr lang="pt-BR" dirty="0"/>
          </a:p>
          <a:p>
            <a:pPr lvl="1"/>
            <a:r>
              <a:rPr lang="pt-BR" dirty="0"/>
              <a:t>Apresentação da disciplina, metodologia e avaliação</a:t>
            </a:r>
          </a:p>
          <a:p>
            <a:pPr lvl="1"/>
            <a:r>
              <a:rPr lang="pt-BR" dirty="0"/>
              <a:t>Conceitos básicos: dados, informação e conhecimento</a:t>
            </a:r>
          </a:p>
          <a:p>
            <a:pPr lvl="1"/>
            <a:r>
              <a:rPr lang="pt-BR" dirty="0"/>
              <a:t>Problemas da abordagem tradicional de arquivos</a:t>
            </a:r>
          </a:p>
          <a:p>
            <a:r>
              <a:rPr lang="pt-BR" b="1" dirty="0"/>
              <a:t>Parte prática</a:t>
            </a:r>
            <a:endParaRPr lang="pt-BR" dirty="0"/>
          </a:p>
          <a:p>
            <a:pPr lvl="1"/>
            <a:r>
              <a:rPr lang="pt-BR" dirty="0"/>
              <a:t>Apresentação dos </a:t>
            </a:r>
            <a:r>
              <a:rPr lang="pt-BR" dirty="0" err="1"/>
              <a:t>SGBDs</a:t>
            </a:r>
            <a:r>
              <a:rPr lang="pt-BR" dirty="0"/>
              <a:t> a serem utilizados (</a:t>
            </a:r>
            <a:r>
              <a:rPr lang="pt-BR" dirty="0" err="1"/>
              <a:t>postgres</a:t>
            </a:r>
            <a:r>
              <a:rPr lang="pt-BR" dirty="0"/>
              <a:t> e </a:t>
            </a:r>
            <a:r>
              <a:rPr lang="pt-BR" dirty="0" err="1"/>
              <a:t>MariaDB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Instalação/configuração do ambiente</a:t>
            </a:r>
          </a:p>
          <a:p>
            <a:pPr lvl="1"/>
            <a:r>
              <a:rPr lang="pt-BR" dirty="0"/>
              <a:t>Primeira interação com o SGBD (acesso, </a:t>
            </a:r>
            <a:r>
              <a:rPr lang="pt-BR" dirty="0" err="1"/>
              <a:t>schemas</a:t>
            </a:r>
            <a:r>
              <a:rPr lang="pt-BR" dirty="0"/>
              <a:t>, bancos)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9820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5ED3A-4B8F-7DF1-E31D-9E4A09AEC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 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0121D2-10CA-230D-5FF0-307737F9E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Ementa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792135F-AD41-F692-29FD-4214FE68818E}"/>
              </a:ext>
            </a:extLst>
          </p:cNvPr>
          <p:cNvSpPr txBox="1"/>
          <p:nvPr/>
        </p:nvSpPr>
        <p:spPr>
          <a:xfrm>
            <a:off x="439839" y="2786223"/>
            <a:ext cx="9248172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/>
              <a:t>Banco de dados: conceitos e terminologia. Abstração de dados. Paradigmas de banco de dados: tradicionais e novas tendências. Projeto de banco de dados: conceitual, lógico e físico. Normalização. Linguagem de Definição, Consulta e Manipulação de Dados.</a:t>
            </a:r>
          </a:p>
        </p:txBody>
      </p:sp>
    </p:spTree>
    <p:extLst>
      <p:ext uri="{BB962C8B-B14F-4D97-AF65-F5344CB8AC3E}">
        <p14:creationId xmlns:p14="http://schemas.microsoft.com/office/powerpoint/2010/main" val="1747343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01EAC-23AF-76F1-5F86-C5E33CF27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5FCE0-64C5-4763-5C4F-8DF54AC8A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 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D1BC7F-49A8-C5D5-CF58-73A9B2288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Objetivo Geral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D8724F-E65F-AADA-AC2C-6A2E6934973A}"/>
              </a:ext>
            </a:extLst>
          </p:cNvPr>
          <p:cNvSpPr txBox="1"/>
          <p:nvPr/>
        </p:nvSpPr>
        <p:spPr>
          <a:xfrm>
            <a:off x="403615" y="2618879"/>
            <a:ext cx="9608486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2400" dirty="0"/>
              <a:t>Proporcionar ao estudante a compreensão teórica e prática dos fundamentos de bancos de dados, capacitando-o a analisar, projetar, implementar e manipular bases de dados utilizando técnicas contemporâneas de modelagem, normalização e linguagens de definição, consulta e manipulação de dados, considerando paradigmas tradicionais e tendências atuais.</a:t>
            </a:r>
          </a:p>
        </p:txBody>
      </p:sp>
    </p:spTree>
    <p:extLst>
      <p:ext uri="{BB962C8B-B14F-4D97-AF65-F5344CB8AC3E}">
        <p14:creationId xmlns:p14="http://schemas.microsoft.com/office/powerpoint/2010/main" val="3902986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D3FCA-9162-DD76-6704-8E68B9468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BAA37-AC71-6C7E-8F3F-05CA4460E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 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0A6A58-C167-FF0A-E61D-E07BDF0A7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Objetivos específicos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20E56D-A8A2-B2F4-4A4D-B285340B1155}"/>
              </a:ext>
            </a:extLst>
          </p:cNvPr>
          <p:cNvSpPr txBox="1"/>
          <p:nvPr/>
        </p:nvSpPr>
        <p:spPr>
          <a:xfrm>
            <a:off x="403615" y="2618879"/>
            <a:ext cx="9608486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pt-BR" dirty="0"/>
              <a:t>Compreender os conceitos, terminologias e componentes de um sistema de banco de dados.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dirty="0"/>
              <a:t>Diferenciar abstrações de dados e níveis de arquitetura de banco de dados.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dirty="0"/>
              <a:t>Identificar e comparar paradigmas de bancos de dados, incluindo modelos tradicionais e novas tendências.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dirty="0"/>
              <a:t>Elaborar modelos conceituais, utilizando diagramas entidade-relacionamento.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dirty="0"/>
              <a:t>Transformar modelos conceituais em modelos lógicos e físicos.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dirty="0"/>
              <a:t>Aplicar corretamente as formas normais para normalização de dados.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dirty="0"/>
              <a:t>Utilizar linguagens SQL para definição, consulta e manipulação de dados.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dirty="0"/>
              <a:t>Implementar bancos de dados relacionais em um SGBD.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dirty="0"/>
              <a:t>Desenvolver uma visão crítica sobre boas práticas de projeto de banco de dados.</a:t>
            </a:r>
          </a:p>
        </p:txBody>
      </p:sp>
    </p:spTree>
    <p:extLst>
      <p:ext uri="{BB962C8B-B14F-4D97-AF65-F5344CB8AC3E}">
        <p14:creationId xmlns:p14="http://schemas.microsoft.com/office/powerpoint/2010/main" val="255029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9308D-22BA-DC5C-A335-3C77E42F5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7A1774-D7A5-E5F4-5E51-3F5C7D85D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Abordagem </a:t>
            </a:r>
            <a:r>
              <a:rPr lang="pt-BR" b="1" dirty="0" err="1"/>
              <a:t>Sócio-interacionista</a:t>
            </a:r>
            <a:r>
              <a:rPr lang="pt-BR" b="1" dirty="0"/>
              <a:t>:</a:t>
            </a:r>
            <a:r>
              <a:rPr lang="pt-BR" dirty="0"/>
              <a:t> </a:t>
            </a:r>
          </a:p>
          <a:p>
            <a:pPr lvl="1"/>
            <a:r>
              <a:rPr lang="pt-BR" dirty="0" err="1"/>
              <a:t>profesor</a:t>
            </a:r>
            <a:r>
              <a:rPr lang="pt-BR" dirty="0"/>
              <a:t> atua como orientador</a:t>
            </a:r>
          </a:p>
          <a:p>
            <a:pPr lvl="1"/>
            <a:r>
              <a:rPr lang="pt-BR" dirty="0"/>
              <a:t>Estratégias que possibilitem a construção ativa do conhecimento pelo aluno.</a:t>
            </a:r>
          </a:p>
          <a:p>
            <a:r>
              <a:rPr lang="pt-BR" dirty="0"/>
              <a:t>Articulação </a:t>
            </a:r>
            <a:r>
              <a:rPr lang="pt-BR" dirty="0" err="1"/>
              <a:t>teórica-prática</a:t>
            </a:r>
            <a:endParaRPr lang="pt-BR" dirty="0"/>
          </a:p>
          <a:p>
            <a:pPr lvl="1"/>
            <a:r>
              <a:rPr lang="pt-BR" dirty="0"/>
              <a:t>Fundamentação teórica + apropriação crítica + atividades práticas  para alcançar as competências técnicas</a:t>
            </a:r>
          </a:p>
          <a:p>
            <a:r>
              <a:rPr lang="pt-BR" dirty="0"/>
              <a:t>Utilização do google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room</a:t>
            </a:r>
            <a:r>
              <a:rPr lang="pt-BR" dirty="0"/>
              <a:t>. </a:t>
            </a:r>
          </a:p>
          <a:p>
            <a:pPr lvl="1"/>
            <a:r>
              <a:rPr lang="pt-BR" dirty="0"/>
              <a:t>Sempre que possível</a:t>
            </a:r>
          </a:p>
        </p:txBody>
      </p:sp>
    </p:spTree>
    <p:extLst>
      <p:ext uri="{BB962C8B-B14F-4D97-AF65-F5344CB8AC3E}">
        <p14:creationId xmlns:p14="http://schemas.microsoft.com/office/powerpoint/2010/main" val="4117803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00C664-4240-3F0B-9712-A53203A77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4966B5-6E1B-69BC-D034-C9117C19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Exercícios em aula</a:t>
            </a:r>
          </a:p>
          <a:p>
            <a:r>
              <a:rPr lang="pt-BR" dirty="0"/>
              <a:t>Presença</a:t>
            </a:r>
          </a:p>
          <a:p>
            <a:r>
              <a:rPr lang="pt-BR" dirty="0"/>
              <a:t>Projetos</a:t>
            </a:r>
          </a:p>
          <a:p>
            <a:r>
              <a:rPr lang="pt-BR" dirty="0"/>
              <a:t>Prova* </a:t>
            </a:r>
          </a:p>
        </p:txBody>
      </p:sp>
    </p:spTree>
    <p:extLst>
      <p:ext uri="{BB962C8B-B14F-4D97-AF65-F5344CB8AC3E}">
        <p14:creationId xmlns:p14="http://schemas.microsoft.com/office/powerpoint/2010/main" val="3766799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A05D7-CC29-29E0-CF09-CAA46027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final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2D139D-F9FF-B841-8147-3213BF550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projeto prático de banco de dados no final do semestre</a:t>
            </a:r>
          </a:p>
          <a:p>
            <a:pPr lvl="1"/>
            <a:r>
              <a:rPr lang="pt-BR" dirty="0"/>
              <a:t>Definição do trabalho no decorrer dos encontros.</a:t>
            </a:r>
          </a:p>
        </p:txBody>
      </p:sp>
    </p:spTree>
    <p:extLst>
      <p:ext uri="{BB962C8B-B14F-4D97-AF65-F5344CB8AC3E}">
        <p14:creationId xmlns:p14="http://schemas.microsoft.com/office/powerpoint/2010/main" val="3548710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EACCC-F5C3-B96D-B142-61F2859E8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Livros que usaremos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C3F2E2-E09B-C658-F67E-8207E9E5E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</p:txBody>
      </p:sp>
      <p:pic>
        <p:nvPicPr>
          <p:cNvPr id="5" name="Imagem 4" descr="Barco a vela na água&#10;&#10;O conteúdo gerado por IA pode estar incorreto.">
            <a:extLst>
              <a:ext uri="{FF2B5EF4-FFF2-40B4-BE49-F238E27FC236}">
                <a16:creationId xmlns:a16="http://schemas.microsoft.com/office/drawing/2014/main" id="{358E8E6D-539D-61B7-969B-38298831F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02" y="1766169"/>
            <a:ext cx="3102998" cy="4074643"/>
          </a:xfrm>
          <a:prstGeom prst="rect">
            <a:avLst/>
          </a:prstGeom>
        </p:spPr>
      </p:pic>
      <p:pic>
        <p:nvPicPr>
          <p:cNvPr id="7" name="Imagem 6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F9C78AB6-5DA1-DAE1-4F61-48D1A90A5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201" y="1766169"/>
            <a:ext cx="3409275" cy="407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389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C80B3-442C-4AD4-8DEB-E77BD6C93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CB3A14-9D39-7CA5-C4F8-13F0D4FE5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787" y="1278653"/>
            <a:ext cx="8119068" cy="3946489"/>
          </a:xfrm>
        </p:spPr>
        <p:txBody>
          <a:bodyPr>
            <a:normAutofit fontScale="70000" lnSpcReduction="20000"/>
          </a:bodyPr>
          <a:lstStyle/>
          <a:p>
            <a:r>
              <a:rPr lang="pt-BR" sz="2600" dirty="0"/>
              <a:t>Egresso da UEG</a:t>
            </a:r>
          </a:p>
          <a:p>
            <a:r>
              <a:rPr lang="pt-BR" sz="2600" dirty="0"/>
              <a:t>Gestor Governamental de Tecnologia da Informação</a:t>
            </a:r>
          </a:p>
          <a:p>
            <a:r>
              <a:rPr lang="pt-BR" sz="2600" dirty="0"/>
              <a:t>Coordenador de Sistemas e Gestão da Informação da UEG</a:t>
            </a:r>
          </a:p>
          <a:p>
            <a:pPr lvl="1"/>
            <a:r>
              <a:rPr lang="pt-BR" sz="2200" dirty="0"/>
              <a:t>Engenharia de Software</a:t>
            </a:r>
          </a:p>
          <a:p>
            <a:pPr algn="just"/>
            <a:r>
              <a:rPr lang="pt-BR" sz="2600" dirty="0"/>
              <a:t>Professor do Curso de Sistemas de Informação</a:t>
            </a:r>
          </a:p>
          <a:p>
            <a:pPr lvl="1"/>
            <a:r>
              <a:rPr lang="pt-BR" sz="2200" dirty="0"/>
              <a:t>Inteligência de Negócio</a:t>
            </a:r>
          </a:p>
          <a:p>
            <a:pPr lvl="1"/>
            <a:r>
              <a:rPr lang="pt-BR" sz="2200" dirty="0"/>
              <a:t>Sistemas de Apoio a Decisão</a:t>
            </a:r>
          </a:p>
          <a:p>
            <a:pPr lvl="1"/>
            <a:r>
              <a:rPr lang="pt-BR" sz="2200" dirty="0"/>
              <a:t>Bancos de Dados</a:t>
            </a:r>
          </a:p>
          <a:p>
            <a:pPr algn="just"/>
            <a:r>
              <a:rPr lang="pt-BR" sz="2600" dirty="0"/>
              <a:t>Membro permanente do PPG em Estudos Culturais, Memória e Patrimônio</a:t>
            </a:r>
          </a:p>
          <a:p>
            <a:pPr lvl="1"/>
            <a:r>
              <a:rPr lang="pt-BR" sz="2200" dirty="0"/>
              <a:t>Humanidades digitais</a:t>
            </a:r>
          </a:p>
          <a:p>
            <a:pPr lvl="1"/>
            <a:r>
              <a:rPr lang="pt-BR" sz="2200" dirty="0"/>
              <a:t>Tecnologias Digitais aplicadas ao patrimônio</a:t>
            </a:r>
          </a:p>
          <a:p>
            <a:pPr lvl="1"/>
            <a:r>
              <a:rPr lang="pt-BR" sz="2200" dirty="0"/>
              <a:t>Paleografia Digital</a:t>
            </a:r>
          </a:p>
          <a:p>
            <a:pPr lvl="1"/>
            <a:r>
              <a:rPr lang="pt-BR" sz="2200" dirty="0"/>
              <a:t>Ontologias</a:t>
            </a:r>
          </a:p>
          <a:p>
            <a:pPr lvl="1"/>
            <a:r>
              <a:rPr lang="pt-BR" sz="2200" dirty="0"/>
              <a:t>Cidades Inteligentes (IoT)</a:t>
            </a:r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CD3E53D-E10F-5DB0-6EC8-68584DC8DC2D}"/>
              </a:ext>
            </a:extLst>
          </p:cNvPr>
          <p:cNvSpPr txBox="1"/>
          <p:nvPr/>
        </p:nvSpPr>
        <p:spPr>
          <a:xfrm>
            <a:off x="960119" y="6115551"/>
            <a:ext cx="6135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Alison Filgueiras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Professor e Gestor de TI| UEG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A5C01863-763F-9CC8-F699-08801D954DBE}"/>
              </a:ext>
            </a:extLst>
          </p:cNvPr>
          <p:cNvGrpSpPr/>
          <p:nvPr/>
        </p:nvGrpSpPr>
        <p:grpSpPr>
          <a:xfrm>
            <a:off x="226700" y="6103288"/>
            <a:ext cx="685800" cy="615554"/>
            <a:chOff x="226700" y="6103288"/>
            <a:chExt cx="685800" cy="615554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94695E01-5098-F496-C40D-5F196889BF47}"/>
                </a:ext>
              </a:extLst>
            </p:cNvPr>
            <p:cNvSpPr/>
            <p:nvPr/>
          </p:nvSpPr>
          <p:spPr>
            <a:xfrm>
              <a:off x="226700" y="6103288"/>
              <a:ext cx="685800" cy="61555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3" name="Gráfico 12" descr="Usuário com preenchimento sólido">
              <a:extLst>
                <a:ext uri="{FF2B5EF4-FFF2-40B4-BE49-F238E27FC236}">
                  <a16:creationId xmlns:a16="http://schemas.microsoft.com/office/drawing/2014/main" id="{560CF85D-CFCC-EE6A-FBCF-01AE29076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3414" y="6204878"/>
              <a:ext cx="412373" cy="412373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894451C-AF9F-7CB9-332A-77349BFAC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0" dirty="0"/>
              <a:t>Sobre mim...</a:t>
            </a:r>
          </a:p>
        </p:txBody>
      </p:sp>
    </p:spTree>
    <p:extLst>
      <p:ext uri="{BB962C8B-B14F-4D97-AF65-F5344CB8AC3E}">
        <p14:creationId xmlns:p14="http://schemas.microsoft.com/office/powerpoint/2010/main" val="4294579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9382DE-D89C-7D69-A7A7-495689799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786" y="2505570"/>
            <a:ext cx="9213165" cy="1580293"/>
          </a:xfrm>
        </p:spPr>
        <p:txBody>
          <a:bodyPr>
            <a:normAutofit/>
          </a:bodyPr>
          <a:lstStyle/>
          <a:p>
            <a:r>
              <a:rPr lang="pt-BR" sz="2600" dirty="0"/>
              <a:t>Se apresente e diga um pouco sobre sua trajetória no curso, profissional, do que você gosta e não gosta, expectativas, etc.</a:t>
            </a:r>
          </a:p>
          <a:p>
            <a:endParaRPr lang="pt-BR" sz="2600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358940-0951-2050-E309-DA75C184A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0" dirty="0"/>
              <a:t>Sobre você...</a:t>
            </a:r>
          </a:p>
        </p:txBody>
      </p:sp>
    </p:spTree>
    <p:extLst>
      <p:ext uri="{BB962C8B-B14F-4D97-AF65-F5344CB8AC3E}">
        <p14:creationId xmlns:p14="http://schemas.microsoft.com/office/powerpoint/2010/main" val="3500682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3F855-9B3F-51DC-585B-816944EFF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e fundamentos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B6130D10-106C-2EBE-9734-93EF866E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50" y="1600200"/>
            <a:ext cx="9953625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Algumas questões iniciais: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que acontece se eu tiver bilhões de dados, mas não souber o que fazer com eles?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Excel é um banco de dados?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que restaria da Caixa Econômica Federal se ela perde todos os registros das contas de seus clientes?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Como a Netflix consegue sugerir uma série?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9300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A6DF1DB-8AF2-935C-A9E3-4E8846FB1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curso de Sistemas de Informação, esta disciplina é um dos </a:t>
            </a:r>
            <a:r>
              <a:rPr lang="pt-BR" b="1" dirty="0"/>
              <a:t>pilares fundamentais</a:t>
            </a:r>
            <a:r>
              <a:rPr lang="pt-BR" dirty="0"/>
              <a:t>. Praticamente todos os sistemas que vocês desenvolverão daqui para frente — seja web, mobile ou desktop — dependerá de uma estrutura sólida para armazenar e recuperar informações com segurança e eficiência.</a:t>
            </a:r>
          </a:p>
        </p:txBody>
      </p:sp>
      <p:sp>
        <p:nvSpPr>
          <p:cNvPr id="6" name="Título 4">
            <a:extLst>
              <a:ext uri="{FF2B5EF4-FFF2-40B4-BE49-F238E27FC236}">
                <a16:creationId xmlns:a16="http://schemas.microsoft.com/office/drawing/2014/main" id="{D18E164C-B2C7-864E-338E-A86B0F92E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17" y="274638"/>
            <a:ext cx="9954417" cy="1143000"/>
          </a:xfrm>
        </p:spPr>
        <p:txBody>
          <a:bodyPr/>
          <a:lstStyle/>
          <a:p>
            <a:r>
              <a:rPr lang="pt-BR" dirty="0"/>
              <a:t>Introdução e fundamentos</a:t>
            </a:r>
          </a:p>
        </p:txBody>
      </p:sp>
    </p:spTree>
    <p:extLst>
      <p:ext uri="{BB962C8B-B14F-4D97-AF65-F5344CB8AC3E}">
        <p14:creationId xmlns:p14="http://schemas.microsoft.com/office/powerpoint/2010/main" val="1833314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B6E1D-D632-D2FF-78DB-6AB39B390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013" y="2522138"/>
            <a:ext cx="7215197" cy="1547446"/>
          </a:xfr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BR" dirty="0"/>
              <a:t>Mas afinal, o que são bancos de dados?</a:t>
            </a:r>
          </a:p>
        </p:txBody>
      </p:sp>
    </p:spTree>
    <p:extLst>
      <p:ext uri="{BB962C8B-B14F-4D97-AF65-F5344CB8AC3E}">
        <p14:creationId xmlns:p14="http://schemas.microsoft.com/office/powerpoint/2010/main" val="1473114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FE32B-29B5-2A4D-DF4F-5ADA74B93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0971F-8D49-3639-A87C-0299F1CEF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e fundamentos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CB357C-EC05-1714-522B-1A25839B1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Dados</a:t>
            </a:r>
          </a:p>
          <a:p>
            <a:r>
              <a:rPr lang="pt-BR" dirty="0"/>
              <a:t>Fatos brutos, sem contexto</a:t>
            </a:r>
          </a:p>
          <a:p>
            <a:r>
              <a:rPr lang="pt-BR" dirty="0"/>
              <a:t>Números, textos, registros isolados</a:t>
            </a:r>
          </a:p>
          <a:p>
            <a:pPr marL="457200" lvl="1" indent="0">
              <a:buNone/>
            </a:pPr>
            <a:endParaRPr lang="pt-BR" dirty="0"/>
          </a:p>
          <a:p>
            <a:pPr lvl="2"/>
            <a:r>
              <a:rPr lang="pt-BR" dirty="0"/>
              <a:t>2024-02-01 | 42 | 7</a:t>
            </a:r>
          </a:p>
          <a:p>
            <a:pPr lvl="2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EE24A30-895A-17B9-36A7-A5D83AB4B7FC}"/>
              </a:ext>
            </a:extLst>
          </p:cNvPr>
          <p:cNvSpPr txBox="1"/>
          <p:nvPr/>
        </p:nvSpPr>
        <p:spPr>
          <a:xfrm>
            <a:off x="6246725" y="5094514"/>
            <a:ext cx="314220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Sozinho isso não diz nada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B548E655-140E-A655-A6B9-4F76B63A6B08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3697793" y="4561952"/>
            <a:ext cx="2548932" cy="717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725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79A6-4A48-9B4B-435F-E3B62FC62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DE1C2-54F5-F9F5-FA1B-E93109607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e fundamentos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2C67E-A773-6CDB-BAD6-241527D50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Informação</a:t>
            </a:r>
          </a:p>
          <a:p>
            <a:r>
              <a:rPr lang="pt-BR" dirty="0"/>
              <a:t>Dados organizados e contextualizados</a:t>
            </a:r>
          </a:p>
          <a:p>
            <a:r>
              <a:rPr lang="pt-BR" dirty="0"/>
              <a:t>Respondem perguntas básicas: o quê? quando? onde?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4F08756-7418-884E-7BAD-58AE9DB78E6E}"/>
              </a:ext>
            </a:extLst>
          </p:cNvPr>
          <p:cNvSpPr txBox="1"/>
          <p:nvPr/>
        </p:nvSpPr>
        <p:spPr>
          <a:xfrm>
            <a:off x="972177" y="4469898"/>
            <a:ext cx="7388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“Foram registrados </a:t>
            </a:r>
            <a:r>
              <a:rPr lang="pt-BR" b="1" dirty="0"/>
              <a:t>42 acessos</a:t>
            </a:r>
            <a:r>
              <a:rPr lang="pt-BR" dirty="0"/>
              <a:t> ao sistema no dia </a:t>
            </a:r>
            <a:r>
              <a:rPr lang="pt-BR" b="1" dirty="0"/>
              <a:t>01/02</a:t>
            </a:r>
            <a:r>
              <a:rPr lang="pt-BR" dirty="0"/>
              <a:t>, sendo </a:t>
            </a:r>
            <a:r>
              <a:rPr lang="pt-BR" b="1" dirty="0"/>
              <a:t>7 falhas</a:t>
            </a:r>
            <a:r>
              <a:rPr lang="pt-BR" dirty="0"/>
              <a:t>.”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86C8089-7A29-2064-EBFF-F18F720CC116}"/>
              </a:ext>
            </a:extLst>
          </p:cNvPr>
          <p:cNvSpPr txBox="1"/>
          <p:nvPr/>
        </p:nvSpPr>
        <p:spPr>
          <a:xfrm>
            <a:off x="6759914" y="5436515"/>
            <a:ext cx="14302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Agora diz...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CADB9F1A-0A91-E44D-F80B-1F2A1C271C9C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566787" y="5621181"/>
            <a:ext cx="1193127" cy="63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080138C-7CB3-276C-E02D-20770A8C1AB8}"/>
              </a:ext>
            </a:extLst>
          </p:cNvPr>
          <p:cNvSpPr txBox="1"/>
          <p:nvPr/>
        </p:nvSpPr>
        <p:spPr>
          <a:xfrm>
            <a:off x="2318657" y="5590187"/>
            <a:ext cx="6124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pt-BR" dirty="0"/>
              <a:t>2024-02-01 | 42 | 7</a:t>
            </a:r>
          </a:p>
        </p:txBody>
      </p:sp>
    </p:spTree>
    <p:extLst>
      <p:ext uri="{BB962C8B-B14F-4D97-AF65-F5344CB8AC3E}">
        <p14:creationId xmlns:p14="http://schemas.microsoft.com/office/powerpoint/2010/main" val="3125631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877B7-338C-3337-B767-E7400C837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295D3-1F30-9055-0622-3844638FE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e fundamentos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0559D8-25DE-B603-DE46-68E280F97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Conhecimento</a:t>
            </a:r>
          </a:p>
          <a:p>
            <a:r>
              <a:rPr lang="pt-BR" dirty="0"/>
              <a:t>Informação interpretada</a:t>
            </a:r>
          </a:p>
          <a:p>
            <a:r>
              <a:rPr lang="pt-BR" dirty="0"/>
              <a:t>Apoia decisão e 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671BBF1-028E-EEE4-71CA-5F578AEC79A3}"/>
              </a:ext>
            </a:extLst>
          </p:cNvPr>
          <p:cNvSpPr txBox="1"/>
          <p:nvPr/>
        </p:nvSpPr>
        <p:spPr>
          <a:xfrm>
            <a:off x="2469324" y="3863182"/>
            <a:ext cx="7388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“Foram registrados </a:t>
            </a:r>
            <a:r>
              <a:rPr lang="pt-BR" b="1" dirty="0"/>
              <a:t>42 acessos</a:t>
            </a:r>
            <a:r>
              <a:rPr lang="pt-BR" dirty="0"/>
              <a:t> ao sistema no dia </a:t>
            </a:r>
            <a:r>
              <a:rPr lang="pt-BR" b="1" dirty="0"/>
              <a:t>01/02</a:t>
            </a:r>
            <a:r>
              <a:rPr lang="pt-BR" dirty="0"/>
              <a:t>, sendo </a:t>
            </a:r>
            <a:r>
              <a:rPr lang="pt-BR" b="1" dirty="0"/>
              <a:t>7 falhas</a:t>
            </a:r>
            <a:r>
              <a:rPr lang="pt-BR" dirty="0"/>
              <a:t>.”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3712AF5-BBC2-0627-7792-4DC93C6617B2}"/>
              </a:ext>
            </a:extLst>
          </p:cNvPr>
          <p:cNvSpPr txBox="1"/>
          <p:nvPr/>
        </p:nvSpPr>
        <p:spPr>
          <a:xfrm>
            <a:off x="8190114" y="5684228"/>
            <a:ext cx="149432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Tomada de</a:t>
            </a:r>
          </a:p>
          <a:p>
            <a:r>
              <a:rPr lang="pt-BR" dirty="0"/>
              <a:t>decisão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75B5CD28-E94E-1059-B9FE-E268E89355CA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6451042" y="5325572"/>
            <a:ext cx="1739072" cy="6818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2EC831E-AF26-3E22-94E4-AFDB85885D17}"/>
              </a:ext>
            </a:extLst>
          </p:cNvPr>
          <p:cNvSpPr txBox="1"/>
          <p:nvPr/>
        </p:nvSpPr>
        <p:spPr>
          <a:xfrm>
            <a:off x="3559964" y="3455230"/>
            <a:ext cx="6124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pt-BR" dirty="0"/>
              <a:t>2024-02-01 | 42 | 7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AB15AE9-2433-6496-8FC9-F26881ADDF62}"/>
              </a:ext>
            </a:extLst>
          </p:cNvPr>
          <p:cNvSpPr txBox="1"/>
          <p:nvPr/>
        </p:nvSpPr>
        <p:spPr>
          <a:xfrm>
            <a:off x="3101115" y="4643751"/>
            <a:ext cx="6124470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/>
              <a:t>“O pico de falhas ocorre sempre no horário X → precisamos escalar o servidor.”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A29ACB8-DC74-3796-8D5E-517853A736C2}"/>
              </a:ext>
            </a:extLst>
          </p:cNvPr>
          <p:cNvSpPr txBox="1"/>
          <p:nvPr/>
        </p:nvSpPr>
        <p:spPr>
          <a:xfrm>
            <a:off x="497729" y="5879868"/>
            <a:ext cx="6124470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dirty="0"/>
              <a:t>Bancos de dados existem para </a:t>
            </a:r>
            <a:r>
              <a:rPr lang="pt-BR" b="1" dirty="0"/>
              <a:t>transformar dados em informação</a:t>
            </a:r>
            <a:r>
              <a:rPr lang="pt-BR" dirty="0"/>
              <a:t>, e sistemas de informação existem para </a:t>
            </a:r>
            <a:r>
              <a:rPr lang="pt-BR" b="1" dirty="0"/>
              <a:t>gerar conhecimento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8428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1B4BA9-3720-B9BA-8C00-8C7092682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e fundamentos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FB2E76-C8C7-5AA9-1A69-32F6D3498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Bancos de dados não são automaticamente úteis</a:t>
            </a:r>
          </a:p>
          <a:p>
            <a:pPr lvl="2"/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E297232-EA8D-A19F-BB04-656AD569CCAD}"/>
              </a:ext>
            </a:extLst>
          </p:cNvPr>
          <p:cNvSpPr txBox="1"/>
          <p:nvPr/>
        </p:nvSpPr>
        <p:spPr>
          <a:xfrm>
            <a:off x="2914021" y="3687742"/>
            <a:ext cx="4320792" cy="46166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Organização + propósito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5515242-F147-04C3-ADD2-015DD8F01F14}"/>
              </a:ext>
            </a:extLst>
          </p:cNvPr>
          <p:cNvSpPr txBox="1"/>
          <p:nvPr/>
        </p:nvSpPr>
        <p:spPr>
          <a:xfrm>
            <a:off x="497729" y="5879868"/>
            <a:ext cx="6124470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dirty="0"/>
              <a:t>Bancos de dados existem para </a:t>
            </a:r>
            <a:r>
              <a:rPr lang="pt-BR" b="1" dirty="0"/>
              <a:t>transformar dados em informação</a:t>
            </a:r>
            <a:r>
              <a:rPr lang="pt-BR" dirty="0"/>
              <a:t>, e sistemas de informação existem para </a:t>
            </a:r>
            <a:r>
              <a:rPr lang="pt-BR" b="1" dirty="0"/>
              <a:t>gerar conhecimento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8163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AB80F-EB94-DFEB-F19B-66FCFBDB1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 enquanto matéria prima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7DCF4B-F3DF-396C-2579-FF4018030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sistemas de banco de dados gerenciam coleções de dados que são </a:t>
            </a:r>
            <a:r>
              <a:rPr lang="pt-BR" b="1" dirty="0"/>
              <a:t>altamente valiosas</a:t>
            </a:r>
            <a:r>
              <a:rPr lang="pt-BR" dirty="0"/>
              <a:t>, </a:t>
            </a:r>
            <a:r>
              <a:rPr lang="pt-BR" b="1" dirty="0"/>
              <a:t>relativamente grandes</a:t>
            </a:r>
            <a:r>
              <a:rPr lang="pt-BR" dirty="0"/>
              <a:t> e </a:t>
            </a:r>
            <a:r>
              <a:rPr lang="pt-BR" b="1" dirty="0"/>
              <a:t>acessadas simultaneamente</a:t>
            </a:r>
            <a:r>
              <a:rPr lang="pt-BR" dirty="0"/>
              <a:t> por diversos usuários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CC1F439-3DF4-95C6-6E94-25E1A48D111E}"/>
              </a:ext>
            </a:extLst>
          </p:cNvPr>
          <p:cNvSpPr txBox="1"/>
          <p:nvPr/>
        </p:nvSpPr>
        <p:spPr>
          <a:xfrm>
            <a:off x="1290175" y="4793063"/>
            <a:ext cx="79961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A principal matéria prima para as tecnologias digitais são os dados</a:t>
            </a:r>
          </a:p>
        </p:txBody>
      </p:sp>
    </p:spTree>
    <p:extLst>
      <p:ext uri="{BB962C8B-B14F-4D97-AF65-F5344CB8AC3E}">
        <p14:creationId xmlns:p14="http://schemas.microsoft.com/office/powerpoint/2010/main" val="4184639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C9268-DBF1-C243-F843-BCD24112A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fazer um exercício inicial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A74644-5E2E-8980-1C37-39EB70566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Com seu conhecimento sobre as disciplinas que foram estudadas até aqui</a:t>
            </a:r>
          </a:p>
          <a:p>
            <a:pPr lvl="1"/>
            <a:r>
              <a:rPr lang="pt-BR" dirty="0"/>
              <a:t>Como poderíamos adicionar o nome, a idade e gênero musical preferidos das pessoas que estão nessa sala?</a:t>
            </a:r>
          </a:p>
          <a:p>
            <a:pPr lvl="1"/>
            <a:r>
              <a:rPr lang="pt-BR" dirty="0"/>
              <a:t>Como poderíamos guardar essas informações para que elas não desapareçam quando o computador for desligado?</a:t>
            </a:r>
          </a:p>
          <a:p>
            <a:pPr lvl="1"/>
            <a:r>
              <a:rPr lang="pt-BR" dirty="0"/>
              <a:t>Como poderíamos não impedir que só tenha números inteiros em idade? </a:t>
            </a:r>
          </a:p>
          <a:p>
            <a:pPr lvl="1"/>
            <a:r>
              <a:rPr lang="pt-BR" dirty="0"/>
              <a:t>Como eu poderia garantir que gêneros musicais não sejam informados de forma duplicada com o mesmo significado como “Rock ‘n </a:t>
            </a:r>
            <a:r>
              <a:rPr lang="pt-BR" dirty="0" err="1"/>
              <a:t>roll</a:t>
            </a:r>
            <a:r>
              <a:rPr lang="pt-BR" dirty="0"/>
              <a:t>” x “Rock” ?</a:t>
            </a:r>
          </a:p>
        </p:txBody>
      </p:sp>
    </p:spTree>
    <p:extLst>
      <p:ext uri="{BB962C8B-B14F-4D97-AF65-F5344CB8AC3E}">
        <p14:creationId xmlns:p14="http://schemas.microsoft.com/office/powerpoint/2010/main" val="2991510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BBF3D-B706-E89C-D4A4-8FA1C8A85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C9CA9-3562-3D3B-718C-67751856F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e fundamentos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31FDB6-F4DB-B5F1-5D5E-89A49270C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banco de dados é uma coleção de dados relacionados.</a:t>
            </a:r>
          </a:p>
          <a:p>
            <a:r>
              <a:rPr lang="pt-BR" dirty="0"/>
              <a:t>Dados são fatos conhecidos que podem ser </a:t>
            </a:r>
            <a:r>
              <a:rPr lang="pt-BR" b="1" dirty="0"/>
              <a:t>registrados</a:t>
            </a:r>
            <a:r>
              <a:rPr lang="pt-BR" dirty="0"/>
              <a:t> e possuem significado </a:t>
            </a:r>
            <a:r>
              <a:rPr lang="pt-BR" b="1" dirty="0"/>
              <a:t>implícito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Nome, número de telefone, endereço.</a:t>
            </a:r>
          </a:p>
          <a:p>
            <a:pPr marL="457200" lvl="1" indent="0">
              <a:buNone/>
            </a:pPr>
            <a:endParaRPr lang="pt-BR" dirty="0"/>
          </a:p>
          <a:p>
            <a:pPr marL="457200" lvl="1" indent="0" algn="r">
              <a:buNone/>
            </a:pPr>
            <a:r>
              <a:rPr lang="pt-BR" dirty="0"/>
              <a:t>(</a:t>
            </a:r>
            <a:r>
              <a:rPr lang="pt-BR" dirty="0" err="1"/>
              <a:t>Emasri</a:t>
            </a:r>
            <a:r>
              <a:rPr lang="pt-BR" dirty="0"/>
              <a:t> e </a:t>
            </a:r>
            <a:r>
              <a:rPr lang="pt-BR" dirty="0" err="1"/>
              <a:t>Navathe</a:t>
            </a:r>
            <a:r>
              <a:rPr lang="pt-BR" dirty="0"/>
              <a:t>, </a:t>
            </a:r>
            <a:r>
              <a:rPr lang="pt-BR" dirty="0" err="1"/>
              <a:t>pág</a:t>
            </a:r>
            <a:r>
              <a:rPr lang="pt-BR" dirty="0"/>
              <a:t> 3)</a:t>
            </a:r>
          </a:p>
          <a:p>
            <a:pPr lvl="2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7972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66B827-CA99-AE6A-AB76-4765E7E21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 de 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A0CC50-1B4D-D645-C85E-A614DE1FE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Elsmari</a:t>
            </a:r>
            <a:r>
              <a:rPr lang="pt-BR" dirty="0"/>
              <a:t> e </a:t>
            </a:r>
            <a:r>
              <a:rPr lang="pt-BR" dirty="0" err="1"/>
              <a:t>Navathe</a:t>
            </a:r>
            <a:r>
              <a:rPr lang="pt-BR" dirty="0"/>
              <a:t> afirma que “coleção de dados relacionados” é genérica demais... Já que a página escrita de um livro pode ser considerada uma coleção de dados “palavras” e elas estão relacionadas... Portanto um banco de dados.</a:t>
            </a:r>
          </a:p>
          <a:p>
            <a:r>
              <a:rPr lang="pt-BR" dirty="0"/>
              <a:t>Em sistemas de informação, entretanto, esse uso é mais restrito</a:t>
            </a:r>
          </a:p>
        </p:txBody>
      </p:sp>
    </p:spTree>
    <p:extLst>
      <p:ext uri="{BB962C8B-B14F-4D97-AF65-F5344CB8AC3E}">
        <p14:creationId xmlns:p14="http://schemas.microsoft.com/office/powerpoint/2010/main" val="22079538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CBBE3-9F4D-9379-0555-7758EB2FB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 de 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1AA0FC-E610-680C-A65B-6132608F0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Um BD representa algum aspecto do mundo real. Às vezes chamado de </a:t>
            </a:r>
            <a:r>
              <a:rPr lang="pt-BR" b="1" dirty="0"/>
              <a:t>minimundo</a:t>
            </a:r>
            <a:r>
              <a:rPr lang="pt-BR" dirty="0"/>
              <a:t> ou </a:t>
            </a:r>
            <a:r>
              <a:rPr lang="pt-BR" b="1" dirty="0"/>
              <a:t>universo do discurso. </a:t>
            </a:r>
            <a:r>
              <a:rPr lang="pt-BR" dirty="0">
                <a:solidFill>
                  <a:schemeClr val="tx2"/>
                </a:solidFill>
              </a:rPr>
              <a:t>Mudanças no minimundo não refletidas no banco de dados</a:t>
            </a:r>
            <a:r>
              <a:rPr lang="pt-BR" dirty="0"/>
              <a:t>.</a:t>
            </a:r>
            <a:endParaRPr lang="pt-BR" b="1" dirty="0"/>
          </a:p>
          <a:p>
            <a:r>
              <a:rPr lang="pt-BR" dirty="0"/>
              <a:t>Um BD é uma coleção logicamente coerente de dados com algum significado inerente.</a:t>
            </a:r>
          </a:p>
          <a:p>
            <a:r>
              <a:rPr lang="pt-BR" dirty="0"/>
              <a:t>Uma variedade aleatória de dados não pode ser chamada de banco de dados.</a:t>
            </a:r>
          </a:p>
          <a:p>
            <a:r>
              <a:rPr lang="pt-BR" dirty="0"/>
              <a:t>Uma BD é projetado, construído e populado com dados para uma finalidade específica. </a:t>
            </a:r>
          </a:p>
          <a:p>
            <a:r>
              <a:rPr lang="pt-BR" dirty="0"/>
              <a:t>Possui grupo definido de usuários e algumas aplicações previamente concebidas nas quais esses usuários estão interessados. </a:t>
            </a:r>
          </a:p>
        </p:txBody>
      </p:sp>
    </p:spTree>
    <p:extLst>
      <p:ext uri="{BB962C8B-B14F-4D97-AF65-F5344CB8AC3E}">
        <p14:creationId xmlns:p14="http://schemas.microsoft.com/office/powerpoint/2010/main" val="1017128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5D7B3-F138-3291-52E3-ABAF0BAE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C45D6-0064-3EB0-ABFC-4F0623F91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 de banco de dados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3120C68-282E-330A-A869-360F50C7EBD4}"/>
              </a:ext>
            </a:extLst>
          </p:cNvPr>
          <p:cNvSpPr/>
          <p:nvPr/>
        </p:nvSpPr>
        <p:spPr>
          <a:xfrm>
            <a:off x="1326383" y="3042138"/>
            <a:ext cx="7315200" cy="132638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Um BD tem alguma fonte da qual o dado é derivado, algum grau de interação com eventos do mundo real e um público que está ativamente interessado em seu conteúdo</a:t>
            </a:r>
          </a:p>
        </p:txBody>
      </p:sp>
    </p:spTree>
    <p:extLst>
      <p:ext uri="{BB962C8B-B14F-4D97-AF65-F5344CB8AC3E}">
        <p14:creationId xmlns:p14="http://schemas.microsoft.com/office/powerpoint/2010/main" val="1544323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BB307-4E5B-39ED-E88E-3DE8B7684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8ABB7-0FAD-98A1-88BF-831058A6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 de 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5AA3E1-8197-4745-6E28-A6C0DC653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pt-BR" dirty="0"/>
          </a:p>
          <a:p>
            <a:r>
              <a:rPr lang="pt-BR" dirty="0"/>
              <a:t> Um sistema de gerenciamento de banco de dados (</a:t>
            </a:r>
            <a:r>
              <a:rPr lang="pt-BR" b="1" dirty="0"/>
              <a:t>SGBD</a:t>
            </a:r>
            <a:r>
              <a:rPr lang="pt-BR" dirty="0"/>
              <a:t>) é uma coleção de dados inter-relacionados e um conjunto de programas para acessar esses dados. </a:t>
            </a:r>
          </a:p>
          <a:p>
            <a:r>
              <a:rPr lang="pt-BR" dirty="0"/>
              <a:t>A </a:t>
            </a:r>
            <a:r>
              <a:rPr lang="pt-BR" b="1" dirty="0"/>
              <a:t>coleção de dados</a:t>
            </a:r>
            <a:r>
              <a:rPr lang="pt-BR" dirty="0"/>
              <a:t>, normalmente conhecida como </a:t>
            </a:r>
            <a:r>
              <a:rPr lang="pt-BR" b="1" dirty="0"/>
              <a:t>banco de dados</a:t>
            </a:r>
            <a:r>
              <a:rPr lang="pt-BR" dirty="0"/>
              <a:t>, contém informações relevantes para uma empresa. </a:t>
            </a:r>
          </a:p>
          <a:p>
            <a:r>
              <a:rPr lang="pt-BR" dirty="0"/>
              <a:t>O principal objetivo de um SGBD é proporcionar uma forma de armazenar e recuperar informações de um banco de dados de maneira conveniente e eficiente </a:t>
            </a:r>
          </a:p>
          <a:p>
            <a:pPr marL="457200" lvl="1" indent="0" algn="r">
              <a:buNone/>
            </a:pPr>
            <a:r>
              <a:rPr lang="pt-BR" dirty="0"/>
              <a:t>(</a:t>
            </a:r>
            <a:r>
              <a:rPr lang="pt-BR" dirty="0" err="1"/>
              <a:t>Silberschatz</a:t>
            </a:r>
            <a:r>
              <a:rPr lang="pt-BR" dirty="0"/>
              <a:t>)</a:t>
            </a:r>
          </a:p>
          <a:p>
            <a:pPr lvl="2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8547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01267-B680-D775-12B1-6931B45BE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19A8C-33E6-0DEA-7248-468398C3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 de 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590C07-6B80-2FE7-5754-252C0725B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  <a:p>
            <a:r>
              <a:rPr lang="pt-BR" dirty="0"/>
              <a:t> Um sistema de gerenciamento de banco de dados (</a:t>
            </a:r>
            <a:r>
              <a:rPr lang="pt-BR" b="1" dirty="0"/>
              <a:t>SGBD</a:t>
            </a:r>
            <a:r>
              <a:rPr lang="pt-BR" dirty="0"/>
              <a:t>) é uma coleção de programas que permite aos usuários criar e manter bancos de dados</a:t>
            </a:r>
          </a:p>
          <a:p>
            <a:r>
              <a:rPr lang="pt-BR" dirty="0"/>
              <a:t>Software que facilita o processo de definição, construção, manipulação e exposição (compartilhamento) de bancos de dados</a:t>
            </a:r>
          </a:p>
          <a:p>
            <a:pPr marL="457200" lvl="1" indent="0" algn="r">
              <a:buNone/>
            </a:pPr>
            <a:r>
              <a:rPr lang="pt-BR" dirty="0"/>
              <a:t>(</a:t>
            </a:r>
            <a:r>
              <a:rPr lang="pt-BR" dirty="0" err="1"/>
              <a:t>Elsmari</a:t>
            </a:r>
            <a:r>
              <a:rPr lang="pt-BR" dirty="0"/>
              <a:t> e </a:t>
            </a:r>
            <a:r>
              <a:rPr lang="pt-BR" dirty="0" err="1"/>
              <a:t>Navathe</a:t>
            </a:r>
            <a:r>
              <a:rPr lang="pt-BR" dirty="0"/>
              <a:t>)</a:t>
            </a:r>
          </a:p>
          <a:p>
            <a:pPr lvl="2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5331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CE538-CADE-25F7-B170-56D96B24A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dos 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8DED81-4E9B-F971-5A4E-C5206B87C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dirty="0"/>
              <a:t>1. O Caos </a:t>
            </a:r>
            <a:r>
              <a:rPr lang="pt-BR" b="1" dirty="0" err="1"/>
              <a:t>Pré</a:t>
            </a:r>
            <a:r>
              <a:rPr lang="pt-BR" b="1" dirty="0"/>
              <a:t>-SGBD: Arquivos e Planilhas</a:t>
            </a:r>
          </a:p>
          <a:p>
            <a:pPr lvl="1"/>
            <a:r>
              <a:rPr lang="pt-BR" b="1" dirty="0"/>
              <a:t>Contexto:</a:t>
            </a:r>
            <a:r>
              <a:rPr lang="pt-BR" dirty="0"/>
              <a:t> No início, guardávamos tudo em pastas físicas ou arquivos digitais isolados (TXT, CSV).</a:t>
            </a:r>
          </a:p>
          <a:p>
            <a:pPr lvl="1"/>
            <a:r>
              <a:rPr lang="pt-BR" b="1" dirty="0"/>
              <a:t>A "Dor":</a:t>
            </a:r>
            <a:r>
              <a:rPr lang="pt-BR" dirty="0"/>
              <a:t> Imagine que a UEG guardasse seu endereço no arquivo do "Financeiro" e no arquivo da "Biblioteca". Se você mudasse de rua e avisasse apenas a Biblioteca, o boleto do Financeiro iria para o lugar errado.</a:t>
            </a:r>
          </a:p>
          <a:p>
            <a:pPr lvl="1"/>
            <a:r>
              <a:rPr lang="pt-BR" b="1" dirty="0"/>
              <a:t>Problemas Centrais:</a:t>
            </a:r>
            <a:r>
              <a:rPr lang="pt-BR" dirty="0"/>
              <a:t> * </a:t>
            </a:r>
            <a:r>
              <a:rPr lang="pt-BR" b="1" dirty="0"/>
              <a:t>Redundância:</a:t>
            </a:r>
            <a:r>
              <a:rPr lang="pt-BR" dirty="0"/>
              <a:t> O mesmo dado em vários lugares.</a:t>
            </a:r>
          </a:p>
          <a:p>
            <a:pPr lvl="1"/>
            <a:r>
              <a:rPr lang="pt-BR" b="1" dirty="0"/>
              <a:t>Inconsistência:</a:t>
            </a:r>
            <a:r>
              <a:rPr lang="pt-BR" dirty="0"/>
              <a:t> O dado está diferente em cada lugar.</a:t>
            </a:r>
          </a:p>
          <a:p>
            <a:pPr lvl="1"/>
            <a:r>
              <a:rPr lang="pt-BR" b="1" dirty="0"/>
              <a:t>Anomalia de Manutenção:</a:t>
            </a:r>
            <a:r>
              <a:rPr lang="pt-BR" dirty="0"/>
              <a:t> Um esforço gigante para atualizar uma informação simples.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6170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40A1C-3453-3162-E722-87DEA5A84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CEDE6-BA75-1100-6BDE-327D51E2C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dos 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73373C-9E0C-2518-2A52-CD871E881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2. As Primeiras Tentativas: Modelos Hierárquicos e em Rede (60–70)</a:t>
            </a:r>
          </a:p>
          <a:p>
            <a:pPr lvl="1"/>
            <a:r>
              <a:rPr lang="pt-BR" b="1" dirty="0"/>
              <a:t>Contexto:</a:t>
            </a:r>
            <a:r>
              <a:rPr lang="pt-BR" dirty="0"/>
              <a:t> Os dados eram organizados como uma árvore genealógica.</a:t>
            </a:r>
          </a:p>
          <a:p>
            <a:pPr lvl="1"/>
            <a:r>
              <a:rPr lang="pt-BR" b="1" dirty="0"/>
              <a:t>O Problema:</a:t>
            </a:r>
            <a:r>
              <a:rPr lang="pt-BR" dirty="0"/>
              <a:t> Para chegar no "neto" (o dado que você quer), você era obrigado a passar pelo "pai" e pelo "avô".</a:t>
            </a:r>
          </a:p>
          <a:p>
            <a:pPr lvl="1"/>
            <a:r>
              <a:rPr lang="pt-BR" b="1" dirty="0"/>
              <a:t>Rigidez:</a:t>
            </a:r>
            <a:r>
              <a:rPr lang="pt-BR" dirty="0"/>
              <a:t> Se a estrutura da empresa mudasse, você tinha que reconstruir o banco de dados inteiro. Era como ter uma estante onde, para tirar o livro de baixo, você tivesse que desmontar todos os de cima.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3282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05DC1-D665-CD44-DC74-09CC67B1C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AB16C-056D-3B8F-3697-48D20053F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dos 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886EBB-0591-A59F-B620-E0D650D3A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3. A Revolução: O Modelo Relacional (70 – Hoje)</a:t>
            </a:r>
          </a:p>
          <a:p>
            <a:pPr lvl="1"/>
            <a:r>
              <a:rPr lang="pt-BR" b="1" dirty="0"/>
              <a:t>O Herói:</a:t>
            </a:r>
            <a:r>
              <a:rPr lang="pt-BR" dirty="0"/>
              <a:t> </a:t>
            </a:r>
            <a:r>
              <a:rPr lang="pt-BR" b="1" dirty="0"/>
              <a:t>Edgar F. </a:t>
            </a:r>
            <a:r>
              <a:rPr lang="pt-BR" b="1" dirty="0" err="1"/>
              <a:t>Codd</a:t>
            </a:r>
            <a:r>
              <a:rPr lang="pt-BR" dirty="0"/>
              <a:t>, um matemático da IBM que disse: </a:t>
            </a:r>
            <a:r>
              <a:rPr lang="pt-BR" i="1" dirty="0"/>
              <a:t>"E se tratássemos dados como conjuntos matemáticos em tabelas?"</a:t>
            </a:r>
            <a:endParaRPr lang="pt-BR" dirty="0"/>
          </a:p>
          <a:p>
            <a:pPr lvl="1"/>
            <a:r>
              <a:rPr lang="pt-BR" b="1" dirty="0"/>
              <a:t>A Solução:</a:t>
            </a:r>
            <a:r>
              <a:rPr lang="pt-BR" dirty="0"/>
              <a:t> Dados organizados em </a:t>
            </a:r>
            <a:r>
              <a:rPr lang="pt-BR" b="1" dirty="0"/>
              <a:t>Tabelas (Relações)</a:t>
            </a:r>
            <a:r>
              <a:rPr lang="pt-BR" dirty="0"/>
              <a:t>, Linhas (Tuplas) e Colunas (Atributos).</a:t>
            </a:r>
          </a:p>
          <a:p>
            <a:pPr lvl="1"/>
            <a:r>
              <a:rPr lang="pt-BR" b="1" dirty="0"/>
              <a:t>O Diferencial:</a:t>
            </a:r>
            <a:r>
              <a:rPr lang="pt-BR" dirty="0"/>
              <a:t> O surgimento do </a:t>
            </a:r>
            <a:r>
              <a:rPr lang="pt-BR" b="1" dirty="0"/>
              <a:t>SQL</a:t>
            </a:r>
            <a:r>
              <a:rPr lang="pt-BR" dirty="0"/>
              <a:t>. Agora, você diz ao banco </a:t>
            </a:r>
            <a:r>
              <a:rPr lang="pt-BR" i="1" dirty="0"/>
              <a:t>o que</a:t>
            </a:r>
            <a:r>
              <a:rPr lang="pt-BR" dirty="0"/>
              <a:t> quer, e não </a:t>
            </a:r>
            <a:r>
              <a:rPr lang="pt-BR" i="1" dirty="0"/>
              <a:t>como</a:t>
            </a:r>
            <a:r>
              <a:rPr lang="pt-BR" dirty="0"/>
              <a:t> ele deve buscar.</a:t>
            </a:r>
          </a:p>
          <a:p>
            <a:pPr lvl="1"/>
            <a:r>
              <a:rPr lang="pt-BR" b="1" dirty="0"/>
              <a:t>Exemplos de Mercado:</a:t>
            </a:r>
            <a:r>
              <a:rPr lang="pt-BR" dirty="0"/>
              <a:t> MySQL, PostgreSQL (nosso foco), Oracle e SQL Server.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52612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1D50E-EE63-CB44-82FE-0DC276874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85BA83-A554-F366-8172-E6C1CABC8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dos 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E1844E-817D-E2C8-C508-DDD509B4A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4. A Era da Escala: </a:t>
            </a:r>
            <a:r>
              <a:rPr lang="pt-BR" b="1" dirty="0" err="1"/>
              <a:t>NoSQL</a:t>
            </a:r>
            <a:r>
              <a:rPr lang="pt-BR" b="1" dirty="0"/>
              <a:t> e Cloud (2000+)</a:t>
            </a:r>
          </a:p>
          <a:p>
            <a:pPr lvl="1"/>
            <a:r>
              <a:rPr lang="pt-BR" b="1" dirty="0"/>
              <a:t>Contexto:</a:t>
            </a:r>
            <a:r>
              <a:rPr lang="pt-BR" dirty="0"/>
              <a:t> Google, Facebook e </a:t>
            </a:r>
            <a:r>
              <a:rPr lang="pt-BR" dirty="0" err="1"/>
              <a:t>Amazon</a:t>
            </a:r>
            <a:r>
              <a:rPr lang="pt-BR" dirty="0"/>
              <a:t> perceberam que, para bilhões de usuários, as tabelas às vezes ficavam "lentas".</a:t>
            </a:r>
          </a:p>
          <a:p>
            <a:pPr lvl="1"/>
            <a:r>
              <a:rPr lang="pt-BR" b="1" dirty="0"/>
              <a:t>A Solução:</a:t>
            </a:r>
            <a:r>
              <a:rPr lang="pt-BR" dirty="0"/>
              <a:t> </a:t>
            </a:r>
            <a:r>
              <a:rPr lang="pt-BR" b="1" dirty="0" err="1"/>
              <a:t>NoSQL</a:t>
            </a:r>
            <a:r>
              <a:rPr lang="pt-BR" dirty="0"/>
              <a:t>. Abrimos mão de algumas regras rígidas de tabela para ganhar velocidade e escala.</a:t>
            </a:r>
          </a:p>
          <a:p>
            <a:pPr lvl="1"/>
            <a:r>
              <a:rPr lang="pt-BR" b="1" dirty="0"/>
              <a:t>Novas Estruturas:</a:t>
            </a:r>
            <a:r>
              <a:rPr lang="pt-BR" dirty="0"/>
              <a:t> Documentos (JSON), Grafos (conexões sociais), Chave-Valor (cache).</a:t>
            </a:r>
          </a:p>
          <a:p>
            <a:pPr lvl="1"/>
            <a:r>
              <a:rPr lang="pt-BR" b="1" dirty="0"/>
              <a:t>Cloud:</a:t>
            </a:r>
            <a:r>
              <a:rPr lang="pt-BR" dirty="0"/>
              <a:t> O banco agora não está mais só no servidor da faculdade, mas espalhado pelo mundo (AWS, Azure, Google Cloud).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05560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354EF-0995-CAA1-6BA9-92D6C85E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papel dos bancos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228FE6-726B-0A73-58C5-178D973D3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8" y="1600201"/>
            <a:ext cx="4736972" cy="4525963"/>
          </a:xfrm>
        </p:spPr>
        <p:txBody>
          <a:bodyPr/>
          <a:lstStyle/>
          <a:p>
            <a:r>
              <a:rPr lang="pt-BR" dirty="0"/>
              <a:t>BD é a </a:t>
            </a:r>
            <a:r>
              <a:rPr lang="pt-BR" b="1" dirty="0"/>
              <a:t>memória estruturada</a:t>
            </a:r>
            <a:r>
              <a:rPr lang="pt-BR" dirty="0"/>
              <a:t> da organização</a:t>
            </a:r>
          </a:p>
          <a:p>
            <a:r>
              <a:rPr lang="pt-BR" dirty="0"/>
              <a:t>Sistemas vêm e vão, dados permanecem.</a:t>
            </a:r>
          </a:p>
        </p:txBody>
      </p:sp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7C9142A4-939C-268E-60C1-E56D54D81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106" y="1417638"/>
            <a:ext cx="4300783" cy="493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3188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291A7-EF7E-5A5E-3756-2D0F2D6EB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Princípio ACID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F219C7-FED7-F216-532B-368BA3B25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8" y="1600201"/>
            <a:ext cx="9759258" cy="4983161"/>
          </a:xfrm>
        </p:spPr>
        <p:txBody>
          <a:bodyPr>
            <a:normAutofit fontScale="62500" lnSpcReduction="20000"/>
          </a:bodyPr>
          <a:lstStyle/>
          <a:p>
            <a:r>
              <a:rPr lang="pt-BR" dirty="0"/>
              <a:t>ACID (Atomicidade, Consistência, Isolamento, Durabilidade) é um conjunto de propriedades que garante transações seguras e fiáveis em bancos de dados. </a:t>
            </a:r>
          </a:p>
          <a:p>
            <a:r>
              <a:rPr lang="pt-BR" b="1" dirty="0"/>
              <a:t>Atomicidade</a:t>
            </a:r>
            <a:r>
              <a:rPr lang="pt-BR" dirty="0"/>
              <a:t>: assegura o "tudo ou nada“. Uma transação é tratada como uma unidade única e indivisível. Se qualquer parte da transação falhar, toda a transação é revertida, garantindo que o banco de dados não fique em um estado intermediário.</a:t>
            </a:r>
          </a:p>
          <a:p>
            <a:r>
              <a:rPr lang="pt-BR" b="1" dirty="0"/>
              <a:t>Consistência</a:t>
            </a:r>
            <a:r>
              <a:rPr lang="pt-BR" dirty="0"/>
              <a:t>: mantém a integridade dos dados.  Garante que a transação leve o banco de dados de um estado válido para outro, respeitando todas as regras, restrições, chaves primárias e integridade referencial.</a:t>
            </a:r>
          </a:p>
          <a:p>
            <a:r>
              <a:rPr lang="pt-BR" b="1" dirty="0"/>
              <a:t>Isolamento</a:t>
            </a:r>
            <a:r>
              <a:rPr lang="pt-BR" dirty="0"/>
              <a:t>: Impede interferências entre operações simultâneas.  Determina que transações paralelas não interfiram umas nas outras. O estado intermediário de uma transação é invisível para outras até que seja confirmada (</a:t>
            </a:r>
            <a:r>
              <a:rPr lang="pt-BR" dirty="0" err="1"/>
              <a:t>commit</a:t>
            </a:r>
            <a:r>
              <a:rPr lang="pt-BR" dirty="0"/>
              <a:t>).</a:t>
            </a:r>
          </a:p>
          <a:p>
            <a:r>
              <a:rPr lang="pt-BR" b="1" dirty="0"/>
              <a:t>Durabilidade</a:t>
            </a:r>
            <a:r>
              <a:rPr lang="pt-BR" dirty="0"/>
              <a:t>: Garante a perenidade dos dados após falhas. Garante que, após a transação ser confirmada (</a:t>
            </a:r>
            <a:r>
              <a:rPr lang="pt-BR" dirty="0" err="1"/>
              <a:t>commit</a:t>
            </a:r>
            <a:r>
              <a:rPr lang="pt-BR" dirty="0"/>
              <a:t>), os dados persistam permanentemente no sistema, mesmo em caso de falha de energia, travamentos ou erros.</a:t>
            </a:r>
          </a:p>
        </p:txBody>
      </p:sp>
    </p:spTree>
    <p:extLst>
      <p:ext uri="{BB962C8B-B14F-4D97-AF65-F5344CB8AC3E}">
        <p14:creationId xmlns:p14="http://schemas.microsoft.com/office/powerpoint/2010/main" val="41867516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7FA33-D96F-B948-73CF-65D46290F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7045F2-CB95-7606-257A-6FB61327B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Minimundo: </a:t>
            </a:r>
            <a:r>
              <a:rPr lang="pt-BR" dirty="0"/>
              <a:t>biblioteca da UEG</a:t>
            </a:r>
          </a:p>
          <a:p>
            <a:r>
              <a:rPr lang="pt-BR" dirty="0"/>
              <a:t>Vamos analisar um cenário simples: </a:t>
            </a:r>
            <a:r>
              <a:rPr lang="pt-BR" b="1" dirty="0"/>
              <a:t>Um Sistema de Biblioteca Acadêmica</a:t>
            </a:r>
            <a:r>
              <a:rPr lang="pt-BR" dirty="0"/>
              <a:t>.</a:t>
            </a:r>
          </a:p>
          <a:p>
            <a:r>
              <a:rPr lang="pt-BR" b="1" dirty="0"/>
              <a:t>Tarefa:</a:t>
            </a:r>
            <a:r>
              <a:rPr lang="pt-BR" dirty="0"/>
              <a:t> No editor de texto ou papel, listem quais informações (dados) são essenciais para cadastrar um Livro, um Aluno e um Empréstimo.</a:t>
            </a:r>
          </a:p>
          <a:p>
            <a:r>
              <a:rPr lang="pt-BR" b="1" dirty="0"/>
              <a:t>Organização:</a:t>
            </a:r>
            <a:r>
              <a:rPr lang="pt-BR" dirty="0"/>
              <a:t> você tem liberdade para organizar essas informações.</a:t>
            </a:r>
          </a:p>
        </p:txBody>
      </p:sp>
    </p:spTree>
    <p:extLst>
      <p:ext uri="{BB962C8B-B14F-4D97-AF65-F5344CB8AC3E}">
        <p14:creationId xmlns:p14="http://schemas.microsoft.com/office/powerpoint/2010/main" val="30425999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04AD4-52FA-0C3F-FC46-A14A82D5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8AF403-7A8E-F679-149D-9BF3C5107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60297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a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presentacao_IA_Ueg_2026.pptx - v2.pptx" id="{D6C7F5A4-D091-4E56-A7F0-EDD44F63FA2A}" vid="{03A85EFB-0979-4035-9C6F-924D8F58E56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apresentacao_ueg_2026</Template>
  <TotalTime>2403</TotalTime>
  <Words>1952</Words>
  <Application>Microsoft Office PowerPoint</Application>
  <PresentationFormat>Widescreen</PresentationFormat>
  <Paragraphs>190</Paragraphs>
  <Slides>34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9" baseType="lpstr">
      <vt:lpstr>Aptos</vt:lpstr>
      <vt:lpstr>Arial</vt:lpstr>
      <vt:lpstr>Montserrat</vt:lpstr>
      <vt:lpstr>Open Sans</vt:lpstr>
      <vt:lpstr>Tema do Office</vt:lpstr>
      <vt:lpstr>Apresentação do PowerPoint</vt:lpstr>
      <vt:lpstr>Objetivos do encontro</vt:lpstr>
      <vt:lpstr>Banco de Dados I</vt:lpstr>
      <vt:lpstr>Banco de Dados I</vt:lpstr>
      <vt:lpstr>Banco de Dados I</vt:lpstr>
      <vt:lpstr>Metodologia</vt:lpstr>
      <vt:lpstr>Avaliação</vt:lpstr>
      <vt:lpstr>Projeto final </vt:lpstr>
      <vt:lpstr>Livros que usaremos</vt:lpstr>
      <vt:lpstr>Sobre mim...</vt:lpstr>
      <vt:lpstr>Sobre você...</vt:lpstr>
      <vt:lpstr>Introdução e fundamentos</vt:lpstr>
      <vt:lpstr>Introdução e fundamentos</vt:lpstr>
      <vt:lpstr>Mas afinal, o que são bancos de dados?</vt:lpstr>
      <vt:lpstr>Introdução e fundamentos</vt:lpstr>
      <vt:lpstr>Introdução e fundamentos</vt:lpstr>
      <vt:lpstr>Introdução e fundamentos</vt:lpstr>
      <vt:lpstr>Introdução e fundamentos</vt:lpstr>
      <vt:lpstr>Dados enquanto matéria prima</vt:lpstr>
      <vt:lpstr>Vamos fazer um exercício inicial</vt:lpstr>
      <vt:lpstr>Introdução e fundamentos</vt:lpstr>
      <vt:lpstr>Conceito de banco de dados</vt:lpstr>
      <vt:lpstr>Conceito de banco de dados</vt:lpstr>
      <vt:lpstr>Conceito de banco de dados</vt:lpstr>
      <vt:lpstr>Conceito de banco de dados</vt:lpstr>
      <vt:lpstr>Conceito de banco de dados</vt:lpstr>
      <vt:lpstr>Evolução dos BD</vt:lpstr>
      <vt:lpstr>Evolução dos BD</vt:lpstr>
      <vt:lpstr>Evolução dos BD</vt:lpstr>
      <vt:lpstr>Evolução dos BD</vt:lpstr>
      <vt:lpstr>O papel dos bancos de dados</vt:lpstr>
      <vt:lpstr>Princípio ACID</vt:lpstr>
      <vt:lpstr>Exercício</vt:lpstr>
      <vt:lpstr>Referências bibliográficas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Office</dc:creator>
  <cp:keywords/>
  <dc:description>generated using python-pptx</dc:description>
  <cp:lastModifiedBy>Office</cp:lastModifiedBy>
  <cp:revision>13</cp:revision>
  <dcterms:created xsi:type="dcterms:W3CDTF">2026-02-08T00:22:46Z</dcterms:created>
  <dcterms:modified xsi:type="dcterms:W3CDTF">2026-09-09T00:36:47Z</dcterms:modified>
  <cp:category/>
</cp:coreProperties>
</file>