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315" r:id="rId3"/>
    <p:sldId id="319" r:id="rId4"/>
    <p:sldId id="322" r:id="rId5"/>
    <p:sldId id="323" r:id="rId6"/>
    <p:sldId id="324" r:id="rId7"/>
    <p:sldId id="312" r:id="rId8"/>
    <p:sldId id="320" r:id="rId9"/>
    <p:sldId id="321" r:id="rId10"/>
    <p:sldId id="328" r:id="rId11"/>
    <p:sldId id="325" r:id="rId12"/>
    <p:sldId id="331" r:id="rId13"/>
    <p:sldId id="333" r:id="rId14"/>
    <p:sldId id="334" r:id="rId15"/>
    <p:sldId id="335" r:id="rId16"/>
    <p:sldId id="336" r:id="rId17"/>
    <p:sldId id="330" r:id="rId18"/>
    <p:sldId id="338" r:id="rId19"/>
    <p:sldId id="337" r:id="rId20"/>
    <p:sldId id="340" r:id="rId21"/>
    <p:sldId id="341" r:id="rId22"/>
    <p:sldId id="342" r:id="rId23"/>
    <p:sldId id="343" r:id="rId24"/>
    <p:sldId id="351" r:id="rId25"/>
    <p:sldId id="339" r:id="rId26"/>
    <p:sldId id="355" r:id="rId27"/>
    <p:sldId id="350" r:id="rId28"/>
    <p:sldId id="344" r:id="rId29"/>
    <p:sldId id="345" r:id="rId30"/>
    <p:sldId id="347" r:id="rId31"/>
    <p:sldId id="352" r:id="rId32"/>
    <p:sldId id="353" r:id="rId33"/>
    <p:sldId id="348" r:id="rId34"/>
    <p:sldId id="349" r:id="rId35"/>
    <p:sldId id="356" r:id="rId36"/>
    <p:sldId id="354" r:id="rId37"/>
    <p:sldId id="306" r:id="rId38"/>
    <p:sldId id="289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3E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90" autoAdjust="0"/>
    <p:restoredTop sz="86467" autoAdjust="0"/>
  </p:normalViewPr>
  <p:slideViewPr>
    <p:cSldViewPr snapToGrid="0" snapToObjects="1">
      <p:cViewPr varScale="1">
        <p:scale>
          <a:sx n="95" d="100"/>
          <a:sy n="95" d="100"/>
        </p:scale>
        <p:origin x="396" y="6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6D7C45-680E-4489-80EB-BBEA1434BA56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7C9F70-A0BE-4079-B8B5-04DAAB5E5C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8067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9E785-E6A1-9F28-61E8-50BD3AFCE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791DD6E-ADCA-EC27-9CFB-8371BB42AC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33CF2DB-E612-B8A3-12C5-98686D3C53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AE9579D-D0C2-A4A1-6973-656081FCB2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40336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2813F-760D-C7D6-3CBD-DF5B53525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4020B15-0A49-C4B5-E94D-6ABE13D050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D89890A-3C0B-C811-EA54-2FA7F5C115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828A3B1-0B80-0D46-7922-9624C976B1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75525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99EE1-0D7E-73BD-0EA9-7D65405F0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F10FC9D-6F45-899F-F62E-2DF8D90F36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39B44D4-79D6-C789-0B6A-2D43564ACA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F4CBC23-84C8-A187-3ADD-BBBBCFB179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7458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00095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71713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21889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15175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5979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792" y="2130426"/>
            <a:ext cx="984274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792" y="3864634"/>
            <a:ext cx="984274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76883" y="6356351"/>
            <a:ext cx="1924649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657" y="4406901"/>
            <a:ext cx="982877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6657" y="2906713"/>
            <a:ext cx="982877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1017" y="1552577"/>
            <a:ext cx="464917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16437" y="1561383"/>
            <a:ext cx="4548997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017" y="1535113"/>
            <a:ext cx="508049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8166" y="2174875"/>
            <a:ext cx="505334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91509" y="1535113"/>
            <a:ext cx="51499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92381" y="2174875"/>
            <a:ext cx="487305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797" y="273051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5737" y="273051"/>
            <a:ext cx="565892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9797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166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38166" y="685800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8166" y="5366035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1017" y="274638"/>
            <a:ext cx="995441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017" y="1600201"/>
            <a:ext cx="9954417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8166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7017" y="6356351"/>
            <a:ext cx="35024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40785" y="6356351"/>
            <a:ext cx="192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pic>
        <p:nvPicPr>
          <p:cNvPr id="1031" name="Imagem 1030" descr="Tela de celula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750F0E33-6D96-819A-F084-8DC047D0F98C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340136" y="0"/>
            <a:ext cx="1851863" cy="5763853"/>
          </a:xfrm>
          <a:prstGeom prst="rect">
            <a:avLst/>
          </a:prstGeom>
        </p:spPr>
      </p:pic>
      <p:sp>
        <p:nvSpPr>
          <p:cNvPr id="13" name="Retângulo 12">
            <a:extLst>
              <a:ext uri="{FF2B5EF4-FFF2-40B4-BE49-F238E27FC236}">
                <a16:creationId xmlns:a16="http://schemas.microsoft.com/office/drawing/2014/main" id="{14B44035-AFE9-B53C-C283-0D620D4577F8}"/>
              </a:ext>
            </a:extLst>
          </p:cNvPr>
          <p:cNvSpPr/>
          <p:nvPr userDrawn="1"/>
        </p:nvSpPr>
        <p:spPr>
          <a:xfrm>
            <a:off x="10363200" y="5753819"/>
            <a:ext cx="1828800" cy="1104181"/>
          </a:xfrm>
          <a:prstGeom prst="rect">
            <a:avLst/>
          </a:prstGeom>
          <a:solidFill>
            <a:schemeClr val="tx2">
              <a:lumMod val="75000"/>
            </a:schemeClr>
          </a:solidFill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Picture 2" descr="Universidade Estadual de Goiás">
            <a:extLst>
              <a:ext uri="{FF2B5EF4-FFF2-40B4-BE49-F238E27FC236}">
                <a16:creationId xmlns:a16="http://schemas.microsoft.com/office/drawing/2014/main" id="{18AB2DC8-328B-1683-CA2B-023A50B2F2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4217" y="6418144"/>
            <a:ext cx="1206766" cy="365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just" defTabSz="457200" rtl="0" eaLnBrk="1" latinLnBrk="0" hangingPunct="1"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just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just" defTabSz="457200" rtl="0" eaLnBrk="1" latinLnBrk="0" hangingPunct="1">
        <a:spcBef>
          <a:spcPct val="20000"/>
        </a:spcBef>
        <a:buFont typeface="Arial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457200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457200" rtl="0" eaLnBrk="1" latinLnBrk="0" hangingPunct="1">
        <a:spcBef>
          <a:spcPct val="20000"/>
        </a:spcBef>
        <a:buFont typeface="Arial"/>
        <a:buChar char="–"/>
        <a:defRPr sz="2000" u="sng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mariadb.org/download/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mailto:alison.filgueiras@ueg.br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438D8062-D185-A225-A53A-B6501DA3323D}"/>
              </a:ext>
            </a:extLst>
          </p:cNvPr>
          <p:cNvSpPr txBox="1"/>
          <p:nvPr/>
        </p:nvSpPr>
        <p:spPr>
          <a:xfrm>
            <a:off x="1097280" y="1359568"/>
            <a:ext cx="5888150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600" b="1" dirty="0"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Bancos de Dados I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665C5E3-E48B-49FC-3351-D42F2E92F8A1}"/>
              </a:ext>
            </a:extLst>
          </p:cNvPr>
          <p:cNvSpPr txBox="1"/>
          <p:nvPr/>
        </p:nvSpPr>
        <p:spPr>
          <a:xfrm>
            <a:off x="1097279" y="2159787"/>
            <a:ext cx="7640233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600" b="1" dirty="0">
                <a:solidFill>
                  <a:srgbClr val="3E3EEC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Sistemas de Informação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BF2CD0B-5541-7125-8B87-C1ED8D1E3A78}"/>
              </a:ext>
            </a:extLst>
          </p:cNvPr>
          <p:cNvSpPr txBox="1"/>
          <p:nvPr/>
        </p:nvSpPr>
        <p:spPr>
          <a:xfrm>
            <a:off x="1085705" y="3437059"/>
            <a:ext cx="6135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Introdução e fundamentos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0FC8993-9C43-CF86-EBF5-D44B006FFB99}"/>
              </a:ext>
            </a:extLst>
          </p:cNvPr>
          <p:cNvSpPr txBox="1"/>
          <p:nvPr/>
        </p:nvSpPr>
        <p:spPr>
          <a:xfrm>
            <a:off x="960119" y="6115551"/>
            <a:ext cx="61356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BR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Alison Filgueiras</a:t>
            </a:r>
          </a:p>
          <a:p>
            <a:pPr algn="l"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Professor | UEG</a:t>
            </a:r>
          </a:p>
        </p:txBody>
      </p:sp>
      <p:grpSp>
        <p:nvGrpSpPr>
          <p:cNvPr id="1034" name="Agrupar 1033">
            <a:extLst>
              <a:ext uri="{FF2B5EF4-FFF2-40B4-BE49-F238E27FC236}">
                <a16:creationId xmlns:a16="http://schemas.microsoft.com/office/drawing/2014/main" id="{F2684B3C-CED0-121B-CAF8-575122981630}"/>
              </a:ext>
            </a:extLst>
          </p:cNvPr>
          <p:cNvGrpSpPr/>
          <p:nvPr/>
        </p:nvGrpSpPr>
        <p:grpSpPr>
          <a:xfrm>
            <a:off x="226700" y="6103288"/>
            <a:ext cx="685800" cy="615554"/>
            <a:chOff x="226700" y="6103288"/>
            <a:chExt cx="685800" cy="615554"/>
          </a:xfrm>
        </p:grpSpPr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85D935DD-DDDA-FF65-63FD-530CB8DBE80E}"/>
                </a:ext>
              </a:extLst>
            </p:cNvPr>
            <p:cNvSpPr/>
            <p:nvPr/>
          </p:nvSpPr>
          <p:spPr>
            <a:xfrm>
              <a:off x="226700" y="6103288"/>
              <a:ext cx="685800" cy="615554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0" name="Gráfico 19" descr="Usuário com preenchimento sólido">
              <a:extLst>
                <a:ext uri="{FF2B5EF4-FFF2-40B4-BE49-F238E27FC236}">
                  <a16:creationId xmlns:a16="http://schemas.microsoft.com/office/drawing/2014/main" id="{C66295BE-8410-F15A-A753-03D0AB13BB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3414" y="6204878"/>
              <a:ext cx="412373" cy="412373"/>
            </a:xfrm>
            <a:prstGeom prst="rect">
              <a:avLst/>
            </a:prstGeom>
          </p:spPr>
        </p:pic>
      </p:grpSp>
      <p:sp>
        <p:nvSpPr>
          <p:cNvPr id="24" name="Retângulo 23">
            <a:extLst>
              <a:ext uri="{FF2B5EF4-FFF2-40B4-BE49-F238E27FC236}">
                <a16:creationId xmlns:a16="http://schemas.microsoft.com/office/drawing/2014/main" id="{A679D320-6A19-BA43-1417-38BF23578455}"/>
              </a:ext>
            </a:extLst>
          </p:cNvPr>
          <p:cNvSpPr/>
          <p:nvPr/>
        </p:nvSpPr>
        <p:spPr>
          <a:xfrm>
            <a:off x="1212352" y="3088519"/>
            <a:ext cx="1009639" cy="81561"/>
          </a:xfrm>
          <a:prstGeom prst="rect">
            <a:avLst/>
          </a:prstGeom>
          <a:solidFill>
            <a:srgbClr val="3E3EE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5" name="Imagem 1024" descr="Palco com luzes azuis&#10;&#10;O conteúdo gerado por IA pode estar incorreto.">
            <a:extLst>
              <a:ext uri="{FF2B5EF4-FFF2-40B4-BE49-F238E27FC236}">
                <a16:creationId xmlns:a16="http://schemas.microsoft.com/office/drawing/2014/main" id="{B9266E90-32F5-C287-214F-67EC1490E8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9165" y="0"/>
            <a:ext cx="2391109" cy="3972479"/>
          </a:xfrm>
          <a:prstGeom prst="rect">
            <a:avLst/>
          </a:prstGeom>
        </p:spPr>
      </p:pic>
      <p:pic>
        <p:nvPicPr>
          <p:cNvPr id="1027" name="Imagem 1026" descr="Lousa com letras e números em fundo preto&#10;&#10;O conteúdo gerado por IA pode estar incorreto.">
            <a:extLst>
              <a:ext uri="{FF2B5EF4-FFF2-40B4-BE49-F238E27FC236}">
                <a16:creationId xmlns:a16="http://schemas.microsoft.com/office/drawing/2014/main" id="{A4B543E0-C29B-E196-B7C7-5E66271B51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9164" y="3928750"/>
            <a:ext cx="2391109" cy="4182059"/>
          </a:xfrm>
          <a:prstGeom prst="rect">
            <a:avLst/>
          </a:prstGeom>
        </p:spPr>
      </p:pic>
      <p:sp>
        <p:nvSpPr>
          <p:cNvPr id="1029" name="AutoShape 6" descr="Imagem de ">
            <a:extLst>
              <a:ext uri="{FF2B5EF4-FFF2-40B4-BE49-F238E27FC236}">
                <a16:creationId xmlns:a16="http://schemas.microsoft.com/office/drawing/2014/main" id="{9EAD35B4-A30E-3E1D-0195-D40D66F1CC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2" name="Picture 2" descr="Universidade Estadual de Goiás">
            <a:extLst>
              <a:ext uri="{FF2B5EF4-FFF2-40B4-BE49-F238E27FC236}">
                <a16:creationId xmlns:a16="http://schemas.microsoft.com/office/drawing/2014/main" id="{2A0A8953-2E8B-09AD-FF7B-0FC2075656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4217" y="6418144"/>
            <a:ext cx="1206766" cy="365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1BFCD8B-611F-E161-11A6-C23A82F6C4E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8008" y="168620"/>
            <a:ext cx="9954417" cy="1143000"/>
          </a:xfrm>
        </p:spPr>
        <p:txBody>
          <a:bodyPr/>
          <a:lstStyle/>
          <a:p>
            <a:r>
              <a:rPr lang="pt-BR" dirty="0"/>
              <a:t>Objetivos</a:t>
            </a:r>
            <a:r>
              <a:rPr lang="pt-BR" baseline="0" dirty="0"/>
              <a:t> do encontro</a:t>
            </a:r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D3FEDF3-A8A2-12B5-77A6-DD23F1E58EB5}"/>
              </a:ext>
            </a:extLst>
          </p:cNvPr>
          <p:cNvSpPr>
            <a:spLocks noGrp="1"/>
          </p:cNvSpPr>
          <p:nvPr>
            <p:ph type="body" idx="4294967295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Parte teórica</a:t>
            </a:r>
            <a:endParaRPr lang="pt-BR" dirty="0"/>
          </a:p>
          <a:p>
            <a:pPr lvl="1"/>
            <a:r>
              <a:rPr lang="pt-BR" dirty="0"/>
              <a:t>revisitar questões importantes da aula passada</a:t>
            </a:r>
          </a:p>
          <a:p>
            <a:pPr lvl="1"/>
            <a:r>
              <a:rPr lang="pt-BR" dirty="0"/>
              <a:t>Estudar fundamentos de bancos de dados</a:t>
            </a:r>
          </a:p>
          <a:p>
            <a:pPr lvl="1"/>
            <a:r>
              <a:rPr lang="pt-BR" dirty="0"/>
              <a:t>Iniciar a visão conceitual de bancos de dados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49820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5B6E1D-D632-D2FF-78DB-6AB39B390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013" y="2522138"/>
            <a:ext cx="7215197" cy="1547446"/>
          </a:xfr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pt-BR" dirty="0"/>
              <a:t>Mas afinal, o que são bancos de dados?</a:t>
            </a:r>
          </a:p>
        </p:txBody>
      </p:sp>
    </p:spTree>
    <p:extLst>
      <p:ext uri="{BB962C8B-B14F-4D97-AF65-F5344CB8AC3E}">
        <p14:creationId xmlns:p14="http://schemas.microsoft.com/office/powerpoint/2010/main" val="1473114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FE32B-29B5-2A4D-DF4F-5ADA74B93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00971F-8D49-3639-A87C-0299F1CEF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 e fundamentos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BCB357C-EC05-1714-522B-1A25839B1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Dados</a:t>
            </a:r>
          </a:p>
          <a:p>
            <a:r>
              <a:rPr lang="pt-BR" dirty="0"/>
              <a:t>Fatos brutos, sem contexto</a:t>
            </a:r>
          </a:p>
          <a:p>
            <a:r>
              <a:rPr lang="pt-BR" dirty="0"/>
              <a:t>Números, textos, registros isolados</a:t>
            </a:r>
          </a:p>
          <a:p>
            <a:pPr marL="457200" lvl="1" indent="0">
              <a:buNone/>
            </a:pPr>
            <a:endParaRPr lang="pt-BR" dirty="0"/>
          </a:p>
          <a:p>
            <a:pPr lvl="2"/>
            <a:r>
              <a:rPr lang="pt-BR" dirty="0"/>
              <a:t>2024-02-01 | 42 | 7</a:t>
            </a:r>
          </a:p>
          <a:p>
            <a:pPr lvl="2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EE24A30-895A-17B9-36A7-A5D83AB4B7FC}"/>
              </a:ext>
            </a:extLst>
          </p:cNvPr>
          <p:cNvSpPr txBox="1"/>
          <p:nvPr/>
        </p:nvSpPr>
        <p:spPr>
          <a:xfrm>
            <a:off x="6246725" y="5094514"/>
            <a:ext cx="3142207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pt-BR" dirty="0"/>
              <a:t>Sozinho isso não diz nada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B548E655-140E-A655-A6B9-4F76B63A6B08}"/>
              </a:ext>
            </a:extLst>
          </p:cNvPr>
          <p:cNvCxnSpPr>
            <a:stCxn id="4" idx="1"/>
          </p:cNvCxnSpPr>
          <p:nvPr/>
        </p:nvCxnSpPr>
        <p:spPr>
          <a:xfrm flipH="1" flipV="1">
            <a:off x="3697793" y="4561952"/>
            <a:ext cx="2548932" cy="7172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725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E79A6-4A48-9B4B-435F-E3B62FC62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9DE1C2-54F5-F9F5-FA1B-E93109607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 e fundamentos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2C67E-A773-6CDB-BAD6-241527D50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Informação</a:t>
            </a:r>
          </a:p>
          <a:p>
            <a:r>
              <a:rPr lang="pt-BR" dirty="0"/>
              <a:t>Dados organizados e contextualizados</a:t>
            </a:r>
          </a:p>
          <a:p>
            <a:r>
              <a:rPr lang="pt-BR" dirty="0"/>
              <a:t>Respondem perguntas básicas: o quê? quando? onde?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4F08756-7418-884E-7BAD-58AE9DB78E6E}"/>
              </a:ext>
            </a:extLst>
          </p:cNvPr>
          <p:cNvSpPr txBox="1"/>
          <p:nvPr/>
        </p:nvSpPr>
        <p:spPr>
          <a:xfrm>
            <a:off x="972177" y="4469898"/>
            <a:ext cx="73880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“Foram registrados </a:t>
            </a:r>
            <a:r>
              <a:rPr lang="pt-BR" b="1" dirty="0"/>
              <a:t>42 acessos</a:t>
            </a:r>
            <a:r>
              <a:rPr lang="pt-BR" dirty="0"/>
              <a:t> ao sistema no dia </a:t>
            </a:r>
            <a:r>
              <a:rPr lang="pt-BR" b="1" dirty="0"/>
              <a:t>01/02</a:t>
            </a:r>
            <a:r>
              <a:rPr lang="pt-BR" dirty="0"/>
              <a:t>, sendo </a:t>
            </a:r>
            <a:r>
              <a:rPr lang="pt-BR" b="1" dirty="0"/>
              <a:t>7 falhas</a:t>
            </a:r>
            <a:r>
              <a:rPr lang="pt-BR" dirty="0"/>
              <a:t>.”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86C8089-7A29-2064-EBFF-F18F720CC116}"/>
              </a:ext>
            </a:extLst>
          </p:cNvPr>
          <p:cNvSpPr txBox="1"/>
          <p:nvPr/>
        </p:nvSpPr>
        <p:spPr>
          <a:xfrm>
            <a:off x="6759914" y="5436515"/>
            <a:ext cx="1430200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pt-BR" dirty="0"/>
              <a:t>Agora diz...</a:t>
            </a: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CADB9F1A-0A91-E44D-F80B-1F2A1C271C9C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5566787" y="5621181"/>
            <a:ext cx="1193127" cy="630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080138C-7CB3-276C-E02D-20770A8C1AB8}"/>
              </a:ext>
            </a:extLst>
          </p:cNvPr>
          <p:cNvSpPr txBox="1"/>
          <p:nvPr/>
        </p:nvSpPr>
        <p:spPr>
          <a:xfrm>
            <a:off x="2318657" y="5590187"/>
            <a:ext cx="61244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pt-BR" dirty="0"/>
              <a:t>2024-02-01 | 42 | 7</a:t>
            </a:r>
          </a:p>
        </p:txBody>
      </p:sp>
    </p:spTree>
    <p:extLst>
      <p:ext uri="{BB962C8B-B14F-4D97-AF65-F5344CB8AC3E}">
        <p14:creationId xmlns:p14="http://schemas.microsoft.com/office/powerpoint/2010/main" val="3125631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877B7-338C-3337-B767-E7400C837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5295D3-1F30-9055-0622-3844638FE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 e fundamentos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0559D8-25DE-B603-DE46-68E280F97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Conhecimento</a:t>
            </a:r>
          </a:p>
          <a:p>
            <a:r>
              <a:rPr lang="pt-BR" dirty="0"/>
              <a:t>Informação interpretada</a:t>
            </a:r>
          </a:p>
          <a:p>
            <a:r>
              <a:rPr lang="pt-BR" dirty="0"/>
              <a:t>Apoia decisão e ação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671BBF1-028E-EEE4-71CA-5F578AEC79A3}"/>
              </a:ext>
            </a:extLst>
          </p:cNvPr>
          <p:cNvSpPr txBox="1"/>
          <p:nvPr/>
        </p:nvSpPr>
        <p:spPr>
          <a:xfrm>
            <a:off x="2469324" y="3863182"/>
            <a:ext cx="73880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“Foram registrados </a:t>
            </a:r>
            <a:r>
              <a:rPr lang="pt-BR" b="1" dirty="0"/>
              <a:t>42 acessos</a:t>
            </a:r>
            <a:r>
              <a:rPr lang="pt-BR" dirty="0"/>
              <a:t> ao sistema no dia </a:t>
            </a:r>
            <a:r>
              <a:rPr lang="pt-BR" b="1" dirty="0"/>
              <a:t>01/02</a:t>
            </a:r>
            <a:r>
              <a:rPr lang="pt-BR" dirty="0"/>
              <a:t>, sendo </a:t>
            </a:r>
            <a:r>
              <a:rPr lang="pt-BR" b="1" dirty="0"/>
              <a:t>7 falhas</a:t>
            </a:r>
            <a:r>
              <a:rPr lang="pt-BR" dirty="0"/>
              <a:t>.”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3712AF5-BBC2-0627-7792-4DC93C6617B2}"/>
              </a:ext>
            </a:extLst>
          </p:cNvPr>
          <p:cNvSpPr txBox="1"/>
          <p:nvPr/>
        </p:nvSpPr>
        <p:spPr>
          <a:xfrm>
            <a:off x="8190114" y="5684228"/>
            <a:ext cx="1494320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pt-BR" dirty="0"/>
              <a:t>Tomada de</a:t>
            </a:r>
          </a:p>
          <a:p>
            <a:r>
              <a:rPr lang="pt-BR" dirty="0"/>
              <a:t>decisão</a:t>
            </a: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75B5CD28-E94E-1059-B9FE-E268E89355CA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6451042" y="5325572"/>
            <a:ext cx="1739072" cy="6818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2EC831E-AF26-3E22-94E4-AFDB85885D17}"/>
              </a:ext>
            </a:extLst>
          </p:cNvPr>
          <p:cNvSpPr txBox="1"/>
          <p:nvPr/>
        </p:nvSpPr>
        <p:spPr>
          <a:xfrm>
            <a:off x="3559964" y="3455230"/>
            <a:ext cx="61244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pt-BR" dirty="0"/>
              <a:t>2024-02-01 | 42 | 7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AB15AE9-2433-6496-8FC9-F26881ADDF62}"/>
              </a:ext>
            </a:extLst>
          </p:cNvPr>
          <p:cNvSpPr txBox="1"/>
          <p:nvPr/>
        </p:nvSpPr>
        <p:spPr>
          <a:xfrm>
            <a:off x="3101115" y="4643751"/>
            <a:ext cx="6124470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dirty="0"/>
              <a:t>“O pico de falhas ocorre sempre no horário X → precisamos escalar o servidor.”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AA29ACB8-DC74-3796-8D5E-517853A736C2}"/>
              </a:ext>
            </a:extLst>
          </p:cNvPr>
          <p:cNvSpPr txBox="1"/>
          <p:nvPr/>
        </p:nvSpPr>
        <p:spPr>
          <a:xfrm>
            <a:off x="497729" y="5879868"/>
            <a:ext cx="6124470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pt-BR" dirty="0"/>
              <a:t>Bancos de dados existem para </a:t>
            </a:r>
            <a:r>
              <a:rPr lang="pt-BR" b="1" dirty="0"/>
              <a:t>transformar dados em informação</a:t>
            </a:r>
            <a:r>
              <a:rPr lang="pt-BR" dirty="0"/>
              <a:t>, e sistemas de informação existem para </a:t>
            </a:r>
            <a:r>
              <a:rPr lang="pt-BR" b="1" dirty="0"/>
              <a:t>gerar conhecimento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8428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1B4BA9-3720-B9BA-8C00-8C7092682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 e fundamentos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FB2E76-C8C7-5AA9-1A69-32F6D3498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Bancos de dados não são automaticamente úteis</a:t>
            </a:r>
          </a:p>
          <a:p>
            <a:pPr lvl="2"/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E297232-EA8D-A19F-BB04-656AD569CCAD}"/>
              </a:ext>
            </a:extLst>
          </p:cNvPr>
          <p:cNvSpPr txBox="1"/>
          <p:nvPr/>
        </p:nvSpPr>
        <p:spPr>
          <a:xfrm>
            <a:off x="2914021" y="3687742"/>
            <a:ext cx="4320792" cy="46166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Organização + propósito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5515242-F147-04C3-ADD2-015DD8F01F14}"/>
              </a:ext>
            </a:extLst>
          </p:cNvPr>
          <p:cNvSpPr txBox="1"/>
          <p:nvPr/>
        </p:nvSpPr>
        <p:spPr>
          <a:xfrm>
            <a:off x="497729" y="5879868"/>
            <a:ext cx="6124470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pt-BR" dirty="0"/>
              <a:t>Bancos de dados existem para </a:t>
            </a:r>
            <a:r>
              <a:rPr lang="pt-BR" b="1" dirty="0"/>
              <a:t>transformar dados em informação</a:t>
            </a:r>
            <a:r>
              <a:rPr lang="pt-BR" dirty="0"/>
              <a:t>, e sistemas de informação existem para </a:t>
            </a:r>
            <a:r>
              <a:rPr lang="pt-BR" b="1" dirty="0"/>
              <a:t>gerar conhecimento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38163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DAB80F-EB94-DFEB-F19B-66FCFBDB1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Dados enquanto matéria prima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7DCF4B-F3DF-396C-2579-FF4018030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Os sistemas de banco de dados gerenciam coleções de dados que são </a:t>
            </a:r>
            <a:r>
              <a:rPr lang="pt-BR" b="1" dirty="0"/>
              <a:t>altamente valiosas</a:t>
            </a:r>
            <a:r>
              <a:rPr lang="pt-BR" dirty="0"/>
              <a:t>, </a:t>
            </a:r>
            <a:r>
              <a:rPr lang="pt-BR" b="1" dirty="0"/>
              <a:t>relativamente grandes</a:t>
            </a:r>
            <a:r>
              <a:rPr lang="pt-BR" dirty="0"/>
              <a:t> e </a:t>
            </a:r>
            <a:r>
              <a:rPr lang="pt-BR" b="1" dirty="0"/>
              <a:t>acessadas simultaneamente</a:t>
            </a:r>
            <a:r>
              <a:rPr lang="pt-BR" dirty="0"/>
              <a:t> por diversos usuários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CC1F439-3DF4-95C6-6E94-25E1A48D111E}"/>
              </a:ext>
            </a:extLst>
          </p:cNvPr>
          <p:cNvSpPr txBox="1"/>
          <p:nvPr/>
        </p:nvSpPr>
        <p:spPr>
          <a:xfrm>
            <a:off x="1290175" y="4793063"/>
            <a:ext cx="79961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pt-BR" dirty="0"/>
              <a:t>A principal matéria prima para as tecnologias digitais são os dados</a:t>
            </a:r>
          </a:p>
        </p:txBody>
      </p:sp>
    </p:spTree>
    <p:extLst>
      <p:ext uri="{BB962C8B-B14F-4D97-AF65-F5344CB8AC3E}">
        <p14:creationId xmlns:p14="http://schemas.microsoft.com/office/powerpoint/2010/main" val="4184639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BBF3D-B706-E89C-D4A4-8FA1C8A85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1C9CA9-3562-3D3B-718C-67751856F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 e fundamentos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31FDB6-F4DB-B5F1-5D5E-89A49270C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 banco de dados é uma coleção de dados relacionados.</a:t>
            </a:r>
          </a:p>
          <a:p>
            <a:r>
              <a:rPr lang="pt-BR" dirty="0"/>
              <a:t>Dados são fatos conhecidos que podem ser </a:t>
            </a:r>
            <a:r>
              <a:rPr lang="pt-BR" b="1" dirty="0"/>
              <a:t>registrados</a:t>
            </a:r>
            <a:r>
              <a:rPr lang="pt-BR" dirty="0"/>
              <a:t> e possuem significado </a:t>
            </a:r>
            <a:r>
              <a:rPr lang="pt-BR" b="1" dirty="0"/>
              <a:t>implícito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Nome, número de telefone, endereço.</a:t>
            </a:r>
          </a:p>
          <a:p>
            <a:pPr marL="457200" lvl="1" indent="0">
              <a:buNone/>
            </a:pPr>
            <a:endParaRPr lang="pt-BR" dirty="0"/>
          </a:p>
          <a:p>
            <a:pPr marL="457200" lvl="1" indent="0" algn="r">
              <a:buNone/>
            </a:pPr>
            <a:r>
              <a:rPr lang="pt-BR" dirty="0"/>
              <a:t>(</a:t>
            </a:r>
            <a:r>
              <a:rPr lang="pt-BR" dirty="0" err="1"/>
              <a:t>Emasri</a:t>
            </a:r>
            <a:r>
              <a:rPr lang="pt-BR" dirty="0"/>
              <a:t> e </a:t>
            </a:r>
            <a:r>
              <a:rPr lang="pt-BR" dirty="0" err="1"/>
              <a:t>Navathe</a:t>
            </a:r>
            <a:r>
              <a:rPr lang="pt-BR" dirty="0"/>
              <a:t>, </a:t>
            </a:r>
            <a:r>
              <a:rPr lang="pt-BR" dirty="0" err="1"/>
              <a:t>pág</a:t>
            </a:r>
            <a:r>
              <a:rPr lang="pt-BR" dirty="0"/>
              <a:t> 3)</a:t>
            </a:r>
          </a:p>
          <a:p>
            <a:pPr lvl="2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37972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CBBE3-9F4D-9379-0555-7758EB2FB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Conceito de banco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1AA0FC-E610-680C-A65B-6132608F0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Um BD representa algum aspecto do mundo real. Às vezes chamado de </a:t>
            </a:r>
            <a:r>
              <a:rPr lang="pt-BR" b="1" dirty="0"/>
              <a:t>minimundo</a:t>
            </a:r>
            <a:r>
              <a:rPr lang="pt-BR" dirty="0"/>
              <a:t> ou </a:t>
            </a:r>
            <a:r>
              <a:rPr lang="pt-BR" b="1" dirty="0"/>
              <a:t>universo do discurso. </a:t>
            </a:r>
            <a:r>
              <a:rPr lang="pt-BR" dirty="0">
                <a:solidFill>
                  <a:schemeClr val="tx2"/>
                </a:solidFill>
              </a:rPr>
              <a:t>Mudanças no minimundo não refletidas no banco de dados</a:t>
            </a:r>
            <a:r>
              <a:rPr lang="pt-BR" dirty="0"/>
              <a:t>.</a:t>
            </a:r>
            <a:endParaRPr lang="pt-BR" b="1" dirty="0"/>
          </a:p>
          <a:p>
            <a:r>
              <a:rPr lang="pt-BR" dirty="0"/>
              <a:t>Um BD é uma coleção logicamente coerente de dados com algum significado inerente.</a:t>
            </a:r>
          </a:p>
          <a:p>
            <a:r>
              <a:rPr lang="pt-BR" dirty="0"/>
              <a:t>Uma variedade aleatória de dados não pode ser chamada de banco de dados.</a:t>
            </a:r>
          </a:p>
          <a:p>
            <a:r>
              <a:rPr lang="pt-BR" dirty="0"/>
              <a:t>Uma BD é projetado, construído e populado com dados para uma finalidade específica. </a:t>
            </a:r>
          </a:p>
          <a:p>
            <a:r>
              <a:rPr lang="pt-BR" dirty="0"/>
              <a:t>Possui grupo definido de usuários e algumas aplicações previamente concebidas nas quais esses usuários estão interessados. </a:t>
            </a:r>
          </a:p>
        </p:txBody>
      </p:sp>
    </p:spTree>
    <p:extLst>
      <p:ext uri="{BB962C8B-B14F-4D97-AF65-F5344CB8AC3E}">
        <p14:creationId xmlns:p14="http://schemas.microsoft.com/office/powerpoint/2010/main" val="1017128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BB307-4E5B-39ED-E88E-3DE8B7684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D8ABB7-0FAD-98A1-88BF-831058A64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Conceito de banco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5AA3E1-8197-4745-6E28-A6C0DC653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endParaRPr lang="pt-BR" dirty="0"/>
          </a:p>
          <a:p>
            <a:r>
              <a:rPr lang="pt-BR" dirty="0"/>
              <a:t> Um sistema de gerenciamento de banco de dados (</a:t>
            </a:r>
            <a:r>
              <a:rPr lang="pt-BR" b="1" dirty="0"/>
              <a:t>SGBD</a:t>
            </a:r>
            <a:r>
              <a:rPr lang="pt-BR" dirty="0"/>
              <a:t>) é uma coleção de dados inter-relacionados e um conjunto de programas para acessar esses dados. </a:t>
            </a:r>
          </a:p>
          <a:p>
            <a:r>
              <a:rPr lang="pt-BR" dirty="0"/>
              <a:t>A </a:t>
            </a:r>
            <a:r>
              <a:rPr lang="pt-BR" b="1" dirty="0"/>
              <a:t>coleção de dados</a:t>
            </a:r>
            <a:r>
              <a:rPr lang="pt-BR" dirty="0"/>
              <a:t>, normalmente conhecida como </a:t>
            </a:r>
            <a:r>
              <a:rPr lang="pt-BR" b="1" dirty="0"/>
              <a:t>banco de dados</a:t>
            </a:r>
            <a:r>
              <a:rPr lang="pt-BR" dirty="0"/>
              <a:t>, contém informações relevantes para uma empresa. </a:t>
            </a:r>
          </a:p>
          <a:p>
            <a:r>
              <a:rPr lang="pt-BR" dirty="0"/>
              <a:t>O principal objetivo de um SGBD é proporcionar uma forma de armazenar e recuperar informações de um banco de dados de maneira conveniente e eficiente </a:t>
            </a:r>
          </a:p>
          <a:p>
            <a:pPr marL="457200" lvl="1" indent="0" algn="r">
              <a:buNone/>
            </a:pPr>
            <a:r>
              <a:rPr lang="pt-BR" dirty="0"/>
              <a:t>(</a:t>
            </a:r>
            <a:r>
              <a:rPr lang="pt-BR" dirty="0" err="1"/>
              <a:t>Silberschatz</a:t>
            </a:r>
            <a:r>
              <a:rPr lang="pt-BR" dirty="0"/>
              <a:t>)</a:t>
            </a:r>
          </a:p>
          <a:p>
            <a:pPr lvl="2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78547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01267-B680-D775-12B1-6931B45BE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D19A8C-33E6-0DEA-7248-468398C34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Conceito de banco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590C07-6B80-2FE7-5754-252C0725B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pt-BR" dirty="0"/>
          </a:p>
          <a:p>
            <a:r>
              <a:rPr lang="pt-BR" dirty="0"/>
              <a:t> Um sistema de gerenciamento de banco de dados (</a:t>
            </a:r>
            <a:r>
              <a:rPr lang="pt-BR" b="1" dirty="0"/>
              <a:t>SGBD</a:t>
            </a:r>
            <a:r>
              <a:rPr lang="pt-BR" dirty="0"/>
              <a:t>) é uma coleção de programas que permite aos usuários criar e manter bancos de dados</a:t>
            </a:r>
          </a:p>
          <a:p>
            <a:r>
              <a:rPr lang="pt-BR" dirty="0"/>
              <a:t>Software que facilita o processo de definição, construção, manipulação e exposição (compartilhamento) de bancos de dados</a:t>
            </a:r>
          </a:p>
          <a:p>
            <a:pPr marL="457200" lvl="1" indent="0" algn="r">
              <a:buNone/>
            </a:pPr>
            <a:r>
              <a:rPr lang="pt-BR" dirty="0"/>
              <a:t>(</a:t>
            </a:r>
            <a:r>
              <a:rPr lang="pt-BR" dirty="0" err="1"/>
              <a:t>Elsmari</a:t>
            </a:r>
            <a:r>
              <a:rPr lang="pt-BR" dirty="0"/>
              <a:t> e </a:t>
            </a:r>
            <a:r>
              <a:rPr lang="pt-BR" dirty="0" err="1"/>
              <a:t>Navathe</a:t>
            </a:r>
            <a:r>
              <a:rPr lang="pt-BR" dirty="0"/>
              <a:t>)</a:t>
            </a:r>
          </a:p>
          <a:p>
            <a:pPr lvl="2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5331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8CE538-CADE-25F7-B170-56D96B24A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Evolução dos BD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8DED81-4E9B-F971-5A4E-C5206B87C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b="1" dirty="0"/>
              <a:t>1. O Caos </a:t>
            </a:r>
            <a:r>
              <a:rPr lang="pt-BR" b="1" dirty="0" err="1"/>
              <a:t>Pré</a:t>
            </a:r>
            <a:r>
              <a:rPr lang="pt-BR" b="1" dirty="0"/>
              <a:t>-SGBD: Arquivos e Planilhas</a:t>
            </a:r>
          </a:p>
          <a:p>
            <a:pPr lvl="1"/>
            <a:r>
              <a:rPr lang="pt-BR" b="1" dirty="0"/>
              <a:t>Contexto:</a:t>
            </a:r>
            <a:r>
              <a:rPr lang="pt-BR" dirty="0"/>
              <a:t> No início, guardávamos tudo em pastas físicas ou arquivos digitais isolados (TXT, CSV).</a:t>
            </a:r>
          </a:p>
          <a:p>
            <a:pPr lvl="1"/>
            <a:r>
              <a:rPr lang="pt-BR" b="1" dirty="0"/>
              <a:t>A "Dor":</a:t>
            </a:r>
            <a:r>
              <a:rPr lang="pt-BR" dirty="0"/>
              <a:t> Imagine que a UEG guardasse seu endereço no arquivo do "Financeiro" e no arquivo da "Biblioteca". Se você mudasse de rua e avisasse apenas a Biblioteca, o boleto do Financeiro iria para o lugar errado.</a:t>
            </a:r>
          </a:p>
          <a:p>
            <a:pPr lvl="1"/>
            <a:r>
              <a:rPr lang="pt-BR" b="1" dirty="0"/>
              <a:t>Problemas Centrais:</a:t>
            </a:r>
            <a:r>
              <a:rPr lang="pt-BR" dirty="0"/>
              <a:t> * </a:t>
            </a:r>
            <a:r>
              <a:rPr lang="pt-BR" b="1" dirty="0"/>
              <a:t>Redundância:</a:t>
            </a:r>
            <a:r>
              <a:rPr lang="pt-BR" dirty="0"/>
              <a:t> O mesmo dado em vários lugares.</a:t>
            </a:r>
          </a:p>
          <a:p>
            <a:pPr lvl="1"/>
            <a:r>
              <a:rPr lang="pt-BR" b="1" dirty="0"/>
              <a:t>Inconsistência:</a:t>
            </a:r>
            <a:r>
              <a:rPr lang="pt-BR" dirty="0"/>
              <a:t> O dado está diferente em cada lugar.</a:t>
            </a:r>
          </a:p>
          <a:p>
            <a:pPr lvl="1"/>
            <a:r>
              <a:rPr lang="pt-BR" b="1" dirty="0"/>
              <a:t>Anomalia de Manutenção:</a:t>
            </a:r>
            <a:r>
              <a:rPr lang="pt-BR" dirty="0"/>
              <a:t> Um esforço gigante para atualizar uma informação simples.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46170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40A1C-3453-3162-E722-87DEA5A84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5CEDE6-BA75-1100-6BDE-327D51E2C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Evolução dos BD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73373C-9E0C-2518-2A52-CD871E881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b="1" dirty="0"/>
              <a:t>2. As Primeiras Tentativas: Modelos Hierárquicos e em Rede (60–70)</a:t>
            </a:r>
          </a:p>
          <a:p>
            <a:pPr lvl="1"/>
            <a:r>
              <a:rPr lang="pt-BR" b="1" dirty="0"/>
              <a:t>Contexto:</a:t>
            </a:r>
            <a:r>
              <a:rPr lang="pt-BR" dirty="0"/>
              <a:t> Os dados eram organizados como uma árvore genealógica.</a:t>
            </a:r>
          </a:p>
          <a:p>
            <a:pPr lvl="1"/>
            <a:r>
              <a:rPr lang="pt-BR" b="1" dirty="0"/>
              <a:t>O Problema:</a:t>
            </a:r>
            <a:r>
              <a:rPr lang="pt-BR" dirty="0"/>
              <a:t> Para chegar no "neto" (o dado que você quer), você era obrigado a passar pelo "pai" e pelo "avô".</a:t>
            </a:r>
          </a:p>
          <a:p>
            <a:pPr lvl="1"/>
            <a:r>
              <a:rPr lang="pt-BR" b="1" dirty="0"/>
              <a:t>Rigidez:</a:t>
            </a:r>
            <a:r>
              <a:rPr lang="pt-BR" dirty="0"/>
              <a:t> Se a estrutura da empresa mudasse, você tinha que reconstruir o banco de dados inteiro. Era como ter uma estante onde, para tirar o livro de baixo, você tivesse que desmontar todos os de cima.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832824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05DC1-D665-CD44-DC74-09CC67B1C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AB16C-056D-3B8F-3697-48D20053F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Evolução dos BD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886EBB-0591-A59F-B620-E0D650D3A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b="1" dirty="0"/>
              <a:t>3. A Revolução: O Modelo Relacional (70 – Hoje)</a:t>
            </a:r>
          </a:p>
          <a:p>
            <a:pPr lvl="1"/>
            <a:r>
              <a:rPr lang="pt-BR" b="1" dirty="0"/>
              <a:t>O Herói:</a:t>
            </a:r>
            <a:r>
              <a:rPr lang="pt-BR" dirty="0"/>
              <a:t> </a:t>
            </a:r>
            <a:r>
              <a:rPr lang="pt-BR" b="1" dirty="0"/>
              <a:t>Edgar F. </a:t>
            </a:r>
            <a:r>
              <a:rPr lang="pt-BR" b="1" dirty="0" err="1"/>
              <a:t>Codd</a:t>
            </a:r>
            <a:r>
              <a:rPr lang="pt-BR" dirty="0"/>
              <a:t>, um matemático da IBM que disse: </a:t>
            </a:r>
            <a:r>
              <a:rPr lang="pt-BR" i="1" dirty="0"/>
              <a:t>"E se tratássemos dados como conjuntos matemáticos em tabelas?"</a:t>
            </a:r>
            <a:endParaRPr lang="pt-BR" dirty="0"/>
          </a:p>
          <a:p>
            <a:pPr lvl="1"/>
            <a:r>
              <a:rPr lang="pt-BR" b="1" dirty="0"/>
              <a:t>A Solução:</a:t>
            </a:r>
            <a:r>
              <a:rPr lang="pt-BR" dirty="0"/>
              <a:t> Dados organizados em </a:t>
            </a:r>
            <a:r>
              <a:rPr lang="pt-BR" b="1" dirty="0"/>
              <a:t>Tabelas (Relações)</a:t>
            </a:r>
            <a:r>
              <a:rPr lang="pt-BR" dirty="0"/>
              <a:t>, Linhas (Tuplas) e Colunas (Atributos).</a:t>
            </a:r>
          </a:p>
          <a:p>
            <a:pPr lvl="1"/>
            <a:r>
              <a:rPr lang="pt-BR" b="1" dirty="0"/>
              <a:t>O Diferencial:</a:t>
            </a:r>
            <a:r>
              <a:rPr lang="pt-BR" dirty="0"/>
              <a:t> O surgimento do </a:t>
            </a:r>
            <a:r>
              <a:rPr lang="pt-BR" b="1" dirty="0"/>
              <a:t>SQL</a:t>
            </a:r>
            <a:r>
              <a:rPr lang="pt-BR" dirty="0"/>
              <a:t>. Agora, você diz ao banco </a:t>
            </a:r>
            <a:r>
              <a:rPr lang="pt-BR" i="1" dirty="0"/>
              <a:t>o que</a:t>
            </a:r>
            <a:r>
              <a:rPr lang="pt-BR" dirty="0"/>
              <a:t> quer, e não </a:t>
            </a:r>
            <a:r>
              <a:rPr lang="pt-BR" i="1" dirty="0"/>
              <a:t>como</a:t>
            </a:r>
            <a:r>
              <a:rPr lang="pt-BR" dirty="0"/>
              <a:t> ele deve buscar.</a:t>
            </a:r>
          </a:p>
          <a:p>
            <a:pPr lvl="1"/>
            <a:r>
              <a:rPr lang="pt-BR" b="1" dirty="0"/>
              <a:t>Exemplos de Mercado:</a:t>
            </a:r>
            <a:r>
              <a:rPr lang="pt-BR" dirty="0"/>
              <a:t> MySQL, PostgreSQL (nosso foco), Oracle e SQL Server.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452612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1D50E-EE63-CB44-82FE-0DC276874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85BA83-A554-F366-8172-E6C1CABC8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Evolução dos BD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E1844E-817D-E2C8-C508-DDD509B4A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b="1" dirty="0"/>
              <a:t>4. A Era da Escala: </a:t>
            </a:r>
            <a:r>
              <a:rPr lang="pt-BR" b="1" dirty="0" err="1"/>
              <a:t>NoSQL</a:t>
            </a:r>
            <a:r>
              <a:rPr lang="pt-BR" b="1" dirty="0"/>
              <a:t> e Cloud (2000+)</a:t>
            </a:r>
          </a:p>
          <a:p>
            <a:pPr lvl="1"/>
            <a:r>
              <a:rPr lang="pt-BR" b="1" dirty="0"/>
              <a:t>Contexto:</a:t>
            </a:r>
            <a:r>
              <a:rPr lang="pt-BR" dirty="0"/>
              <a:t> Google, Facebook e </a:t>
            </a:r>
            <a:r>
              <a:rPr lang="pt-BR" dirty="0" err="1"/>
              <a:t>Amazon</a:t>
            </a:r>
            <a:r>
              <a:rPr lang="pt-BR" dirty="0"/>
              <a:t> perceberam que, para bilhões de usuários, as tabelas às vezes ficavam "lentas".</a:t>
            </a:r>
          </a:p>
          <a:p>
            <a:pPr lvl="1"/>
            <a:r>
              <a:rPr lang="pt-BR" b="1" dirty="0"/>
              <a:t>A Solução:</a:t>
            </a:r>
            <a:r>
              <a:rPr lang="pt-BR" dirty="0"/>
              <a:t> </a:t>
            </a:r>
            <a:r>
              <a:rPr lang="pt-BR" b="1" dirty="0" err="1"/>
              <a:t>NoSQL</a:t>
            </a:r>
            <a:r>
              <a:rPr lang="pt-BR" dirty="0"/>
              <a:t>. Abrimos mão de algumas regras rígidas de tabela para ganhar velocidade e escala.</a:t>
            </a:r>
          </a:p>
          <a:p>
            <a:pPr lvl="1"/>
            <a:r>
              <a:rPr lang="pt-BR" b="1" dirty="0"/>
              <a:t>Novas Estruturas:</a:t>
            </a:r>
            <a:r>
              <a:rPr lang="pt-BR" dirty="0"/>
              <a:t> Documentos (JSON), Grafos (conexões sociais), Chave-Valor (cache).</a:t>
            </a:r>
          </a:p>
          <a:p>
            <a:pPr lvl="1"/>
            <a:r>
              <a:rPr lang="pt-BR" b="1" dirty="0"/>
              <a:t>Cloud:</a:t>
            </a:r>
            <a:r>
              <a:rPr lang="pt-BR" dirty="0"/>
              <a:t> O banco agora não está mais só no servidor da faculdade, mas espalhado pelo mundo (AWS, Azure, Google Cloud).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005560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F354EF-0995-CAA1-6BA9-92D6C85EF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papel dos bancos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228FE6-726B-0A73-58C5-178D973D3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018" y="1600201"/>
            <a:ext cx="4736972" cy="4525963"/>
          </a:xfrm>
        </p:spPr>
        <p:txBody>
          <a:bodyPr/>
          <a:lstStyle/>
          <a:p>
            <a:r>
              <a:rPr lang="pt-BR" dirty="0"/>
              <a:t>BD é a </a:t>
            </a:r>
            <a:r>
              <a:rPr lang="pt-BR" b="1" dirty="0"/>
              <a:t>memória estruturada</a:t>
            </a:r>
            <a:r>
              <a:rPr lang="pt-BR" dirty="0"/>
              <a:t> da organização</a:t>
            </a:r>
          </a:p>
          <a:p>
            <a:r>
              <a:rPr lang="pt-BR" dirty="0"/>
              <a:t>Sistemas vêm e vão, dados permanecem.</a:t>
            </a:r>
          </a:p>
        </p:txBody>
      </p:sp>
      <p:pic>
        <p:nvPicPr>
          <p:cNvPr id="5" name="Imagem 4" descr="Diagrama&#10;&#10;O conteúdo gerado por IA pode estar incorreto.">
            <a:extLst>
              <a:ext uri="{FF2B5EF4-FFF2-40B4-BE49-F238E27FC236}">
                <a16:creationId xmlns:a16="http://schemas.microsoft.com/office/drawing/2014/main" id="{7C9142A4-939C-268E-60C1-E56D54D81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2831" y="1417638"/>
            <a:ext cx="4001058" cy="459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3188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A291A7-EF7E-5A5E-3756-2D0F2D6EB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Princípio ACID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F219C7-FED7-F216-532B-368BA3B25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018" y="1318161"/>
            <a:ext cx="9759258" cy="5265201"/>
          </a:xfrm>
        </p:spPr>
        <p:txBody>
          <a:bodyPr>
            <a:normAutofit fontScale="62500" lnSpcReduction="20000"/>
          </a:bodyPr>
          <a:lstStyle/>
          <a:p>
            <a:r>
              <a:rPr lang="pt-BR" dirty="0"/>
              <a:t>ACID (Atomicidade, Consistência, Isolamento, Durabilidade) é um conjunto de propriedades que garante transações seguras e fiáveis em bancos de dados. </a:t>
            </a:r>
          </a:p>
          <a:p>
            <a:r>
              <a:rPr lang="pt-BR" b="1" dirty="0"/>
              <a:t>Atomicidade</a:t>
            </a:r>
            <a:r>
              <a:rPr lang="pt-BR" dirty="0"/>
              <a:t>: assegura o "tudo ou nada“. Uma transação é tratada como uma unidade única e indivisível. Se qualquer parte da transação falhar, toda a transação é revertida, garantindo que o banco de dados não fique em um estado intermediário.</a:t>
            </a:r>
          </a:p>
          <a:p>
            <a:r>
              <a:rPr lang="pt-BR" b="1" dirty="0"/>
              <a:t>Consistência</a:t>
            </a:r>
            <a:r>
              <a:rPr lang="pt-BR" dirty="0"/>
              <a:t>: mantém a integridade dos dados.  Garante que a transação leve o banco de dados de um estado válido para outro, respeitando todas as regras, restrições, chaves primárias e integridade referencial.</a:t>
            </a:r>
          </a:p>
          <a:p>
            <a:r>
              <a:rPr lang="pt-BR" b="1" dirty="0"/>
              <a:t>Isolamento</a:t>
            </a:r>
            <a:r>
              <a:rPr lang="pt-BR" dirty="0"/>
              <a:t>: Impede interferências entre operações simultâneas.  Determina que transações paralelas não interfiram umas nas outras. O estado intermediário de uma transação é invisível para outras até que seja confirmada (</a:t>
            </a:r>
            <a:r>
              <a:rPr lang="pt-BR" dirty="0" err="1"/>
              <a:t>commit</a:t>
            </a:r>
            <a:r>
              <a:rPr lang="pt-BR" dirty="0"/>
              <a:t>).</a:t>
            </a:r>
          </a:p>
          <a:p>
            <a:r>
              <a:rPr lang="pt-BR" b="1" dirty="0"/>
              <a:t>Durabilidade</a:t>
            </a:r>
            <a:r>
              <a:rPr lang="pt-BR" dirty="0"/>
              <a:t>: Garante a perenidade dos dados após falhas. Garante que, após a transação ser confirmada (</a:t>
            </a:r>
            <a:r>
              <a:rPr lang="pt-BR" dirty="0" err="1"/>
              <a:t>commit</a:t>
            </a:r>
            <a:r>
              <a:rPr lang="pt-BR" dirty="0"/>
              <a:t>), os dados persistam permanentemente no sistema, mesmo em caso de falha de energia, travamentos ou erros.</a:t>
            </a:r>
          </a:p>
        </p:txBody>
      </p:sp>
    </p:spTree>
    <p:extLst>
      <p:ext uri="{BB962C8B-B14F-4D97-AF65-F5344CB8AC3E}">
        <p14:creationId xmlns:p14="http://schemas.microsoft.com/office/powerpoint/2010/main" val="41867516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F7FA33-D96F-B948-73CF-65D46290F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7045F2-CB95-7606-257A-6FB61327B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b="1" dirty="0"/>
              <a:t>Minimundo: </a:t>
            </a:r>
            <a:r>
              <a:rPr lang="pt-BR" dirty="0"/>
              <a:t>biblioteca da UEG</a:t>
            </a:r>
          </a:p>
          <a:p>
            <a:r>
              <a:rPr lang="pt-BR" dirty="0"/>
              <a:t>Vamos analisar um cenário simples: </a:t>
            </a:r>
            <a:r>
              <a:rPr lang="pt-BR" b="1" dirty="0"/>
              <a:t>Um Sistema de Biblioteca Acadêmica</a:t>
            </a:r>
            <a:r>
              <a:rPr lang="pt-BR" dirty="0"/>
              <a:t>.</a:t>
            </a:r>
          </a:p>
          <a:p>
            <a:r>
              <a:rPr lang="pt-BR" b="1" dirty="0"/>
              <a:t>Tarefa:</a:t>
            </a:r>
            <a:r>
              <a:rPr lang="pt-BR" dirty="0"/>
              <a:t> No editor de texto ou papel, listem quais informações (dados) são essenciais para cadastrar um Livro, um Aluno e um Empréstimo.</a:t>
            </a:r>
          </a:p>
          <a:p>
            <a:r>
              <a:rPr lang="pt-BR" b="1" dirty="0"/>
              <a:t>Organização:</a:t>
            </a:r>
            <a:r>
              <a:rPr lang="pt-BR" dirty="0"/>
              <a:t> você tem liberdade para organizar essas informações.</a:t>
            </a:r>
          </a:p>
        </p:txBody>
      </p:sp>
    </p:spTree>
    <p:extLst>
      <p:ext uri="{BB962C8B-B14F-4D97-AF65-F5344CB8AC3E}">
        <p14:creationId xmlns:p14="http://schemas.microsoft.com/office/powerpoint/2010/main" val="30425999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44508F-6B50-296D-5CDC-074E1689B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Arquitetura de um Sistema de Banco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CA629E-A2A1-23E0-2187-0E2F9D1FD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Arquitetura ANSI/SPARC</a:t>
            </a:r>
          </a:p>
          <a:p>
            <a:pPr lvl="1"/>
            <a:r>
              <a:rPr lang="pt-BR" dirty="0"/>
              <a:t>Proposta em 1975 pela </a:t>
            </a:r>
            <a:r>
              <a:rPr lang="pt-BR" i="1" dirty="0"/>
              <a:t>American </a:t>
            </a:r>
            <a:r>
              <a:rPr lang="pt-BR" i="1" dirty="0" err="1"/>
              <a:t>National</a:t>
            </a:r>
            <a:r>
              <a:rPr lang="pt-BR" i="1" dirty="0"/>
              <a:t> Standards </a:t>
            </a:r>
            <a:r>
              <a:rPr lang="pt-BR" i="1" dirty="0" err="1"/>
              <a:t>Institute</a:t>
            </a:r>
            <a:r>
              <a:rPr lang="pt-BR" dirty="0"/>
              <a:t>, esta arquitetura define uma estrutura de </a:t>
            </a:r>
            <a:r>
              <a:rPr lang="pt-BR" b="1" dirty="0"/>
              <a:t>três níveis</a:t>
            </a:r>
            <a:r>
              <a:rPr lang="pt-BR" dirty="0"/>
              <a:t> para sistemas de banco de dados.</a:t>
            </a:r>
          </a:p>
          <a:p>
            <a:pPr lvl="1"/>
            <a:r>
              <a:rPr lang="pt-BR" b="1" dirty="0"/>
              <a:t>O objetivo principal:</a:t>
            </a:r>
            <a:r>
              <a:rPr lang="pt-BR" dirty="0"/>
              <a:t> Obter a </a:t>
            </a:r>
            <a:r>
              <a:rPr lang="pt-BR" b="1" dirty="0"/>
              <a:t>independência de dados</a:t>
            </a:r>
            <a:r>
              <a:rPr lang="pt-BR" dirty="0"/>
              <a:t>, permitindo que alterações em um nível não obriguem mudanças drásticas nos outros.</a:t>
            </a:r>
          </a:p>
          <a:p>
            <a:pPr lvl="1"/>
            <a:r>
              <a:rPr lang="pt-BR" dirty="0"/>
              <a:t>É o “esqueleto” que sustenta os sistemas de bancos de dados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03358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5D29A1-8FF6-16FC-506D-510413102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Arquitetura em 3 níveis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6E7E3F-5E3D-4D6A-B4E6-6F02247AA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b="1" dirty="0"/>
              <a:t>A. Nível Externo (Visão do Usuário)</a:t>
            </a:r>
          </a:p>
          <a:p>
            <a:r>
              <a:rPr lang="pt-BR" dirty="0"/>
              <a:t>É a camada mais próxima do usuário final ou do programador.</a:t>
            </a:r>
          </a:p>
          <a:p>
            <a:r>
              <a:rPr lang="pt-BR" b="1" dirty="0"/>
              <a:t>O que é:</a:t>
            </a:r>
            <a:r>
              <a:rPr lang="pt-BR" dirty="0"/>
              <a:t> Descreve apenas a parte do banco de dados que interessa a um grupo específico de usuários.</a:t>
            </a:r>
          </a:p>
          <a:p>
            <a:r>
              <a:rPr lang="pt-BR" b="1" dirty="0"/>
              <a:t>Exemplo:</a:t>
            </a:r>
            <a:r>
              <a:rPr lang="pt-BR" dirty="0"/>
              <a:t> Em um sistema universitário, o </a:t>
            </a:r>
            <a:r>
              <a:rPr lang="pt-BR" b="1" dirty="0"/>
              <a:t>Professor</a:t>
            </a:r>
            <a:r>
              <a:rPr lang="pt-BR" dirty="0"/>
              <a:t> vê notas e frequências, enquanto o </a:t>
            </a:r>
            <a:r>
              <a:rPr lang="pt-BR" b="1" dirty="0"/>
              <a:t>Financeiro</a:t>
            </a:r>
            <a:r>
              <a:rPr lang="pt-BR" dirty="0"/>
              <a:t> vê mensalidades e boletos. Eles acessam o mesmo banco, mas através de "visões" diferentes.</a:t>
            </a:r>
          </a:p>
        </p:txBody>
      </p:sp>
    </p:spTree>
    <p:extLst>
      <p:ext uri="{BB962C8B-B14F-4D97-AF65-F5344CB8AC3E}">
        <p14:creationId xmlns:p14="http://schemas.microsoft.com/office/powerpoint/2010/main" val="21519322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A958A-2635-1E0B-FC8D-B328061B8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8E773A-CB74-BA6F-3DF4-A9B991552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Arquitetura em 3 níveis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CFEEB7-74DB-E760-975E-92B564CE0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b="1" dirty="0"/>
              <a:t>B. Nível Conceitual (Lógica de Dados)</a:t>
            </a:r>
          </a:p>
          <a:p>
            <a:r>
              <a:rPr lang="pt-BR" dirty="0"/>
              <a:t>É a visão comunitária do banco de dados, descrevendo </a:t>
            </a:r>
            <a:r>
              <a:rPr lang="pt-BR" b="1" dirty="0"/>
              <a:t>quais</a:t>
            </a:r>
            <a:r>
              <a:rPr lang="pt-BR" dirty="0"/>
              <a:t> dados são armazenados e os relacionamentos entre eles.</a:t>
            </a:r>
          </a:p>
          <a:p>
            <a:r>
              <a:rPr lang="pt-BR" b="1" dirty="0"/>
              <a:t>O que é:</a:t>
            </a:r>
            <a:r>
              <a:rPr lang="pt-BR" dirty="0"/>
              <a:t> Oculta detalhes físicos e foca na estrutura lógica (entidades, atributos, restrições).</a:t>
            </a:r>
          </a:p>
          <a:p>
            <a:r>
              <a:rPr lang="pt-BR" b="1" dirty="0"/>
              <a:t>Exemplo:</a:t>
            </a:r>
            <a:r>
              <a:rPr lang="pt-BR" dirty="0"/>
              <a:t> Uma tabela ALUNO contendo ID, Nome e CPF. Aqui definimos que o CPF deve ser único.</a:t>
            </a:r>
          </a:p>
        </p:txBody>
      </p:sp>
    </p:spTree>
    <p:extLst>
      <p:ext uri="{BB962C8B-B14F-4D97-AF65-F5344CB8AC3E}">
        <p14:creationId xmlns:p14="http://schemas.microsoft.com/office/powerpoint/2010/main" val="7507321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2B405-1FF3-B90F-22E8-F535778CC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329ABF-7B5E-266E-C854-E6BA4AF66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Arquitetura em 3 níveis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D8B6D8-EE70-C901-2810-605F0FF881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b="1" dirty="0"/>
              <a:t>C. Nível Interno (Físico)</a:t>
            </a:r>
          </a:p>
          <a:p>
            <a:r>
              <a:rPr lang="pt-BR" dirty="0"/>
              <a:t>É a camada mais baixa, descrevendo </a:t>
            </a:r>
            <a:r>
              <a:rPr lang="pt-BR" b="1" dirty="0"/>
              <a:t>como</a:t>
            </a:r>
            <a:r>
              <a:rPr lang="pt-BR" dirty="0"/>
              <a:t> os dados estão realmente guardados.</a:t>
            </a:r>
          </a:p>
          <a:p>
            <a:r>
              <a:rPr lang="pt-BR" b="1" dirty="0"/>
              <a:t>O que é:</a:t>
            </a:r>
            <a:r>
              <a:rPr lang="pt-BR" dirty="0"/>
              <a:t> Detalha estruturas de armazenamento, caminhos de acesso (índices), compressão e alocação de blocos no disco.</a:t>
            </a:r>
          </a:p>
          <a:p>
            <a:r>
              <a:rPr lang="pt-BR" b="1" dirty="0"/>
              <a:t>Exemplo:</a:t>
            </a:r>
            <a:r>
              <a:rPr lang="pt-BR" dirty="0"/>
              <a:t> Define que a tabela ALUNO será armazenada em um arquivo .</a:t>
            </a:r>
            <a:r>
              <a:rPr lang="pt-BR" dirty="0" err="1"/>
              <a:t>dbf</a:t>
            </a:r>
            <a:r>
              <a:rPr lang="pt-BR" dirty="0"/>
              <a:t> usando criptografia AES e um índice B-</a:t>
            </a:r>
            <a:r>
              <a:rPr lang="pt-BR" dirty="0" err="1"/>
              <a:t>Tree</a:t>
            </a:r>
            <a:r>
              <a:rPr lang="pt-BR" dirty="0"/>
              <a:t> no campo ID.</a:t>
            </a:r>
          </a:p>
        </p:txBody>
      </p:sp>
    </p:spTree>
    <p:extLst>
      <p:ext uri="{BB962C8B-B14F-4D97-AF65-F5344CB8AC3E}">
        <p14:creationId xmlns:p14="http://schemas.microsoft.com/office/powerpoint/2010/main" val="19702198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41A876-FDF5-B081-7D39-1108457A1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Baixar o </a:t>
            </a:r>
            <a:r>
              <a:rPr lang="pt-BR" dirty="0" err="1"/>
              <a:t>Mariadb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D30552-A5F3-6D69-25F4-841772B16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hlinkClick r:id="rId2"/>
              </a:rPr>
              <a:t>https://mariadb.org/download/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289030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73BD39-CE9A-E572-4334-565125859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Modelagem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E8EF655-80C0-04D7-0098-BB568823C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Modelo conceitual, Modelo lógico e Modelo físico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163745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F7E80D-9DBD-DAFA-7E81-CCA0AE675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Modelagem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06BB12B-EB2E-3A5C-98D9-54802D570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017" y="1600201"/>
            <a:ext cx="9954417" cy="5257799"/>
          </a:xfrm>
        </p:spPr>
        <p:txBody>
          <a:bodyPr>
            <a:normAutofit fontScale="85000" lnSpcReduction="10000"/>
          </a:bodyPr>
          <a:lstStyle/>
          <a:p>
            <a:r>
              <a:rPr lang="pt-BR" b="1" dirty="0"/>
              <a:t>1. Modelo Conceitual (A Planta Baixa)</a:t>
            </a:r>
          </a:p>
          <a:p>
            <a:r>
              <a:rPr lang="pt-BR" dirty="0"/>
              <a:t>É a visão de "alto nível". Aqui, o foco é entender as regras de negócio e os dados necessários, sem se preocupar com tecnologia.</a:t>
            </a:r>
          </a:p>
          <a:p>
            <a:r>
              <a:rPr lang="pt-BR" b="1" dirty="0"/>
              <a:t>Objetivo:</a:t>
            </a:r>
            <a:r>
              <a:rPr lang="pt-BR" dirty="0"/>
              <a:t> Descrever </a:t>
            </a:r>
            <a:r>
              <a:rPr lang="pt-BR" i="1" dirty="0"/>
              <a:t>o que</a:t>
            </a:r>
            <a:r>
              <a:rPr lang="pt-BR" dirty="0"/>
              <a:t> os dados representam.</a:t>
            </a:r>
          </a:p>
          <a:p>
            <a:r>
              <a:rPr lang="pt-BR" b="1" dirty="0"/>
              <a:t>Principal Ferramenta:</a:t>
            </a:r>
            <a:r>
              <a:rPr lang="pt-BR" dirty="0"/>
              <a:t> Diagrama Entidade-Relacionamento (DER).</a:t>
            </a:r>
          </a:p>
          <a:p>
            <a:r>
              <a:rPr lang="pt-BR" b="1" dirty="0"/>
              <a:t>Elementos:</a:t>
            </a:r>
            <a:r>
              <a:rPr lang="pt-BR" dirty="0"/>
              <a:t> Entidades (</a:t>
            </a:r>
            <a:r>
              <a:rPr lang="pt-BR" dirty="0" err="1"/>
              <a:t>ex</a:t>
            </a:r>
            <a:r>
              <a:rPr lang="pt-BR" dirty="0"/>
              <a:t>: Cliente), Atributos (</a:t>
            </a:r>
            <a:r>
              <a:rPr lang="pt-BR" dirty="0" err="1"/>
              <a:t>ex</a:t>
            </a:r>
            <a:r>
              <a:rPr lang="pt-BR" dirty="0"/>
              <a:t>: CPF) e Relacionamentos (</a:t>
            </a:r>
            <a:r>
              <a:rPr lang="pt-BR" dirty="0" err="1"/>
              <a:t>ex</a:t>
            </a:r>
            <a:r>
              <a:rPr lang="pt-BR" dirty="0"/>
              <a:t>: Compra).</a:t>
            </a:r>
          </a:p>
          <a:p>
            <a:r>
              <a:rPr lang="pt-BR" b="1" dirty="0"/>
              <a:t>Público:</a:t>
            </a:r>
            <a:r>
              <a:rPr lang="pt-BR" dirty="0"/>
              <a:t> O cliente e o analista de dados.</a:t>
            </a:r>
          </a:p>
          <a:p>
            <a:r>
              <a:rPr lang="pt-BR" b="1" dirty="0"/>
              <a:t>Independência:</a:t>
            </a:r>
            <a:r>
              <a:rPr lang="pt-BR" dirty="0"/>
              <a:t> Total. Não importa se você usará MySQL, Excel ou um caderno.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634628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Diagrama&#10;&#10;O conteúdo gerado por IA pode estar incorreto.">
            <a:extLst>
              <a:ext uri="{FF2B5EF4-FFF2-40B4-BE49-F238E27FC236}">
                <a16:creationId xmlns:a16="http://schemas.microsoft.com/office/drawing/2014/main" id="{2ADA5277-48AE-7E6C-6735-B1A8A7D9B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153" y="249872"/>
            <a:ext cx="7720385" cy="6599684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0A929088-38CD-E44D-CF08-CE5AAB003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018" y="274638"/>
            <a:ext cx="4018096" cy="1397000"/>
          </a:xfrm>
        </p:spPr>
        <p:txBody>
          <a:bodyPr>
            <a:normAutofit/>
          </a:bodyPr>
          <a:lstStyle/>
          <a:p>
            <a:r>
              <a:rPr lang="pt-BR" sz="2400" dirty="0"/>
              <a:t>Modelagem de Bancos de Dados</a:t>
            </a:r>
          </a:p>
        </p:txBody>
      </p:sp>
    </p:spTree>
    <p:extLst>
      <p:ext uri="{BB962C8B-B14F-4D97-AF65-F5344CB8AC3E}">
        <p14:creationId xmlns:p14="http://schemas.microsoft.com/office/powerpoint/2010/main" val="5490163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F6F41D-E253-A7E2-25DA-A15CD6781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Modelagem Conceitual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EB7754-CD88-CB0B-D751-E6F599642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Etapa mais abstrata do projeto de banco de dados. O objetivo é capturar os requisitos de negócio e transformá-los em um diagrama que tanto o cliente quanto o desenvolvedor consigam entender</a:t>
            </a:r>
          </a:p>
          <a:p>
            <a:r>
              <a:rPr lang="pt-BR" b="1" dirty="0"/>
              <a:t>Linguagem:</a:t>
            </a:r>
            <a:r>
              <a:rPr lang="pt-BR" dirty="0"/>
              <a:t> Independente de SGBD (não importa se será MySQL, Oracle ou PostgreSQL).</a:t>
            </a:r>
          </a:p>
          <a:p>
            <a:r>
              <a:rPr lang="pt-BR" b="1" dirty="0"/>
              <a:t>Foco:</a:t>
            </a:r>
            <a:r>
              <a:rPr lang="pt-BR" dirty="0"/>
              <a:t> Semântica (significado) e regras de negócio.</a:t>
            </a:r>
          </a:p>
          <a:p>
            <a:r>
              <a:rPr lang="pt-BR" b="1" dirty="0"/>
              <a:t>Ferramenta principal:</a:t>
            </a:r>
            <a:r>
              <a:rPr lang="pt-BR" dirty="0"/>
              <a:t> Diagrama Entidade-Relacionamento (DER).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623953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6CFD2C-73AE-9E3B-1195-67AF8B749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Componentes básicos do modelo ER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AEB110-DC83-4C8B-02C5-CBFB859A7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A. Entidades</a:t>
            </a:r>
          </a:p>
          <a:p>
            <a:pPr lvl="1"/>
            <a:r>
              <a:rPr lang="pt-BR" dirty="0"/>
              <a:t>Representam objetos do mundo real, físicos ou abstratos, sobre os quais queremos guardar informações.</a:t>
            </a:r>
          </a:p>
          <a:p>
            <a:pPr lvl="1"/>
            <a:r>
              <a:rPr lang="pt-BR" dirty="0"/>
              <a:t>Representados por </a:t>
            </a:r>
            <a:r>
              <a:rPr lang="pt-BR" b="1" dirty="0"/>
              <a:t>retângulos</a:t>
            </a:r>
          </a:p>
          <a:p>
            <a:pPr lvl="1"/>
            <a:r>
              <a:rPr lang="pt-BR" dirty="0"/>
              <a:t>Exemplos: ALUNO, CURSO, DEPARTAMENTO, PEDIDO.</a:t>
            </a:r>
          </a:p>
          <a:p>
            <a:pPr marL="457200" lvl="1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482070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EBB7A-DDB1-1632-CAAB-18B668311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6C2246-448B-3CDA-AEE4-58994B19D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Componentes básicos do modelo ER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330494C-7717-9915-4F7B-7115E4FC0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B. Atributos</a:t>
            </a:r>
          </a:p>
          <a:p>
            <a:r>
              <a:rPr lang="pt-BR" dirty="0"/>
              <a:t>São as propriedades ou características de uma entidade.</a:t>
            </a:r>
          </a:p>
          <a:p>
            <a:pPr lvl="1"/>
            <a:r>
              <a:rPr lang="pt-BR" b="1" dirty="0"/>
              <a:t>Exemplo:</a:t>
            </a:r>
            <a:r>
              <a:rPr lang="pt-BR" dirty="0"/>
              <a:t> A entidade ALUNO tem os atributos Nome, Matrícula e Data de Nascimento.</a:t>
            </a:r>
          </a:p>
          <a:p>
            <a:pPr lvl="1"/>
            <a:r>
              <a:rPr lang="pt-BR" dirty="0"/>
              <a:t>Atributo Chave (Identificador): Aquele que diferencia uma ocorrência da outra </a:t>
            </a:r>
          </a:p>
          <a:p>
            <a:pPr lvl="1"/>
            <a:r>
              <a:rPr lang="pt-BR" dirty="0"/>
              <a:t>(</a:t>
            </a:r>
            <a:r>
              <a:rPr lang="pt-BR" dirty="0" err="1"/>
              <a:t>ex</a:t>
            </a:r>
            <a:r>
              <a:rPr lang="pt-BR" dirty="0"/>
              <a:t>: Matrícula).</a:t>
            </a:r>
          </a:p>
          <a:p>
            <a:pPr lvl="1"/>
            <a:r>
              <a:rPr lang="pt-BR" dirty="0"/>
              <a:t>Representação: Elipses ou círculos ligados à entidade.</a:t>
            </a:r>
          </a:p>
        </p:txBody>
      </p:sp>
    </p:spTree>
    <p:extLst>
      <p:ext uri="{BB962C8B-B14F-4D97-AF65-F5344CB8AC3E}">
        <p14:creationId xmlns:p14="http://schemas.microsoft.com/office/powerpoint/2010/main" val="41637947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22024-19DE-64E5-9017-7AE5D97BF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09A8A3-AD1F-775E-1614-08B95C99E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Componentes básicos do modelo ER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179FCA-7EB0-D326-77B2-247CBB9F2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B. Atributos</a:t>
            </a:r>
          </a:p>
          <a:p>
            <a:pPr lvl="1"/>
            <a:r>
              <a:rPr lang="pt-BR" dirty="0"/>
              <a:t>Podem ser: simples, compostos, multivalorados, derivados</a:t>
            </a:r>
          </a:p>
          <a:p>
            <a:pPr lvl="1"/>
            <a:r>
              <a:rPr lang="pt-BR" dirty="0"/>
              <a:t>Simples: </a:t>
            </a:r>
            <a:r>
              <a:rPr lang="pt-BR" dirty="0" err="1"/>
              <a:t>cpf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757013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4327B7-FD79-EF21-52EA-7F2F787D6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atributo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8A9E8317-9912-FB2D-D93B-00103A2676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10488"/>
              </p:ext>
            </p:extLst>
          </p:nvPr>
        </p:nvGraphicFramePr>
        <p:xfrm>
          <a:off x="311149" y="1417638"/>
          <a:ext cx="9732964" cy="516572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433241">
                  <a:extLst>
                    <a:ext uri="{9D8B030D-6E8A-4147-A177-3AD203B41FA5}">
                      <a16:colId xmlns:a16="http://schemas.microsoft.com/office/drawing/2014/main" val="1824233587"/>
                    </a:ext>
                  </a:extLst>
                </a:gridCol>
                <a:gridCol w="2433241">
                  <a:extLst>
                    <a:ext uri="{9D8B030D-6E8A-4147-A177-3AD203B41FA5}">
                      <a16:colId xmlns:a16="http://schemas.microsoft.com/office/drawing/2014/main" val="370841943"/>
                    </a:ext>
                  </a:extLst>
                </a:gridCol>
                <a:gridCol w="2433241">
                  <a:extLst>
                    <a:ext uri="{9D8B030D-6E8A-4147-A177-3AD203B41FA5}">
                      <a16:colId xmlns:a16="http://schemas.microsoft.com/office/drawing/2014/main" val="2855171233"/>
                    </a:ext>
                  </a:extLst>
                </a:gridCol>
                <a:gridCol w="2433241">
                  <a:extLst>
                    <a:ext uri="{9D8B030D-6E8A-4147-A177-3AD203B41FA5}">
                      <a16:colId xmlns:a16="http://schemas.microsoft.com/office/drawing/2014/main" val="2197506267"/>
                    </a:ext>
                  </a:extLst>
                </a:gridCol>
              </a:tblGrid>
              <a:tr h="8035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Tipo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Característica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/>
                        <a:t>Representação no 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Implementação no Relacional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8968702"/>
                  </a:ext>
                </a:extLst>
              </a:tr>
              <a:tr h="8035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Simples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Indivisível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Elipse simples ligada à entidade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Coluna normal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398542"/>
                  </a:ext>
                </a:extLst>
              </a:tr>
              <a:tr h="1147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Composto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Pode ser decomposto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Elipse principal com sub-elipses conectadas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Colunas separadas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092236"/>
                  </a:ext>
                </a:extLst>
              </a:tr>
              <a:tr h="8035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Multivalorado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Vários valores por entidade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Elipse dupla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Nova tabela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6954339"/>
                  </a:ext>
                </a:extLst>
              </a:tr>
              <a:tr h="8035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Armazenado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Gravado fisicamente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Elipse simples (normal)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Coluna persistente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962073"/>
                  </a:ext>
                </a:extLst>
              </a:tr>
              <a:tr h="8035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Derivado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Calculado a partir de outros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Elipse tracejada (linha pontilhada)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Consulta, </a:t>
                      </a:r>
                      <a:r>
                        <a:rPr lang="pt-BR" dirty="0" err="1"/>
                        <a:t>view</a:t>
                      </a:r>
                      <a:r>
                        <a:rPr lang="pt-BR" dirty="0"/>
                        <a:t> ou cálculo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23158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40758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CAC4A-E695-8B4F-6976-7FECA80CA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52C3E2-EB74-4A60-EC5B-808EDD4D9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Componentes básicos do modelo ER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F41E05-BA67-891C-C395-14AA8A2E3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B. Relacionamentos</a:t>
            </a:r>
          </a:p>
          <a:p>
            <a:r>
              <a:rPr lang="pt-BR" dirty="0"/>
              <a:t>Definem como as entidades interagem entre si.</a:t>
            </a:r>
          </a:p>
          <a:p>
            <a:pPr lvl="1"/>
            <a:r>
              <a:rPr lang="pt-BR" b="1" dirty="0"/>
              <a:t>Exemplo:</a:t>
            </a:r>
            <a:r>
              <a:rPr lang="pt-BR" dirty="0"/>
              <a:t> ALUNO </a:t>
            </a:r>
            <a:r>
              <a:rPr lang="pt-BR" b="1" dirty="0"/>
              <a:t>matricula-se</a:t>
            </a:r>
            <a:r>
              <a:rPr lang="pt-BR" dirty="0"/>
              <a:t> em CURSO</a:t>
            </a:r>
          </a:p>
          <a:p>
            <a:r>
              <a:rPr lang="pt-BR" dirty="0"/>
              <a:t>São representados por um losango</a:t>
            </a:r>
          </a:p>
        </p:txBody>
      </p:sp>
    </p:spTree>
    <p:extLst>
      <p:ext uri="{BB962C8B-B14F-4D97-AF65-F5344CB8AC3E}">
        <p14:creationId xmlns:p14="http://schemas.microsoft.com/office/powerpoint/2010/main" val="1475779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54D5F4-25C6-C3B5-B207-679C3C050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Cardinalidade (a regra do negócio)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1E81DD-689C-EBDC-494E-976538E84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A cardinalidade define o número de ocorrências de uma entidade que podem estar associadas a ocorrências de outra entidade.</a:t>
            </a:r>
          </a:p>
          <a:p>
            <a:r>
              <a:rPr lang="pt-BR" b="1" dirty="0"/>
              <a:t>1:1 (Um para Um): </a:t>
            </a:r>
          </a:p>
          <a:p>
            <a:pPr lvl="1"/>
            <a:r>
              <a:rPr lang="pt-BR" dirty="0"/>
              <a:t>Um ALUNO só pode ter um ENDEREÇO.</a:t>
            </a:r>
          </a:p>
          <a:p>
            <a:r>
              <a:rPr lang="pt-BR" b="1" dirty="0"/>
              <a:t>1:N (Um para Muitos): </a:t>
            </a:r>
          </a:p>
          <a:p>
            <a:pPr lvl="1"/>
            <a:r>
              <a:rPr lang="pt-BR" dirty="0"/>
              <a:t>Um DEPARTAMENTO possui vários PROFESSORES, mas um professor pertence a apenas um departamento.</a:t>
            </a:r>
          </a:p>
          <a:p>
            <a:r>
              <a:rPr lang="pt-BR" b="1" dirty="0"/>
              <a:t>N:N (Muitos para Muitos): </a:t>
            </a:r>
          </a:p>
          <a:p>
            <a:pPr lvl="1"/>
            <a:r>
              <a:rPr lang="pt-BR" dirty="0"/>
              <a:t>Um ALUNO cursa várias DISCIPLINAS, e uma disciplina tem vários alunos matriculados.</a:t>
            </a:r>
          </a:p>
        </p:txBody>
      </p:sp>
    </p:spTree>
    <p:extLst>
      <p:ext uri="{BB962C8B-B14F-4D97-AF65-F5344CB8AC3E}">
        <p14:creationId xmlns:p14="http://schemas.microsoft.com/office/powerpoint/2010/main" val="28441578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6D7162-77FA-0A20-EC30-21D6FAA1C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643CE0-AD8F-0F8B-DA46-B7B81D67F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Na atividade da aula passada (biblioteca) :</a:t>
            </a:r>
          </a:p>
          <a:p>
            <a:pPr marL="914400" lvl="1" indent="-514350">
              <a:buAutoNum type="arabicPeriod"/>
            </a:pPr>
            <a:r>
              <a:rPr lang="pt-BR" dirty="0"/>
              <a:t>Identificar todas as entidades. </a:t>
            </a:r>
          </a:p>
          <a:p>
            <a:pPr marL="914400" lvl="1" indent="-514350">
              <a:buAutoNum type="arabicPeriod"/>
            </a:pPr>
            <a:r>
              <a:rPr lang="pt-BR" dirty="0"/>
              <a:t>Classificar os atributos (simples, compostos, multivalorados, derivados).</a:t>
            </a:r>
          </a:p>
          <a:p>
            <a:pPr marL="914400" lvl="1" indent="-514350">
              <a:buAutoNum type="arabicPeriod"/>
            </a:pPr>
            <a:r>
              <a:rPr lang="pt-BR" dirty="0"/>
              <a:t>Identificar possíveis relacionamentos. </a:t>
            </a:r>
          </a:p>
          <a:p>
            <a:pPr marL="914400" lvl="1" indent="-514350">
              <a:buAutoNum type="arabicPeriod"/>
            </a:pPr>
            <a:r>
              <a:rPr lang="pt-BR" dirty="0"/>
              <a:t>Definir cardinalidades entre esses relacionamentos. </a:t>
            </a:r>
          </a:p>
          <a:p>
            <a:endParaRPr lang="pt-BR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577450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E89194-49EF-82FA-A8B6-A97425675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A7A9F3-A357-7E3E-B3A0-647952EEF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pt-BR" dirty="0"/>
              <a:t>Identificar todas as entidades. </a:t>
            </a:r>
          </a:p>
          <a:p>
            <a:pPr marL="514350" indent="-514350">
              <a:buAutoNum type="arabicPeriod"/>
            </a:pPr>
            <a:r>
              <a:rPr lang="pt-BR" dirty="0"/>
              <a:t>Classificar os atributos (simples, compostos, multivalorados, derivados).</a:t>
            </a:r>
          </a:p>
          <a:p>
            <a:pPr marL="514350" indent="-514350">
              <a:buAutoNum type="arabicPeriod"/>
            </a:pPr>
            <a:r>
              <a:rPr lang="pt-BR" dirty="0"/>
              <a:t>Identificar relacionamentos. </a:t>
            </a:r>
          </a:p>
          <a:p>
            <a:pPr marL="514350" indent="-514350">
              <a:buAutoNum type="arabicPeriod"/>
            </a:pPr>
            <a:r>
              <a:rPr lang="pt-BR" dirty="0"/>
              <a:t>Definir cardinalidades. </a:t>
            </a:r>
          </a:p>
        </p:txBody>
      </p:sp>
    </p:spTree>
    <p:extLst>
      <p:ext uri="{BB962C8B-B14F-4D97-AF65-F5344CB8AC3E}">
        <p14:creationId xmlns:p14="http://schemas.microsoft.com/office/powerpoint/2010/main" val="34575102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8C2F8DA8-B3BF-6F59-64BE-3E4B529BA96F}"/>
              </a:ext>
            </a:extLst>
          </p:cNvPr>
          <p:cNvSpPr txBox="1"/>
          <p:nvPr/>
        </p:nvSpPr>
        <p:spPr>
          <a:xfrm>
            <a:off x="2131142" y="2351971"/>
            <a:ext cx="61304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pt-BR" dirty="0"/>
              <a:t>Finalizando...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BEC24D3-0E93-54BD-2DC8-5EC5207F56D1}"/>
              </a:ext>
            </a:extLst>
          </p:cNvPr>
          <p:cNvSpPr txBox="1"/>
          <p:nvPr/>
        </p:nvSpPr>
        <p:spPr>
          <a:xfrm>
            <a:off x="6492977" y="6121881"/>
            <a:ext cx="30504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2"/>
              </a:rPr>
              <a:t>alison.filgueiras@ueg.br</a:t>
            </a:r>
            <a:endParaRPr lang="pt-BR" dirty="0"/>
          </a:p>
          <a:p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98CFABA-33AD-A138-F4DC-E166AF8C5AE6}"/>
              </a:ext>
            </a:extLst>
          </p:cNvPr>
          <p:cNvSpPr txBox="1"/>
          <p:nvPr/>
        </p:nvSpPr>
        <p:spPr>
          <a:xfrm>
            <a:off x="6478229" y="5739947"/>
            <a:ext cx="61304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Obrigado,</a:t>
            </a:r>
          </a:p>
        </p:txBody>
      </p:sp>
    </p:spTree>
    <p:extLst>
      <p:ext uri="{BB962C8B-B14F-4D97-AF65-F5344CB8AC3E}">
        <p14:creationId xmlns:p14="http://schemas.microsoft.com/office/powerpoint/2010/main" val="680428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004AD4-52FA-0C3F-FC46-A14A82D5C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 bibliográficas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8AF403-7A8E-F679-149D-9BF3C5107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160297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ersonalizada 1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presentacao_IA_Ueg_2026.pptx - v2.pptx" id="{D6C7F5A4-D091-4E56-A7F0-EDD44F63FA2A}" vid="{03A85EFB-0979-4035-9C6F-924D8F58E56C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apresentacao_ueg_2026</Template>
  <TotalTime>2665</TotalTime>
  <Words>2082</Words>
  <Application>Microsoft Office PowerPoint</Application>
  <PresentationFormat>Widescreen</PresentationFormat>
  <Paragraphs>217</Paragraphs>
  <Slides>38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38</vt:i4>
      </vt:variant>
    </vt:vector>
  </HeadingPairs>
  <TitlesOfParts>
    <vt:vector size="43" baseType="lpstr">
      <vt:lpstr>Aptos</vt:lpstr>
      <vt:lpstr>Arial</vt:lpstr>
      <vt:lpstr>Montserrat</vt:lpstr>
      <vt:lpstr>Open Sans</vt:lpstr>
      <vt:lpstr>Tema do Office</vt:lpstr>
      <vt:lpstr>Apresentação do PowerPoint</vt:lpstr>
      <vt:lpstr>Objetivos do encontro</vt:lpstr>
      <vt:lpstr>Mas afinal, o que são bancos de dados?</vt:lpstr>
      <vt:lpstr>Introdução e fundamentos</vt:lpstr>
      <vt:lpstr>Introdução e fundamentos</vt:lpstr>
      <vt:lpstr>Introdução e fundamentos</vt:lpstr>
      <vt:lpstr>Introdução e fundamentos</vt:lpstr>
      <vt:lpstr>Dados enquanto matéria prima</vt:lpstr>
      <vt:lpstr>Introdução e fundamentos</vt:lpstr>
      <vt:lpstr>Conceito de banco de dados</vt:lpstr>
      <vt:lpstr>Conceito de banco de dados</vt:lpstr>
      <vt:lpstr>Conceito de banco de dados</vt:lpstr>
      <vt:lpstr>Evolução dos BD</vt:lpstr>
      <vt:lpstr>Evolução dos BD</vt:lpstr>
      <vt:lpstr>Evolução dos BD</vt:lpstr>
      <vt:lpstr>Evolução dos BD</vt:lpstr>
      <vt:lpstr>O papel dos bancos de dados</vt:lpstr>
      <vt:lpstr>Princípio ACID</vt:lpstr>
      <vt:lpstr>Exercício</vt:lpstr>
      <vt:lpstr>Arquitetura de um Sistema de Banco de Dados</vt:lpstr>
      <vt:lpstr>Arquitetura em 3 níveis</vt:lpstr>
      <vt:lpstr>Arquitetura em 3 níveis</vt:lpstr>
      <vt:lpstr>Arquitetura em 3 níveis</vt:lpstr>
      <vt:lpstr>Baixar o Mariadb</vt:lpstr>
      <vt:lpstr>Modelagem</vt:lpstr>
      <vt:lpstr>Modelagem</vt:lpstr>
      <vt:lpstr>Modelagem de Bancos de Dados</vt:lpstr>
      <vt:lpstr>Modelagem Conceitual</vt:lpstr>
      <vt:lpstr>Componentes básicos do modelo ER</vt:lpstr>
      <vt:lpstr>Componentes básicos do modelo ER</vt:lpstr>
      <vt:lpstr>Componentes básicos do modelo ER</vt:lpstr>
      <vt:lpstr>Tipos de atributo</vt:lpstr>
      <vt:lpstr>Componentes básicos do modelo ER</vt:lpstr>
      <vt:lpstr>Cardinalidade (a regra do negócio)</vt:lpstr>
      <vt:lpstr>Exercício</vt:lpstr>
      <vt:lpstr>Apresentação do PowerPoint</vt:lpstr>
      <vt:lpstr>Apresentação do PowerPoint</vt:lpstr>
      <vt:lpstr>Referências bibliográficas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Office</dc:creator>
  <cp:keywords/>
  <dc:description>generated using python-pptx</dc:description>
  <cp:lastModifiedBy>Office</cp:lastModifiedBy>
  <cp:revision>18</cp:revision>
  <dcterms:created xsi:type="dcterms:W3CDTF">2026-02-08T00:22:46Z</dcterms:created>
  <dcterms:modified xsi:type="dcterms:W3CDTF">2026-03-02T19:45:04Z</dcterms:modified>
  <cp:category/>
</cp:coreProperties>
</file>