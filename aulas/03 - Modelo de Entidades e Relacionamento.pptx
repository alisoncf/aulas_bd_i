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315" r:id="rId3"/>
    <p:sldId id="339" r:id="rId4"/>
    <p:sldId id="355" r:id="rId5"/>
    <p:sldId id="350" r:id="rId6"/>
    <p:sldId id="344" r:id="rId7"/>
    <p:sldId id="358" r:id="rId8"/>
    <p:sldId id="345" r:id="rId9"/>
    <p:sldId id="359" r:id="rId10"/>
    <p:sldId id="360" r:id="rId11"/>
    <p:sldId id="347" r:id="rId12"/>
    <p:sldId id="352" r:id="rId13"/>
    <p:sldId id="353" r:id="rId14"/>
    <p:sldId id="348" r:id="rId15"/>
    <p:sldId id="361" r:id="rId16"/>
    <p:sldId id="349" r:id="rId17"/>
    <p:sldId id="371" r:id="rId18"/>
    <p:sldId id="362" r:id="rId19"/>
    <p:sldId id="363" r:id="rId20"/>
    <p:sldId id="364" r:id="rId21"/>
    <p:sldId id="368" r:id="rId22"/>
    <p:sldId id="369" r:id="rId23"/>
    <p:sldId id="370" r:id="rId24"/>
    <p:sldId id="356" r:id="rId25"/>
    <p:sldId id="346" r:id="rId26"/>
    <p:sldId id="372" r:id="rId27"/>
    <p:sldId id="367" r:id="rId28"/>
    <p:sldId id="365" r:id="rId29"/>
    <p:sldId id="366" r:id="rId30"/>
    <p:sldId id="373" r:id="rId31"/>
    <p:sldId id="374" r:id="rId32"/>
    <p:sldId id="306" r:id="rId33"/>
    <p:sldId id="289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3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90" autoAdjust="0"/>
    <p:restoredTop sz="86467" autoAdjust="0"/>
  </p:normalViewPr>
  <p:slideViewPr>
    <p:cSldViewPr snapToGrid="0" snapToObjects="1">
      <p:cViewPr varScale="1">
        <p:scale>
          <a:sx n="95" d="100"/>
          <a:sy n="95" d="100"/>
        </p:scale>
        <p:origin x="396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D7C45-680E-4489-80EB-BBEA1434BA56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C9F70-A0BE-4079-B8B5-04DAAB5E5C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806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1517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3470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4008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5979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017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180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2023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21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0041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1926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A2F52-886E-26C6-2B4B-05148C197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8D1B24-9360-230F-1349-5DD4D7E0C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92CEDF4-6CBC-919B-A85F-64F371B5D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AFA161-B2E9-5776-F7EB-2F4BDFB46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703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C4141-2E6D-BA49-8B2D-E2C80CE86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19D364-44B1-1C18-4E3C-244E1375F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680E50-D6E9-1397-75DF-9FF967078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441752-DC12-1D55-73D6-69C799A76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91145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99897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3000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792" y="2130426"/>
            <a:ext cx="984274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792" y="3864634"/>
            <a:ext cx="984274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76883" y="6356351"/>
            <a:ext cx="192464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657" y="4406901"/>
            <a:ext cx="982877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657" y="2906713"/>
            <a:ext cx="982877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1017" y="1552577"/>
            <a:ext cx="464917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6437" y="1561383"/>
            <a:ext cx="454899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017" y="1535113"/>
            <a:ext cx="508049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8166" y="2174875"/>
            <a:ext cx="505334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91509" y="1535113"/>
            <a:ext cx="5149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92381" y="2174875"/>
            <a:ext cx="487305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797" y="273051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5737" y="273051"/>
            <a:ext cx="565892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9797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166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38166" y="685800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8166" y="5366035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017" y="274638"/>
            <a:ext cx="995441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017" y="1600201"/>
            <a:ext cx="995441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8166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7017" y="6356351"/>
            <a:ext cx="35024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40785" y="6356351"/>
            <a:ext cx="192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pic>
        <p:nvPicPr>
          <p:cNvPr id="1031" name="Imagem 1030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50F0E33-6D96-819A-F084-8DC047D0F98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340136" y="0"/>
            <a:ext cx="1851863" cy="5763853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14B44035-AFE9-B53C-C283-0D620D4577F8}"/>
              </a:ext>
            </a:extLst>
          </p:cNvPr>
          <p:cNvSpPr/>
          <p:nvPr userDrawn="1"/>
        </p:nvSpPr>
        <p:spPr>
          <a:xfrm>
            <a:off x="10363200" y="5753819"/>
            <a:ext cx="1828800" cy="1104181"/>
          </a:xfrm>
          <a:prstGeom prst="rect">
            <a:avLst/>
          </a:prstGeom>
          <a:solidFill>
            <a:schemeClr val="tx2">
              <a:lumMod val="75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Picture 2" descr="Universidade Estadual de Goiás">
            <a:extLst>
              <a:ext uri="{FF2B5EF4-FFF2-40B4-BE49-F238E27FC236}">
                <a16:creationId xmlns:a16="http://schemas.microsoft.com/office/drawing/2014/main" id="{18AB2DC8-328B-1683-CA2B-023A50B2F2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217" y="6418144"/>
            <a:ext cx="1206766" cy="36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just" defTabSz="4572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just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defTabSz="457200" rtl="0" eaLnBrk="1" latinLnBrk="0" hangingPunct="1">
        <a:spcBef>
          <a:spcPct val="20000"/>
        </a:spcBef>
        <a:buFont typeface="Arial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457200" rtl="0" eaLnBrk="1" latinLnBrk="0" hangingPunct="1">
        <a:spcBef>
          <a:spcPct val="20000"/>
        </a:spcBef>
        <a:buFont typeface="Arial"/>
        <a:buChar char="–"/>
        <a:defRPr sz="2000" u="sng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mailto:alison.filgueiras@ueg.br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38D8062-D185-A225-A53A-B6501DA3323D}"/>
              </a:ext>
            </a:extLst>
          </p:cNvPr>
          <p:cNvSpPr txBox="1"/>
          <p:nvPr/>
        </p:nvSpPr>
        <p:spPr>
          <a:xfrm>
            <a:off x="1097280" y="1359568"/>
            <a:ext cx="588815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00" b="1" dirty="0"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Bancos de Dados I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665C5E3-E48B-49FC-3351-D42F2E92F8A1}"/>
              </a:ext>
            </a:extLst>
          </p:cNvPr>
          <p:cNvSpPr txBox="1"/>
          <p:nvPr/>
        </p:nvSpPr>
        <p:spPr>
          <a:xfrm>
            <a:off x="1097279" y="2159787"/>
            <a:ext cx="7640233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00" b="1" dirty="0">
                <a:solidFill>
                  <a:srgbClr val="3E3EEC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Sistemas de Informação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BF2CD0B-5541-7125-8B87-C1ED8D1E3A78}"/>
              </a:ext>
            </a:extLst>
          </p:cNvPr>
          <p:cNvSpPr txBox="1"/>
          <p:nvPr/>
        </p:nvSpPr>
        <p:spPr>
          <a:xfrm>
            <a:off x="1085705" y="3437059"/>
            <a:ext cx="6135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Introdução e fundamentos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0FC8993-9C43-CF86-EBF5-D44B006FFB99}"/>
              </a:ext>
            </a:extLst>
          </p:cNvPr>
          <p:cNvSpPr txBox="1"/>
          <p:nvPr/>
        </p:nvSpPr>
        <p:spPr>
          <a:xfrm>
            <a:off x="960119" y="6115551"/>
            <a:ext cx="6135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Alison Filgueiras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Professor | UEG</a:t>
            </a:r>
          </a:p>
        </p:txBody>
      </p:sp>
      <p:grpSp>
        <p:nvGrpSpPr>
          <p:cNvPr id="1034" name="Agrupar 1033">
            <a:extLst>
              <a:ext uri="{FF2B5EF4-FFF2-40B4-BE49-F238E27FC236}">
                <a16:creationId xmlns:a16="http://schemas.microsoft.com/office/drawing/2014/main" id="{F2684B3C-CED0-121B-CAF8-575122981630}"/>
              </a:ext>
            </a:extLst>
          </p:cNvPr>
          <p:cNvGrpSpPr/>
          <p:nvPr/>
        </p:nvGrpSpPr>
        <p:grpSpPr>
          <a:xfrm>
            <a:off x="226700" y="6103288"/>
            <a:ext cx="685800" cy="615554"/>
            <a:chOff x="226700" y="6103288"/>
            <a:chExt cx="685800" cy="615554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85D935DD-DDDA-FF65-63FD-530CB8DBE80E}"/>
                </a:ext>
              </a:extLst>
            </p:cNvPr>
            <p:cNvSpPr/>
            <p:nvPr/>
          </p:nvSpPr>
          <p:spPr>
            <a:xfrm>
              <a:off x="226700" y="6103288"/>
              <a:ext cx="685800" cy="61555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0" name="Gráfico 19" descr="Usuário com preenchimento sólido">
              <a:extLst>
                <a:ext uri="{FF2B5EF4-FFF2-40B4-BE49-F238E27FC236}">
                  <a16:creationId xmlns:a16="http://schemas.microsoft.com/office/drawing/2014/main" id="{C66295BE-8410-F15A-A753-03D0AB13B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3414" y="6204878"/>
              <a:ext cx="412373" cy="412373"/>
            </a:xfrm>
            <a:prstGeom prst="rect">
              <a:avLst/>
            </a:prstGeom>
          </p:spPr>
        </p:pic>
      </p:grpSp>
      <p:sp>
        <p:nvSpPr>
          <p:cNvPr id="24" name="Retângulo 23">
            <a:extLst>
              <a:ext uri="{FF2B5EF4-FFF2-40B4-BE49-F238E27FC236}">
                <a16:creationId xmlns:a16="http://schemas.microsoft.com/office/drawing/2014/main" id="{A679D320-6A19-BA43-1417-38BF23578455}"/>
              </a:ext>
            </a:extLst>
          </p:cNvPr>
          <p:cNvSpPr/>
          <p:nvPr/>
        </p:nvSpPr>
        <p:spPr>
          <a:xfrm>
            <a:off x="1212352" y="3088519"/>
            <a:ext cx="1009639" cy="81561"/>
          </a:xfrm>
          <a:prstGeom prst="rect">
            <a:avLst/>
          </a:prstGeom>
          <a:solidFill>
            <a:srgbClr val="3E3EE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5" name="Imagem 1024" descr="Palco com luzes azuis&#10;&#10;O conteúdo gerado por IA pode estar incorreto.">
            <a:extLst>
              <a:ext uri="{FF2B5EF4-FFF2-40B4-BE49-F238E27FC236}">
                <a16:creationId xmlns:a16="http://schemas.microsoft.com/office/drawing/2014/main" id="{B9266E90-32F5-C287-214F-67EC1490E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9165" y="0"/>
            <a:ext cx="2391109" cy="3972479"/>
          </a:xfrm>
          <a:prstGeom prst="rect">
            <a:avLst/>
          </a:prstGeom>
        </p:spPr>
      </p:pic>
      <p:pic>
        <p:nvPicPr>
          <p:cNvPr id="1027" name="Imagem 1026" descr="Lousa com letras e números em fundo preto&#10;&#10;O conteúdo gerado por IA pode estar incorreto.">
            <a:extLst>
              <a:ext uri="{FF2B5EF4-FFF2-40B4-BE49-F238E27FC236}">
                <a16:creationId xmlns:a16="http://schemas.microsoft.com/office/drawing/2014/main" id="{A4B543E0-C29B-E196-B7C7-5E66271B5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9164" y="3928750"/>
            <a:ext cx="2391109" cy="4182059"/>
          </a:xfrm>
          <a:prstGeom prst="rect">
            <a:avLst/>
          </a:prstGeom>
        </p:spPr>
      </p:pic>
      <p:sp>
        <p:nvSpPr>
          <p:cNvPr id="1029" name="AutoShape 6" descr="Imagem de ">
            <a:extLst>
              <a:ext uri="{FF2B5EF4-FFF2-40B4-BE49-F238E27FC236}">
                <a16:creationId xmlns:a16="http://schemas.microsoft.com/office/drawing/2014/main" id="{9EAD35B4-A30E-3E1D-0195-D40D66F1CC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" name="Picture 2" descr="Universidade Estadual de Goiás">
            <a:extLst>
              <a:ext uri="{FF2B5EF4-FFF2-40B4-BE49-F238E27FC236}">
                <a16:creationId xmlns:a16="http://schemas.microsoft.com/office/drawing/2014/main" id="{2A0A8953-2E8B-09AD-FF7B-0FC207565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217" y="6418144"/>
            <a:ext cx="1206766" cy="36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1BFCD8B-611F-E161-11A6-C23A82F6C4E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008" y="168620"/>
            <a:ext cx="9954417" cy="1143000"/>
          </a:xfrm>
        </p:spPr>
        <p:txBody>
          <a:bodyPr/>
          <a:lstStyle/>
          <a:p>
            <a:r>
              <a:rPr lang="pt-BR" dirty="0"/>
              <a:t>Objetivos</a:t>
            </a:r>
            <a:r>
              <a:rPr lang="pt-BR" baseline="0" dirty="0"/>
              <a:t> do encontro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D3FEDF3-A8A2-12B5-77A6-DD23F1E58EB5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Parte teórica</a:t>
            </a:r>
            <a:endParaRPr lang="pt-BR" dirty="0"/>
          </a:p>
          <a:p>
            <a:pPr lvl="1"/>
            <a:r>
              <a:rPr lang="pt-BR" dirty="0"/>
              <a:t>Estudar o modelo de entidade e relacionamento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r>
              <a:rPr lang="pt-BR" b="1" dirty="0"/>
              <a:t>Parte prática</a:t>
            </a:r>
          </a:p>
          <a:p>
            <a:pPr lvl="1"/>
            <a:r>
              <a:rPr lang="pt-BR" b="1" dirty="0"/>
              <a:t>Realizar exercícios de modelagem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9820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73BD39-CE9A-E572-4334-56512585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8EF655-80C0-04D7-0098-BB568823C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 conceitual, Modelo lógico e Modelo físico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6374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7E80D-9DBD-DAFA-7E81-CCA0AE675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Conceitual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6BB12B-EB2E-3A5C-98D9-54802D570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7" y="1600201"/>
            <a:ext cx="9954417" cy="5257799"/>
          </a:xfrm>
        </p:spPr>
        <p:txBody>
          <a:bodyPr>
            <a:normAutofit fontScale="85000" lnSpcReduction="10000"/>
          </a:bodyPr>
          <a:lstStyle/>
          <a:p>
            <a:r>
              <a:rPr lang="pt-BR" b="1" dirty="0"/>
              <a:t>Planta baixa dos dados</a:t>
            </a:r>
          </a:p>
          <a:p>
            <a:r>
              <a:rPr lang="pt-BR" dirty="0"/>
              <a:t>É a visão de "alto nível". Aqui, o foco é entender as regras de negócio e os dados necessários, sem se preocupar com tecnologia.</a:t>
            </a:r>
          </a:p>
          <a:p>
            <a:r>
              <a:rPr lang="pt-BR" b="1" dirty="0"/>
              <a:t>Objetivo:</a:t>
            </a:r>
            <a:r>
              <a:rPr lang="pt-BR" dirty="0"/>
              <a:t> Descrever </a:t>
            </a:r>
            <a:r>
              <a:rPr lang="pt-BR" i="1" dirty="0"/>
              <a:t>o que</a:t>
            </a:r>
            <a:r>
              <a:rPr lang="pt-BR" dirty="0"/>
              <a:t> os dados representam.</a:t>
            </a:r>
          </a:p>
          <a:p>
            <a:r>
              <a:rPr lang="pt-BR" b="1" dirty="0"/>
              <a:t>Principal Ferramenta:</a:t>
            </a:r>
            <a:r>
              <a:rPr lang="pt-BR" dirty="0"/>
              <a:t> Diagrama Entidade-Relacionamento (DER).</a:t>
            </a:r>
          </a:p>
          <a:p>
            <a:r>
              <a:rPr lang="pt-BR" b="1" dirty="0"/>
              <a:t>Elementos:</a:t>
            </a:r>
            <a:r>
              <a:rPr lang="pt-BR" dirty="0"/>
              <a:t> Entidades (</a:t>
            </a:r>
            <a:r>
              <a:rPr lang="pt-BR" dirty="0" err="1"/>
              <a:t>ex</a:t>
            </a:r>
            <a:r>
              <a:rPr lang="pt-BR" dirty="0"/>
              <a:t>: Cliente), Atributos (</a:t>
            </a:r>
            <a:r>
              <a:rPr lang="pt-BR" dirty="0" err="1"/>
              <a:t>ex</a:t>
            </a:r>
            <a:r>
              <a:rPr lang="pt-BR" dirty="0"/>
              <a:t>: CPF) e Relacionamentos (</a:t>
            </a:r>
            <a:r>
              <a:rPr lang="pt-BR" dirty="0" err="1"/>
              <a:t>ex</a:t>
            </a:r>
            <a:r>
              <a:rPr lang="pt-BR" dirty="0"/>
              <a:t>: Compra).</a:t>
            </a:r>
          </a:p>
          <a:p>
            <a:r>
              <a:rPr lang="pt-BR" b="1" dirty="0"/>
              <a:t>Público:</a:t>
            </a:r>
            <a:r>
              <a:rPr lang="pt-BR" dirty="0"/>
              <a:t> O cliente e o analista de dados.</a:t>
            </a:r>
          </a:p>
          <a:p>
            <a:r>
              <a:rPr lang="pt-BR" b="1" dirty="0"/>
              <a:t>Independência:</a:t>
            </a:r>
            <a:r>
              <a:rPr lang="pt-BR" dirty="0"/>
              <a:t> Total. Não importa se você usará MySQL, Excel ou um caderno.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3462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0A929088-38CD-E44D-CF08-CE5AAB003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18" y="274637"/>
            <a:ext cx="2382078" cy="6226371"/>
          </a:xfrm>
        </p:spPr>
        <p:txBody>
          <a:bodyPr>
            <a:normAutofit/>
          </a:bodyPr>
          <a:lstStyle/>
          <a:p>
            <a:r>
              <a:rPr lang="pt-BR" sz="2400" dirty="0"/>
              <a:t>Modelagem de Bancos de Dados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84F408A-EB72-D10D-1193-D48979D95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03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016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6F41D-E253-A7E2-25DA-A15CD678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Conceitual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EB7754-CD88-CB0B-D751-E6F599642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Etapa mais abstrata do projeto de banco de dados. O objetivo é capturar os requisitos de negócio e transformá-los em um diagrama que tanto o cliente quanto o desenvolvedor consigam entender</a:t>
            </a:r>
          </a:p>
          <a:p>
            <a:r>
              <a:rPr lang="pt-BR" b="1" dirty="0"/>
              <a:t>Linguagem:</a:t>
            </a:r>
            <a:r>
              <a:rPr lang="pt-BR" dirty="0"/>
              <a:t> Independente de SGBD (não importa se será MySQL, Oracle ou PostgreSQL).</a:t>
            </a:r>
          </a:p>
          <a:p>
            <a:r>
              <a:rPr lang="pt-BR" b="1" dirty="0"/>
              <a:t>Foco:</a:t>
            </a:r>
            <a:r>
              <a:rPr lang="pt-BR" dirty="0"/>
              <a:t> Semântica (significado) e regras de negócio.</a:t>
            </a:r>
          </a:p>
          <a:p>
            <a:r>
              <a:rPr lang="pt-BR" b="1" dirty="0"/>
              <a:t>Ferramenta principal:</a:t>
            </a:r>
            <a:r>
              <a:rPr lang="pt-BR" dirty="0"/>
              <a:t> Diagrama Entidade-Relacionamento (DER).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2395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5522A-7543-1ECA-90B4-138776609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DER - Diagrama de Entidades e 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1B2BCF-C042-E24D-D75C-BA201678E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ferramenta de modelagem visual que permite representar um banco de dados no nível conceitual.</a:t>
            </a:r>
          </a:p>
          <a:p>
            <a:r>
              <a:rPr lang="pt-BR" dirty="0"/>
              <a:t>Possui uma simbologia própria para representação de cada elemento: entidades, relacionamentos, cardinalidades, </a:t>
            </a:r>
            <a:r>
              <a:rPr lang="pt-BR" dirty="0" err="1"/>
              <a:t>etc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2113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CFD2C-73AE-9E3B-1195-67AF8B749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Entidades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AEB110-DC83-4C8B-02C5-CBFB859A7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Uma entidade representa, no modelo conceitual, um conjunto de objetos da realidade modelada.</a:t>
            </a:r>
          </a:p>
          <a:p>
            <a:r>
              <a:rPr lang="pt-BR" dirty="0"/>
              <a:t>Interessam-nos somente os objetos sobre os quais deseja-se manter informações</a:t>
            </a:r>
          </a:p>
          <a:p>
            <a:r>
              <a:rPr lang="pt-BR" dirty="0"/>
              <a:t>Em um DER, uma entidade é representada através de um retângulo que contém o nome da entidade</a:t>
            </a:r>
          </a:p>
          <a:p>
            <a:r>
              <a:rPr lang="pt-BR" dirty="0"/>
              <a:t>Uma entidade só conversa com outra entidade através de um relacionamento</a:t>
            </a:r>
          </a:p>
        </p:txBody>
      </p:sp>
    </p:spTree>
    <p:extLst>
      <p:ext uri="{BB962C8B-B14F-4D97-AF65-F5344CB8AC3E}">
        <p14:creationId xmlns:p14="http://schemas.microsoft.com/office/powerpoint/2010/main" val="1148207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F5FC2-44BA-E110-1757-1F55AE450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2D10E-407D-01D2-B473-BE110C026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Entidades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66450B2-4C56-0677-36B5-8F58008F265D}"/>
              </a:ext>
            </a:extLst>
          </p:cNvPr>
          <p:cNvSpPr/>
          <p:nvPr/>
        </p:nvSpPr>
        <p:spPr>
          <a:xfrm>
            <a:off x="1545296" y="2629426"/>
            <a:ext cx="3086081" cy="10489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Pessoa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B81DC16-46C0-D3C2-3B82-AF5C296CE4AC}"/>
              </a:ext>
            </a:extLst>
          </p:cNvPr>
          <p:cNvSpPr/>
          <p:nvPr/>
        </p:nvSpPr>
        <p:spPr>
          <a:xfrm>
            <a:off x="5288225" y="2629426"/>
            <a:ext cx="3086081" cy="10489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Departamento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63A4977-B59E-A52C-B3B1-D88160EF7EE6}"/>
              </a:ext>
            </a:extLst>
          </p:cNvPr>
          <p:cNvSpPr/>
          <p:nvPr/>
        </p:nvSpPr>
        <p:spPr>
          <a:xfrm>
            <a:off x="3745184" y="4365692"/>
            <a:ext cx="3086081" cy="10489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Aluno</a:t>
            </a:r>
          </a:p>
        </p:txBody>
      </p:sp>
    </p:spTree>
    <p:extLst>
      <p:ext uri="{BB962C8B-B14F-4D97-AF65-F5344CB8AC3E}">
        <p14:creationId xmlns:p14="http://schemas.microsoft.com/office/powerpoint/2010/main" val="2638443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77FDC-1544-3179-E6F9-6393AEDE1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Entidades fracas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8B4A6E-B0A9-4DFA-AA0F-BFCC446B9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entidade que depende de outra e não possui atributos-chave próprios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A87CA80-7A2D-21C9-BF85-8B381EBCC3A3}"/>
              </a:ext>
            </a:extLst>
          </p:cNvPr>
          <p:cNvSpPr/>
          <p:nvPr/>
        </p:nvSpPr>
        <p:spPr>
          <a:xfrm>
            <a:off x="736403" y="5242616"/>
            <a:ext cx="2173052" cy="852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Aluno</a:t>
            </a:r>
          </a:p>
        </p:txBody>
      </p:sp>
      <p:sp>
        <p:nvSpPr>
          <p:cNvPr id="17" name="Quadro 16">
            <a:extLst>
              <a:ext uri="{FF2B5EF4-FFF2-40B4-BE49-F238E27FC236}">
                <a16:creationId xmlns:a16="http://schemas.microsoft.com/office/drawing/2014/main" id="{12C1DAD1-C09D-C9DD-CB2C-27A54AAFD604}"/>
              </a:ext>
            </a:extLst>
          </p:cNvPr>
          <p:cNvSpPr/>
          <p:nvPr/>
        </p:nvSpPr>
        <p:spPr>
          <a:xfrm>
            <a:off x="7331348" y="5138256"/>
            <a:ext cx="2614997" cy="1061263"/>
          </a:xfrm>
          <a:prstGeom prst="fra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Carteirinha</a:t>
            </a:r>
          </a:p>
        </p:txBody>
      </p:sp>
      <p:sp>
        <p:nvSpPr>
          <p:cNvPr id="18" name="Losango 17">
            <a:extLst>
              <a:ext uri="{FF2B5EF4-FFF2-40B4-BE49-F238E27FC236}">
                <a16:creationId xmlns:a16="http://schemas.microsoft.com/office/drawing/2014/main" id="{86F5A136-7A24-2635-68E4-01462BCA2675}"/>
              </a:ext>
            </a:extLst>
          </p:cNvPr>
          <p:cNvSpPr/>
          <p:nvPr/>
        </p:nvSpPr>
        <p:spPr>
          <a:xfrm>
            <a:off x="4065452" y="5138256"/>
            <a:ext cx="2173052" cy="106126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possui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FB26FF9D-DBA0-178D-EFA3-F9B2D4CE8764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 flipV="1">
            <a:off x="2909455" y="5668888"/>
            <a:ext cx="1155997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C6A4EFF5-EBC6-CB79-A8AB-F26C968D3985}"/>
              </a:ext>
            </a:extLst>
          </p:cNvPr>
          <p:cNvCxnSpPr>
            <a:stCxn id="18" idx="3"/>
            <a:endCxn id="17" idx="1"/>
          </p:cNvCxnSpPr>
          <p:nvPr/>
        </p:nvCxnSpPr>
        <p:spPr>
          <a:xfrm>
            <a:off x="6238504" y="5668888"/>
            <a:ext cx="109284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635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EBB7A-DDB1-1632-CAAB-18B668311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C2246-448B-3CDA-AEE4-58994B19D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30494C-7717-9915-4F7B-7115E4FC0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São as propriedades ou características de uma entidade.</a:t>
            </a:r>
          </a:p>
          <a:p>
            <a:pPr lvl="1"/>
            <a:r>
              <a:rPr lang="pt-BR" b="1" dirty="0"/>
              <a:t>Exemplo:</a:t>
            </a:r>
            <a:r>
              <a:rPr lang="pt-BR" dirty="0"/>
              <a:t> A entidade ALUNO tem os atributos Nome, Matrícula e Data de Nascimento.</a:t>
            </a:r>
          </a:p>
          <a:p>
            <a:pPr lvl="1"/>
            <a:r>
              <a:rPr lang="pt-BR" dirty="0"/>
              <a:t>Atributo Chave (Identificador): Aquele que diferencia uma ocorrência da outra (</a:t>
            </a:r>
            <a:r>
              <a:rPr lang="pt-BR" dirty="0" err="1"/>
              <a:t>ex</a:t>
            </a:r>
            <a:r>
              <a:rPr lang="pt-BR" dirty="0"/>
              <a:t>: Matrícula).</a:t>
            </a:r>
          </a:p>
          <a:p>
            <a:pPr lvl="1"/>
            <a:r>
              <a:rPr lang="pt-BR" dirty="0"/>
              <a:t>Representação: Elipses ou círculos ligados à entidade.</a:t>
            </a:r>
          </a:p>
        </p:txBody>
      </p:sp>
    </p:spTree>
    <p:extLst>
      <p:ext uri="{BB962C8B-B14F-4D97-AF65-F5344CB8AC3E}">
        <p14:creationId xmlns:p14="http://schemas.microsoft.com/office/powerpoint/2010/main" val="4163794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22024-19DE-64E5-9017-7AE5D97BF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9A8A3-AD1F-775E-1614-08B95C99E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179FCA-7EB0-D326-77B2-247CBB9F2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7" y="1417639"/>
            <a:ext cx="9954417" cy="4708526"/>
          </a:xfrm>
        </p:spPr>
        <p:txBody>
          <a:bodyPr/>
          <a:lstStyle/>
          <a:p>
            <a:pPr lvl="1"/>
            <a:r>
              <a:rPr lang="pt-BR" dirty="0"/>
              <a:t>Podem ser: simples, compostos, multivalorados, derivados</a:t>
            </a:r>
          </a:p>
          <a:p>
            <a:pPr lvl="1"/>
            <a:r>
              <a:rPr lang="pt-BR" dirty="0"/>
              <a:t>Simples: cpf</a:t>
            </a:r>
          </a:p>
          <a:p>
            <a:pPr lvl="1"/>
            <a:r>
              <a:rPr lang="pt-BR" dirty="0"/>
              <a:t>Composto: endereço (rua, número, cep)</a:t>
            </a:r>
          </a:p>
          <a:p>
            <a:pPr lvl="1"/>
            <a:r>
              <a:rPr lang="pt-BR" dirty="0"/>
              <a:t>Multivalorado: o aluno pode ter mais de um telefone.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07BCFB2-6967-C01B-5648-1327B9FC4C6D}"/>
              </a:ext>
            </a:extLst>
          </p:cNvPr>
          <p:cNvSpPr/>
          <p:nvPr/>
        </p:nvSpPr>
        <p:spPr>
          <a:xfrm>
            <a:off x="1293616" y="4816343"/>
            <a:ext cx="2173052" cy="852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Aluno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6D49291-FB2E-5B3D-6E3C-E5CEA587284F}"/>
              </a:ext>
            </a:extLst>
          </p:cNvPr>
          <p:cNvSpPr/>
          <p:nvPr/>
        </p:nvSpPr>
        <p:spPr>
          <a:xfrm>
            <a:off x="2928938" y="4114800"/>
            <a:ext cx="957262" cy="40005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u="sng" dirty="0"/>
              <a:t>cpf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C883010-CB22-3532-6AF0-1ACFE1C97EFB}"/>
              </a:ext>
            </a:extLst>
          </p:cNvPr>
          <p:cNvCxnSpPr>
            <a:stCxn id="6" idx="0"/>
            <a:endCxn id="7" idx="3"/>
          </p:cNvCxnSpPr>
          <p:nvPr/>
        </p:nvCxnSpPr>
        <p:spPr>
          <a:xfrm flipV="1">
            <a:off x="2380142" y="4456264"/>
            <a:ext cx="688984" cy="3600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63916768-96D9-E55D-82E4-0CCF8BCAEC92}"/>
              </a:ext>
            </a:extLst>
          </p:cNvPr>
          <p:cNvSpPr/>
          <p:nvPr/>
        </p:nvSpPr>
        <p:spPr>
          <a:xfrm>
            <a:off x="1293616" y="3943582"/>
            <a:ext cx="1289599" cy="41548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nome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21CD33E-ED6A-8300-6408-CFE8DDD6663B}"/>
              </a:ext>
            </a:extLst>
          </p:cNvPr>
          <p:cNvCxnSpPr>
            <a:stCxn id="11" idx="4"/>
            <a:endCxn id="6" idx="0"/>
          </p:cNvCxnSpPr>
          <p:nvPr/>
        </p:nvCxnSpPr>
        <p:spPr>
          <a:xfrm>
            <a:off x="1938416" y="4359065"/>
            <a:ext cx="441726" cy="4572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033BC470-386D-EF4B-89BF-6C5EA9D4C4AE}"/>
              </a:ext>
            </a:extLst>
          </p:cNvPr>
          <p:cNvSpPr/>
          <p:nvPr/>
        </p:nvSpPr>
        <p:spPr>
          <a:xfrm>
            <a:off x="4047798" y="5005204"/>
            <a:ext cx="1895803" cy="48364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endereço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5E2433D3-4837-2358-A6F5-385B081F4A53}"/>
              </a:ext>
            </a:extLst>
          </p:cNvPr>
          <p:cNvSpPr/>
          <p:nvPr/>
        </p:nvSpPr>
        <p:spPr>
          <a:xfrm>
            <a:off x="5760851" y="4157261"/>
            <a:ext cx="1289599" cy="41548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rua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A67D1BC1-D4FF-2127-1FE5-890D2CCD49AC}"/>
              </a:ext>
            </a:extLst>
          </p:cNvPr>
          <p:cNvSpPr/>
          <p:nvPr/>
        </p:nvSpPr>
        <p:spPr>
          <a:xfrm>
            <a:off x="6096000" y="4734868"/>
            <a:ext cx="1634836" cy="36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número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1EF962F1-4CD9-0814-98B9-AC0B995634EE}"/>
              </a:ext>
            </a:extLst>
          </p:cNvPr>
          <p:cNvSpPr/>
          <p:nvPr/>
        </p:nvSpPr>
        <p:spPr>
          <a:xfrm>
            <a:off x="6248400" y="5308808"/>
            <a:ext cx="1634836" cy="3600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bairro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E24D9917-45C2-2FDB-B56B-1DDCA821566A}"/>
              </a:ext>
            </a:extLst>
          </p:cNvPr>
          <p:cNvCxnSpPr>
            <a:cxnSpLocks/>
            <a:stCxn id="14" idx="7"/>
            <a:endCxn id="15" idx="3"/>
          </p:cNvCxnSpPr>
          <p:nvPr/>
        </p:nvCxnSpPr>
        <p:spPr>
          <a:xfrm flipV="1">
            <a:off x="5665967" y="4511898"/>
            <a:ext cx="283741" cy="5641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1EE944F0-D3AA-B9EA-167C-A9E2AFA06C2B}"/>
              </a:ext>
            </a:extLst>
          </p:cNvPr>
          <p:cNvCxnSpPr>
            <a:cxnSpLocks/>
            <a:stCxn id="14" idx="6"/>
            <a:endCxn id="16" idx="3"/>
          </p:cNvCxnSpPr>
          <p:nvPr/>
        </p:nvCxnSpPr>
        <p:spPr>
          <a:xfrm flipV="1">
            <a:off x="5943601" y="5042216"/>
            <a:ext cx="391815" cy="2048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C99C4D72-6C25-FA29-6AFF-CB7CA6C3F72B}"/>
              </a:ext>
            </a:extLst>
          </p:cNvPr>
          <p:cNvCxnSpPr>
            <a:cxnSpLocks/>
            <a:stCxn id="14" idx="5"/>
            <a:endCxn id="17" idx="2"/>
          </p:cNvCxnSpPr>
          <p:nvPr/>
        </p:nvCxnSpPr>
        <p:spPr>
          <a:xfrm>
            <a:off x="5665967" y="5418020"/>
            <a:ext cx="582433" cy="70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F24333AE-8391-83BA-5F19-9858BDA6E7BF}"/>
              </a:ext>
            </a:extLst>
          </p:cNvPr>
          <p:cNvCxnSpPr>
            <a:cxnSpLocks/>
            <a:stCxn id="6" idx="3"/>
            <a:endCxn id="14" idx="2"/>
          </p:cNvCxnSpPr>
          <p:nvPr/>
        </p:nvCxnSpPr>
        <p:spPr>
          <a:xfrm>
            <a:off x="3466668" y="5242616"/>
            <a:ext cx="581130" cy="44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3A9FDFE3-31A6-5BAE-7283-3E54D89CD8A5}"/>
              </a:ext>
            </a:extLst>
          </p:cNvPr>
          <p:cNvCxnSpPr>
            <a:cxnSpLocks/>
            <a:stCxn id="6" idx="2"/>
            <a:endCxn id="34" idx="2"/>
          </p:cNvCxnSpPr>
          <p:nvPr/>
        </p:nvCxnSpPr>
        <p:spPr>
          <a:xfrm>
            <a:off x="2380142" y="5668888"/>
            <a:ext cx="1390023" cy="3727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Círculo: Vazio 33">
            <a:extLst>
              <a:ext uri="{FF2B5EF4-FFF2-40B4-BE49-F238E27FC236}">
                <a16:creationId xmlns:a16="http://schemas.microsoft.com/office/drawing/2014/main" id="{845AB6A7-3090-577A-1E49-80BED0EBB578}"/>
              </a:ext>
            </a:extLst>
          </p:cNvPr>
          <p:cNvSpPr/>
          <p:nvPr/>
        </p:nvSpPr>
        <p:spPr>
          <a:xfrm>
            <a:off x="3770165" y="5747546"/>
            <a:ext cx="1895802" cy="588135"/>
          </a:xfrm>
          <a:prstGeom prst="donut">
            <a:avLst>
              <a:gd name="adj" fmla="val 696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telefone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29B0A18E-E6EC-67FF-FB39-45BEE4BBA882}"/>
              </a:ext>
            </a:extLst>
          </p:cNvPr>
          <p:cNvSpPr/>
          <p:nvPr/>
        </p:nvSpPr>
        <p:spPr>
          <a:xfrm>
            <a:off x="484340" y="6168776"/>
            <a:ext cx="1289599" cy="415483"/>
          </a:xfrm>
          <a:prstGeom prst="ellipse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idade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CC2F1EE3-0D2D-82FD-7BDF-02E9301EEDBD}"/>
              </a:ext>
            </a:extLst>
          </p:cNvPr>
          <p:cNvCxnSpPr>
            <a:stCxn id="6" idx="2"/>
          </p:cNvCxnSpPr>
          <p:nvPr/>
        </p:nvCxnSpPr>
        <p:spPr>
          <a:xfrm flipH="1">
            <a:off x="1446835" y="5668888"/>
            <a:ext cx="933307" cy="4998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701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327B7-FD79-EF21-52EA-7F2F787D6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atributo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8A9E8317-9912-FB2D-D93B-00103A267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511776"/>
              </p:ext>
            </p:extLst>
          </p:nvPr>
        </p:nvGraphicFramePr>
        <p:xfrm>
          <a:off x="311149" y="1417638"/>
          <a:ext cx="9732964" cy="51657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33241">
                  <a:extLst>
                    <a:ext uri="{9D8B030D-6E8A-4147-A177-3AD203B41FA5}">
                      <a16:colId xmlns:a16="http://schemas.microsoft.com/office/drawing/2014/main" val="1824233587"/>
                    </a:ext>
                  </a:extLst>
                </a:gridCol>
                <a:gridCol w="2433241">
                  <a:extLst>
                    <a:ext uri="{9D8B030D-6E8A-4147-A177-3AD203B41FA5}">
                      <a16:colId xmlns:a16="http://schemas.microsoft.com/office/drawing/2014/main" val="370841943"/>
                    </a:ext>
                  </a:extLst>
                </a:gridCol>
                <a:gridCol w="2433241">
                  <a:extLst>
                    <a:ext uri="{9D8B030D-6E8A-4147-A177-3AD203B41FA5}">
                      <a16:colId xmlns:a16="http://schemas.microsoft.com/office/drawing/2014/main" val="2855171233"/>
                    </a:ext>
                  </a:extLst>
                </a:gridCol>
                <a:gridCol w="2433241">
                  <a:extLst>
                    <a:ext uri="{9D8B030D-6E8A-4147-A177-3AD203B41FA5}">
                      <a16:colId xmlns:a16="http://schemas.microsoft.com/office/drawing/2014/main" val="2197506267"/>
                    </a:ext>
                  </a:extLst>
                </a:gridCol>
              </a:tblGrid>
              <a:tr h="803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Tipo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Característica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Representação no 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968702"/>
                  </a:ext>
                </a:extLst>
              </a:tr>
              <a:tr h="803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Simples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Indivisível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Elipse simples ligada à entidade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398542"/>
                  </a:ext>
                </a:extLst>
              </a:tr>
              <a:tr h="1147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Composto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Pode ser decomposto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Elipse principal com sub-elipses conectadas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092236"/>
                  </a:ext>
                </a:extLst>
              </a:tr>
              <a:tr h="803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Multivalorado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Vários valores por entidade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Elipse dupla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954339"/>
                  </a:ext>
                </a:extLst>
              </a:tr>
              <a:tr h="803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Armazenado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Gravado fisicamente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Elipse simples (normal)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962073"/>
                  </a:ext>
                </a:extLst>
              </a:tr>
              <a:tr h="803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Derivado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Calculado a partir de outros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Elipse tracejada (linha pontilhada)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2315867"/>
                  </a:ext>
                </a:extLst>
              </a:tr>
            </a:tbl>
          </a:graphicData>
        </a:graphic>
      </p:graphicFrame>
      <p:sp>
        <p:nvSpPr>
          <p:cNvPr id="3" name="Círculo: Vazio 2">
            <a:extLst>
              <a:ext uri="{FF2B5EF4-FFF2-40B4-BE49-F238E27FC236}">
                <a16:creationId xmlns:a16="http://schemas.microsoft.com/office/drawing/2014/main" id="{CF42EE34-0A0D-3393-D6E5-BC66BA458204}"/>
              </a:ext>
            </a:extLst>
          </p:cNvPr>
          <p:cNvSpPr/>
          <p:nvPr/>
        </p:nvSpPr>
        <p:spPr>
          <a:xfrm>
            <a:off x="7966751" y="4283630"/>
            <a:ext cx="1895802" cy="588135"/>
          </a:xfrm>
          <a:prstGeom prst="donut">
            <a:avLst>
              <a:gd name="adj" fmla="val 696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08C3D80-2C8A-CAD5-2E3C-D06D3F56AFBE}"/>
              </a:ext>
            </a:extLst>
          </p:cNvPr>
          <p:cNvSpPr/>
          <p:nvPr/>
        </p:nvSpPr>
        <p:spPr>
          <a:xfrm>
            <a:off x="8005915" y="2313738"/>
            <a:ext cx="1580212" cy="58813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D8C086C0-90FE-D1E9-B3F5-E3BE66614D2F}"/>
              </a:ext>
            </a:extLst>
          </p:cNvPr>
          <p:cNvGrpSpPr/>
          <p:nvPr/>
        </p:nvGrpSpPr>
        <p:grpSpPr>
          <a:xfrm>
            <a:off x="7967958" y="3099871"/>
            <a:ext cx="1618169" cy="847943"/>
            <a:chOff x="4047798" y="4157261"/>
            <a:chExt cx="3835438" cy="1511627"/>
          </a:xfrm>
        </p:grpSpPr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B57D5184-0FBC-4139-5918-DE116A9C3A19}"/>
                </a:ext>
              </a:extLst>
            </p:cNvPr>
            <p:cNvSpPr/>
            <p:nvPr/>
          </p:nvSpPr>
          <p:spPr>
            <a:xfrm>
              <a:off x="4047798" y="5005204"/>
              <a:ext cx="1895803" cy="48364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7D5275A7-47B5-8CE8-6051-99273ACD875D}"/>
                </a:ext>
              </a:extLst>
            </p:cNvPr>
            <p:cNvSpPr/>
            <p:nvPr/>
          </p:nvSpPr>
          <p:spPr>
            <a:xfrm>
              <a:off x="5760851" y="4157261"/>
              <a:ext cx="1289599" cy="41548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2385D674-A87A-DA9F-8973-461700E2E420}"/>
                </a:ext>
              </a:extLst>
            </p:cNvPr>
            <p:cNvSpPr/>
            <p:nvPr/>
          </p:nvSpPr>
          <p:spPr>
            <a:xfrm>
              <a:off x="6096000" y="4734868"/>
              <a:ext cx="1634836" cy="36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D643C3DC-35DC-111F-48DA-EAE600367F4A}"/>
                </a:ext>
              </a:extLst>
            </p:cNvPr>
            <p:cNvSpPr/>
            <p:nvPr/>
          </p:nvSpPr>
          <p:spPr>
            <a:xfrm>
              <a:off x="6248400" y="5308808"/>
              <a:ext cx="1634836" cy="36008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97DF5C42-D1B8-E466-432B-578A0E04F59A}"/>
                </a:ext>
              </a:extLst>
            </p:cNvPr>
            <p:cNvCxnSpPr>
              <a:cxnSpLocks/>
              <a:stCxn id="6" idx="7"/>
              <a:endCxn id="7" idx="3"/>
            </p:cNvCxnSpPr>
            <p:nvPr/>
          </p:nvCxnSpPr>
          <p:spPr>
            <a:xfrm flipV="1">
              <a:off x="5665967" y="4511898"/>
              <a:ext cx="283741" cy="5641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1E9F8071-253D-8C3F-BDC5-1F47B4E1C9F8}"/>
                </a:ext>
              </a:extLst>
            </p:cNvPr>
            <p:cNvCxnSpPr>
              <a:cxnSpLocks/>
              <a:stCxn id="6" idx="6"/>
              <a:endCxn id="8" idx="3"/>
            </p:cNvCxnSpPr>
            <p:nvPr/>
          </p:nvCxnSpPr>
          <p:spPr>
            <a:xfrm flipV="1">
              <a:off x="5943601" y="5042216"/>
              <a:ext cx="391815" cy="2048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976FAE99-273A-4D1E-4F79-374B4351E6B1}"/>
                </a:ext>
              </a:extLst>
            </p:cNvPr>
            <p:cNvCxnSpPr>
              <a:cxnSpLocks/>
              <a:stCxn id="6" idx="5"/>
              <a:endCxn id="9" idx="2"/>
            </p:cNvCxnSpPr>
            <p:nvPr/>
          </p:nvCxnSpPr>
          <p:spPr>
            <a:xfrm>
              <a:off x="5665967" y="5418020"/>
              <a:ext cx="582433" cy="7082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Elipse 13">
            <a:extLst>
              <a:ext uri="{FF2B5EF4-FFF2-40B4-BE49-F238E27FC236}">
                <a16:creationId xmlns:a16="http://schemas.microsoft.com/office/drawing/2014/main" id="{58F22431-2B50-86A8-83AB-52669B4DCB46}"/>
              </a:ext>
            </a:extLst>
          </p:cNvPr>
          <p:cNvSpPr/>
          <p:nvPr/>
        </p:nvSpPr>
        <p:spPr>
          <a:xfrm>
            <a:off x="8514733" y="5204326"/>
            <a:ext cx="799838" cy="37260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77AFF6C7-A3CC-374C-CD59-62FC25921DD8}"/>
              </a:ext>
            </a:extLst>
          </p:cNvPr>
          <p:cNvSpPr/>
          <p:nvPr/>
        </p:nvSpPr>
        <p:spPr>
          <a:xfrm>
            <a:off x="8296528" y="5961034"/>
            <a:ext cx="1289599" cy="415483"/>
          </a:xfrm>
          <a:prstGeom prst="ellipse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4075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CAC4A-E695-8B4F-6976-7FECA80CA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2C3E2-EB74-4A60-EC5B-808EDD4D9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1E05-BA67-891C-C395-14AA8A2E3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Definem como as entidades interagem entre si.</a:t>
            </a:r>
          </a:p>
          <a:p>
            <a:pPr lvl="1"/>
            <a:r>
              <a:rPr lang="pt-BR" b="1" dirty="0"/>
              <a:t>Exemplo:</a:t>
            </a:r>
            <a:r>
              <a:rPr lang="pt-BR" dirty="0"/>
              <a:t> ALUNO </a:t>
            </a:r>
            <a:r>
              <a:rPr lang="pt-BR" b="1" dirty="0"/>
              <a:t>matricula-se</a:t>
            </a:r>
            <a:r>
              <a:rPr lang="pt-BR" dirty="0"/>
              <a:t> em CURSO</a:t>
            </a:r>
          </a:p>
          <a:p>
            <a:r>
              <a:rPr lang="pt-BR" dirty="0"/>
              <a:t>São representados por um losango, possuem cardinalidades (restrições de ocorrências)</a:t>
            </a:r>
          </a:p>
          <a:p>
            <a:r>
              <a:rPr lang="pt-BR" dirty="0"/>
              <a:t>Relacionamentos não conversam entre si.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0C7B69C-B802-906D-C898-3ECB2A4B9A5F}"/>
              </a:ext>
            </a:extLst>
          </p:cNvPr>
          <p:cNvSpPr/>
          <p:nvPr/>
        </p:nvSpPr>
        <p:spPr>
          <a:xfrm>
            <a:off x="534522" y="5242616"/>
            <a:ext cx="2173052" cy="852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Aluno</a:t>
            </a:r>
          </a:p>
        </p:txBody>
      </p:sp>
      <p:sp>
        <p:nvSpPr>
          <p:cNvPr id="5" name="Quadro 4">
            <a:extLst>
              <a:ext uri="{FF2B5EF4-FFF2-40B4-BE49-F238E27FC236}">
                <a16:creationId xmlns:a16="http://schemas.microsoft.com/office/drawing/2014/main" id="{68A1977D-554C-5F0D-DDBB-CB4205E43519}"/>
              </a:ext>
            </a:extLst>
          </p:cNvPr>
          <p:cNvSpPr/>
          <p:nvPr/>
        </p:nvSpPr>
        <p:spPr>
          <a:xfrm>
            <a:off x="7448556" y="5138257"/>
            <a:ext cx="2614997" cy="1061263"/>
          </a:xfrm>
          <a:prstGeom prst="frame">
            <a:avLst>
              <a:gd name="adj1" fmla="val 1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Disciplina</a:t>
            </a:r>
          </a:p>
        </p:txBody>
      </p:sp>
      <p:sp>
        <p:nvSpPr>
          <p:cNvPr id="6" name="Losango 5">
            <a:extLst>
              <a:ext uri="{FF2B5EF4-FFF2-40B4-BE49-F238E27FC236}">
                <a16:creationId xmlns:a16="http://schemas.microsoft.com/office/drawing/2014/main" id="{99075965-8DB4-3D4B-FD28-7B53A4262E31}"/>
              </a:ext>
            </a:extLst>
          </p:cNvPr>
          <p:cNvSpPr/>
          <p:nvPr/>
        </p:nvSpPr>
        <p:spPr>
          <a:xfrm>
            <a:off x="3607421" y="5138255"/>
            <a:ext cx="3265896" cy="106126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Matricula-se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801D5596-5066-1D42-2D1D-849570567A64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2707574" y="5668887"/>
            <a:ext cx="899847" cy="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4B5A617-3B17-63C6-A013-CCA63641CF51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6873317" y="5668887"/>
            <a:ext cx="575239" cy="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EE1E8E43-0231-8AA7-0769-F83FAD32538A}"/>
              </a:ext>
            </a:extLst>
          </p:cNvPr>
          <p:cNvSpPr txBox="1"/>
          <p:nvPr/>
        </p:nvSpPr>
        <p:spPr>
          <a:xfrm>
            <a:off x="3065382" y="5226199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ECA3DB-21A1-63A6-3FB3-5DF339EDAA90}"/>
              </a:ext>
            </a:extLst>
          </p:cNvPr>
          <p:cNvSpPr txBox="1"/>
          <p:nvPr/>
        </p:nvSpPr>
        <p:spPr>
          <a:xfrm>
            <a:off x="6990857" y="5218905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47577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F873BD-4E97-322A-6B9B-57216E0FA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521ED1-30A2-3F47-5334-DECCF3C10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Simples (binário)</a:t>
            </a:r>
          </a:p>
          <a:p>
            <a:r>
              <a:rPr lang="pt-BR" dirty="0" err="1"/>
              <a:t>Auto-relacionamento</a:t>
            </a:r>
            <a:r>
              <a:rPr lang="pt-BR" dirty="0"/>
              <a:t> (unário)</a:t>
            </a:r>
          </a:p>
          <a:p>
            <a:r>
              <a:rPr lang="pt-BR" dirty="0"/>
              <a:t>Ternário</a:t>
            </a:r>
          </a:p>
          <a:p>
            <a:r>
              <a:rPr lang="pt-BR" dirty="0"/>
              <a:t>Especialização/generalização</a:t>
            </a:r>
          </a:p>
          <a:p>
            <a:r>
              <a:rPr lang="pt-BR" dirty="0"/>
              <a:t>Entidades associativas</a:t>
            </a:r>
          </a:p>
        </p:txBody>
      </p:sp>
    </p:spTree>
    <p:extLst>
      <p:ext uri="{BB962C8B-B14F-4D97-AF65-F5344CB8AC3E}">
        <p14:creationId xmlns:p14="http://schemas.microsoft.com/office/powerpoint/2010/main" val="1248408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4D5F4-25C6-C3B5-B207-679C3C050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Cardinalidade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1E81DD-689C-EBDC-494E-976538E84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Define o número de ocorrências de uma entidade que podem estar associadas a ocorrências de outra entidade.</a:t>
            </a:r>
          </a:p>
          <a:p>
            <a:r>
              <a:rPr lang="pt-BR" b="1" dirty="0"/>
              <a:t>1:1 (Um para Um): </a:t>
            </a:r>
          </a:p>
          <a:p>
            <a:pPr lvl="1"/>
            <a:r>
              <a:rPr lang="pt-BR" dirty="0"/>
              <a:t>Um ALUNO só pode ter um ENDEREÇO.</a:t>
            </a:r>
          </a:p>
          <a:p>
            <a:r>
              <a:rPr lang="pt-BR" b="1" dirty="0"/>
              <a:t>1:N (Um para Muitos): </a:t>
            </a:r>
          </a:p>
          <a:p>
            <a:pPr lvl="1"/>
            <a:r>
              <a:rPr lang="pt-BR" dirty="0"/>
              <a:t>Um DEPARTAMENTO possui vários PROFESSORES, mas um professor pertence a apenas um departamento.</a:t>
            </a:r>
          </a:p>
          <a:p>
            <a:r>
              <a:rPr lang="pt-BR" b="1" dirty="0"/>
              <a:t>N:M (Muitos para Muitos): </a:t>
            </a:r>
          </a:p>
          <a:p>
            <a:pPr lvl="1"/>
            <a:r>
              <a:rPr lang="pt-BR" dirty="0"/>
              <a:t>Um ALUNO cursa várias DISCIPLINAS, e uma disciplina tem vários alunos matriculados.</a:t>
            </a:r>
          </a:p>
        </p:txBody>
      </p:sp>
    </p:spTree>
    <p:extLst>
      <p:ext uri="{BB962C8B-B14F-4D97-AF65-F5344CB8AC3E}">
        <p14:creationId xmlns:p14="http://schemas.microsoft.com/office/powerpoint/2010/main" val="2844157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3955E-5953-8365-E86C-81E1BF9C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0B08A1-9992-D94D-5B9E-36CA83E63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Cardinalidade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F907E3-EC27-187A-4D45-5DA236211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Deve emitir sempre os máximos</a:t>
            </a:r>
          </a:p>
          <a:p>
            <a:r>
              <a:rPr lang="pt-BR" dirty="0"/>
              <a:t>Pode emitir os mínimos</a:t>
            </a:r>
          </a:p>
          <a:p>
            <a:pPr lvl="1"/>
            <a:r>
              <a:rPr lang="pt-BR" dirty="0"/>
              <a:t>1 .. n – Um pra muitos</a:t>
            </a:r>
          </a:p>
          <a:p>
            <a:pPr lvl="1"/>
            <a:r>
              <a:rPr lang="pt-BR" dirty="0"/>
              <a:t>(1,1) .. (0,n) – mínimo um máximo um para no mínimo zero no máximo muitos.</a:t>
            </a:r>
          </a:p>
          <a:p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5939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31E4A9-9A09-256B-C0DA-C69FF9893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 simples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07605B-53C0-9733-E9AC-62C253A8A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Duas entidades se relacionam de forma binária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798FC80-3908-9101-5AEB-C058B0377B5E}"/>
              </a:ext>
            </a:extLst>
          </p:cNvPr>
          <p:cNvSpPr/>
          <p:nvPr/>
        </p:nvSpPr>
        <p:spPr>
          <a:xfrm>
            <a:off x="534522" y="5242616"/>
            <a:ext cx="2173052" cy="852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Entidade 1</a:t>
            </a:r>
          </a:p>
        </p:txBody>
      </p:sp>
      <p:sp>
        <p:nvSpPr>
          <p:cNvPr id="5" name="Quadro 4">
            <a:extLst>
              <a:ext uri="{FF2B5EF4-FFF2-40B4-BE49-F238E27FC236}">
                <a16:creationId xmlns:a16="http://schemas.microsoft.com/office/drawing/2014/main" id="{8965C8F4-96D4-3B34-19D8-467EA3F916B7}"/>
              </a:ext>
            </a:extLst>
          </p:cNvPr>
          <p:cNvSpPr/>
          <p:nvPr/>
        </p:nvSpPr>
        <p:spPr>
          <a:xfrm>
            <a:off x="7448556" y="5138257"/>
            <a:ext cx="2614997" cy="1061263"/>
          </a:xfrm>
          <a:prstGeom prst="frame">
            <a:avLst>
              <a:gd name="adj1" fmla="val 1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Entidade 2</a:t>
            </a:r>
          </a:p>
        </p:txBody>
      </p:sp>
      <p:sp>
        <p:nvSpPr>
          <p:cNvPr id="6" name="Losango 5">
            <a:extLst>
              <a:ext uri="{FF2B5EF4-FFF2-40B4-BE49-F238E27FC236}">
                <a16:creationId xmlns:a16="http://schemas.microsoft.com/office/drawing/2014/main" id="{5110429D-446F-46B0-5675-0F812E037C01}"/>
              </a:ext>
            </a:extLst>
          </p:cNvPr>
          <p:cNvSpPr/>
          <p:nvPr/>
        </p:nvSpPr>
        <p:spPr>
          <a:xfrm>
            <a:off x="3607421" y="5138255"/>
            <a:ext cx="3265896" cy="106126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Relaciona com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D3514062-E145-C7CF-61F6-34793637BDB0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2707574" y="5668887"/>
            <a:ext cx="899847" cy="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16C6BF51-591F-2363-FC45-BBF27817CA37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6873317" y="5668887"/>
            <a:ext cx="575239" cy="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CD7FBC43-049C-185B-AF0D-8E0E67800B9E}"/>
              </a:ext>
            </a:extLst>
          </p:cNvPr>
          <p:cNvSpPr txBox="1"/>
          <p:nvPr/>
        </p:nvSpPr>
        <p:spPr>
          <a:xfrm>
            <a:off x="3282813" y="5191515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CCCBF2C-16F8-EFFA-D1C1-1D00BF688137}"/>
              </a:ext>
            </a:extLst>
          </p:cNvPr>
          <p:cNvSpPr txBox="1"/>
          <p:nvPr/>
        </p:nvSpPr>
        <p:spPr>
          <a:xfrm>
            <a:off x="6919375" y="5138257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258548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5060D-FF2C-8C59-48D9-90612E593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6931F-B699-BC40-7731-D1BF3086E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Auto-relacionamento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425F93-D279-A7DE-D00F-481610099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entidade se relaciona com ela mesma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4A50AE6-D116-9086-24AA-B68B1EFB12E6}"/>
              </a:ext>
            </a:extLst>
          </p:cNvPr>
          <p:cNvSpPr/>
          <p:nvPr/>
        </p:nvSpPr>
        <p:spPr>
          <a:xfrm>
            <a:off x="464074" y="3814389"/>
            <a:ext cx="2173052" cy="852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Funcionário</a:t>
            </a:r>
          </a:p>
        </p:txBody>
      </p:sp>
      <p:sp>
        <p:nvSpPr>
          <p:cNvPr id="6" name="Losango 5">
            <a:extLst>
              <a:ext uri="{FF2B5EF4-FFF2-40B4-BE49-F238E27FC236}">
                <a16:creationId xmlns:a16="http://schemas.microsoft.com/office/drawing/2014/main" id="{B8CE2DCC-FA29-50C5-E355-4310059AFE78}"/>
              </a:ext>
            </a:extLst>
          </p:cNvPr>
          <p:cNvSpPr/>
          <p:nvPr/>
        </p:nvSpPr>
        <p:spPr>
          <a:xfrm>
            <a:off x="2925721" y="3710028"/>
            <a:ext cx="3386341" cy="106126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Supervisiona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ADF918B2-04D0-E742-1E45-CCE61F5301D3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2637126" y="4240660"/>
            <a:ext cx="288595" cy="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BE93D913-DFD0-A3DD-9CB0-3AF8199DE8F4}"/>
              </a:ext>
            </a:extLst>
          </p:cNvPr>
          <p:cNvCxnSpPr>
            <a:cxnSpLocks/>
            <a:stCxn id="6" idx="0"/>
            <a:endCxn id="4" idx="0"/>
          </p:cNvCxnSpPr>
          <p:nvPr/>
        </p:nvCxnSpPr>
        <p:spPr>
          <a:xfrm rot="16200000" flipH="1" flipV="1">
            <a:off x="3032565" y="2228062"/>
            <a:ext cx="104361" cy="3068292"/>
          </a:xfrm>
          <a:prstGeom prst="bentConnector3">
            <a:avLst>
              <a:gd name="adj1" fmla="val -219047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0D259B77-28D8-6724-F7CF-C2AB653ED389}"/>
              </a:ext>
            </a:extLst>
          </p:cNvPr>
          <p:cNvSpPr/>
          <p:nvPr/>
        </p:nvSpPr>
        <p:spPr>
          <a:xfrm>
            <a:off x="7381821" y="3388115"/>
            <a:ext cx="2277573" cy="852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Funcionário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00462F4-230A-201D-7980-448B5807CDAC}"/>
              </a:ext>
            </a:extLst>
          </p:cNvPr>
          <p:cNvSpPr txBox="1"/>
          <p:nvPr/>
        </p:nvSpPr>
        <p:spPr>
          <a:xfrm>
            <a:off x="5912977" y="3525361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ou</a:t>
            </a:r>
          </a:p>
        </p:txBody>
      </p:sp>
      <p:sp>
        <p:nvSpPr>
          <p:cNvPr id="17" name="Losango 16">
            <a:extLst>
              <a:ext uri="{FF2B5EF4-FFF2-40B4-BE49-F238E27FC236}">
                <a16:creationId xmlns:a16="http://schemas.microsoft.com/office/drawing/2014/main" id="{BC1F857A-248E-D6CC-DADA-58AB99730D8C}"/>
              </a:ext>
            </a:extLst>
          </p:cNvPr>
          <p:cNvSpPr/>
          <p:nvPr/>
        </p:nvSpPr>
        <p:spPr>
          <a:xfrm>
            <a:off x="7377556" y="4705296"/>
            <a:ext cx="2281839" cy="106126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Supervisiona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29075B88-97DF-D24A-9BAB-7036E1946BBE}"/>
              </a:ext>
            </a:extLst>
          </p:cNvPr>
          <p:cNvCxnSpPr>
            <a:cxnSpLocks/>
          </p:cNvCxnSpPr>
          <p:nvPr/>
        </p:nvCxnSpPr>
        <p:spPr>
          <a:xfrm>
            <a:off x="7827666" y="4240660"/>
            <a:ext cx="0" cy="7835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A1ACD2A2-ED28-660F-922A-41A7AC3C3CD0}"/>
              </a:ext>
            </a:extLst>
          </p:cNvPr>
          <p:cNvCxnSpPr>
            <a:cxnSpLocks/>
          </p:cNvCxnSpPr>
          <p:nvPr/>
        </p:nvCxnSpPr>
        <p:spPr>
          <a:xfrm>
            <a:off x="9043516" y="4240662"/>
            <a:ext cx="0" cy="7131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8AE564B-0ECB-4C48-F571-A5551AEB0C84}"/>
              </a:ext>
            </a:extLst>
          </p:cNvPr>
          <p:cNvSpPr txBox="1"/>
          <p:nvPr/>
        </p:nvSpPr>
        <p:spPr>
          <a:xfrm>
            <a:off x="6633980" y="4323672"/>
            <a:ext cx="1178528" cy="3231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1500" dirty="0"/>
              <a:t>supervisor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439A5161-5E30-E70B-8477-2EC465EE5D89}"/>
              </a:ext>
            </a:extLst>
          </p:cNvPr>
          <p:cNvSpPr txBox="1"/>
          <p:nvPr/>
        </p:nvSpPr>
        <p:spPr>
          <a:xfrm>
            <a:off x="9091525" y="4315494"/>
            <a:ext cx="1178528" cy="3231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1500" dirty="0"/>
              <a:t>supervisor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5789ABA9-638A-1754-4C67-7D9EE5F44E76}"/>
              </a:ext>
            </a:extLst>
          </p:cNvPr>
          <p:cNvSpPr txBox="1"/>
          <p:nvPr/>
        </p:nvSpPr>
        <p:spPr>
          <a:xfrm>
            <a:off x="9043516" y="4711059"/>
            <a:ext cx="25359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500" dirty="0"/>
              <a:t>1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427E19D2-7B22-521B-6A15-9B722C3FE13C}"/>
              </a:ext>
            </a:extLst>
          </p:cNvPr>
          <p:cNvSpPr txBox="1"/>
          <p:nvPr/>
        </p:nvSpPr>
        <p:spPr>
          <a:xfrm>
            <a:off x="7574070" y="4646837"/>
            <a:ext cx="31451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500" dirty="0"/>
              <a:t>n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06917AF-883E-93AD-BD13-ECAF85074F51}"/>
              </a:ext>
            </a:extLst>
          </p:cNvPr>
          <p:cNvSpPr txBox="1"/>
          <p:nvPr/>
        </p:nvSpPr>
        <p:spPr>
          <a:xfrm>
            <a:off x="2078627" y="3105835"/>
            <a:ext cx="1178528" cy="3231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1500" dirty="0"/>
              <a:t>supervisor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1B007DC-9A7F-648C-8307-DC913F47EE15}"/>
              </a:ext>
            </a:extLst>
          </p:cNvPr>
          <p:cNvSpPr txBox="1"/>
          <p:nvPr/>
        </p:nvSpPr>
        <p:spPr>
          <a:xfrm>
            <a:off x="1216336" y="3388115"/>
            <a:ext cx="25359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500" dirty="0"/>
              <a:t>1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FF43A79F-5C9A-687F-55F3-3D3F248BFD48}"/>
              </a:ext>
            </a:extLst>
          </p:cNvPr>
          <p:cNvSpPr txBox="1"/>
          <p:nvPr/>
        </p:nvSpPr>
        <p:spPr>
          <a:xfrm>
            <a:off x="2672125" y="4272392"/>
            <a:ext cx="31451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500" dirty="0"/>
              <a:t>n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EE45B5D6-F7BD-BBE8-5142-5690DD4FFC87}"/>
              </a:ext>
            </a:extLst>
          </p:cNvPr>
          <p:cNvSpPr txBox="1"/>
          <p:nvPr/>
        </p:nvSpPr>
        <p:spPr>
          <a:xfrm>
            <a:off x="2659493" y="4745270"/>
            <a:ext cx="1646605" cy="3231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1500" dirty="0"/>
              <a:t>supervisionado</a:t>
            </a:r>
          </a:p>
        </p:txBody>
      </p:sp>
    </p:spTree>
    <p:extLst>
      <p:ext uri="{BB962C8B-B14F-4D97-AF65-F5344CB8AC3E}">
        <p14:creationId xmlns:p14="http://schemas.microsoft.com/office/powerpoint/2010/main" val="4121947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EA354-4C9F-60BE-2113-FF40DF0C2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86998-DDBA-805C-388B-8D61F3155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 ternário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5D3E15-3047-CA39-9841-E1130127E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Três entidades fazem parte do relacionamento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3D38768-6D78-BF03-26AF-EEC727EE5336}"/>
              </a:ext>
            </a:extLst>
          </p:cNvPr>
          <p:cNvSpPr/>
          <p:nvPr/>
        </p:nvSpPr>
        <p:spPr>
          <a:xfrm>
            <a:off x="464074" y="3814389"/>
            <a:ext cx="2173052" cy="852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Fornecedor</a:t>
            </a:r>
          </a:p>
        </p:txBody>
      </p:sp>
      <p:sp>
        <p:nvSpPr>
          <p:cNvPr id="6" name="Losango 5">
            <a:extLst>
              <a:ext uri="{FF2B5EF4-FFF2-40B4-BE49-F238E27FC236}">
                <a16:creationId xmlns:a16="http://schemas.microsoft.com/office/drawing/2014/main" id="{626FF40F-28D1-4B97-C66C-92466C4FDD2A}"/>
              </a:ext>
            </a:extLst>
          </p:cNvPr>
          <p:cNvSpPr/>
          <p:nvPr/>
        </p:nvSpPr>
        <p:spPr>
          <a:xfrm>
            <a:off x="3389682" y="3710030"/>
            <a:ext cx="3386341" cy="106126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Fornece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867A5B06-052E-C913-248E-FA2D6D98F929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2637126" y="4240662"/>
            <a:ext cx="7525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6A955C04-198A-6F0A-C733-2F95D086F2DA}"/>
              </a:ext>
            </a:extLst>
          </p:cNvPr>
          <p:cNvSpPr/>
          <p:nvPr/>
        </p:nvSpPr>
        <p:spPr>
          <a:xfrm>
            <a:off x="7225353" y="3809585"/>
            <a:ext cx="2277573" cy="852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Produto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62C47B3-A89E-FA27-892A-0077E972A0FC}"/>
              </a:ext>
            </a:extLst>
          </p:cNvPr>
          <p:cNvSpPr/>
          <p:nvPr/>
        </p:nvSpPr>
        <p:spPr>
          <a:xfrm>
            <a:off x="3944066" y="5486756"/>
            <a:ext cx="2277573" cy="852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Filial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A80A5AF5-9B20-EDBF-4145-87C6E1859E37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 flipV="1">
            <a:off x="6776023" y="4235858"/>
            <a:ext cx="449330" cy="48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B44CAA1C-1811-7ECE-F3CE-0513470594CE}"/>
              </a:ext>
            </a:extLst>
          </p:cNvPr>
          <p:cNvCxnSpPr>
            <a:cxnSpLocks/>
            <a:stCxn id="9" idx="0"/>
            <a:endCxn id="6" idx="2"/>
          </p:cNvCxnSpPr>
          <p:nvPr/>
        </p:nvCxnSpPr>
        <p:spPr>
          <a:xfrm flipV="1">
            <a:off x="5082853" y="4771293"/>
            <a:ext cx="0" cy="7154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89FCC42-6927-3DFE-BB42-BD5BEBC6F8A1}"/>
              </a:ext>
            </a:extLst>
          </p:cNvPr>
          <p:cNvSpPr txBox="1"/>
          <p:nvPr/>
        </p:nvSpPr>
        <p:spPr>
          <a:xfrm>
            <a:off x="2723103" y="3820825"/>
            <a:ext cx="2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272BE65-99F9-E816-871F-C57CE80C62CA}"/>
              </a:ext>
            </a:extLst>
          </p:cNvPr>
          <p:cNvSpPr txBox="1"/>
          <p:nvPr/>
        </p:nvSpPr>
        <p:spPr>
          <a:xfrm>
            <a:off x="6906558" y="3775245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979F20E-786E-D7E2-1E3C-F9E266FE60D2}"/>
              </a:ext>
            </a:extLst>
          </p:cNvPr>
          <p:cNvSpPr txBox="1"/>
          <p:nvPr/>
        </p:nvSpPr>
        <p:spPr>
          <a:xfrm>
            <a:off x="5142009" y="5073133"/>
            <a:ext cx="340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883884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FF1CAB-2024-941E-FF32-73C4AA44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Generalização/Especialização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76EBBE-5701-D99F-6D17-816BCF81E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Propriedades particulares em um subconjunto de uma entidade genérica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493E39F-F4DF-AB19-5BE3-666F4956CACF}"/>
              </a:ext>
            </a:extLst>
          </p:cNvPr>
          <p:cNvSpPr/>
          <p:nvPr/>
        </p:nvSpPr>
        <p:spPr>
          <a:xfrm>
            <a:off x="3875340" y="3366816"/>
            <a:ext cx="2277573" cy="852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Usuário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D10DB00-AC29-A38C-7D19-605C45B3D23D}"/>
              </a:ext>
            </a:extLst>
          </p:cNvPr>
          <p:cNvSpPr/>
          <p:nvPr/>
        </p:nvSpPr>
        <p:spPr>
          <a:xfrm>
            <a:off x="2100130" y="5822454"/>
            <a:ext cx="2277573" cy="852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Administrador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7254989-0BDC-2C4B-1903-BEF6AB1657A2}"/>
              </a:ext>
            </a:extLst>
          </p:cNvPr>
          <p:cNvSpPr/>
          <p:nvPr/>
        </p:nvSpPr>
        <p:spPr>
          <a:xfrm>
            <a:off x="5496448" y="5822455"/>
            <a:ext cx="2277573" cy="852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Cliente</a:t>
            </a:r>
          </a:p>
        </p:txBody>
      </p:sp>
      <p:sp>
        <p:nvSpPr>
          <p:cNvPr id="10" name="Triângulo isósceles 9">
            <a:extLst>
              <a:ext uri="{FF2B5EF4-FFF2-40B4-BE49-F238E27FC236}">
                <a16:creationId xmlns:a16="http://schemas.microsoft.com/office/drawing/2014/main" id="{88F739E3-C6B1-030C-ECD9-3C99CDA9A896}"/>
              </a:ext>
            </a:extLst>
          </p:cNvPr>
          <p:cNvSpPr/>
          <p:nvPr/>
        </p:nvSpPr>
        <p:spPr>
          <a:xfrm>
            <a:off x="4556925" y="4674085"/>
            <a:ext cx="874207" cy="399675"/>
          </a:xfrm>
          <a:prstGeom prst="triangle">
            <a:avLst>
              <a:gd name="adj" fmla="val 5229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06AE8C14-E65F-90D1-652F-188283DAA527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5014127" y="4219361"/>
            <a:ext cx="0" cy="4547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A0A9382F-80D3-885C-CF6B-33EC6474D65E}"/>
              </a:ext>
            </a:extLst>
          </p:cNvPr>
          <p:cNvCxnSpPr>
            <a:cxnSpLocks/>
            <a:stCxn id="10" idx="3"/>
            <a:endCxn id="8" idx="0"/>
          </p:cNvCxnSpPr>
          <p:nvPr/>
        </p:nvCxnSpPr>
        <p:spPr>
          <a:xfrm flipH="1">
            <a:off x="3238917" y="5073760"/>
            <a:ext cx="1775210" cy="7486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F6A1E197-382B-5A25-36E6-792E1A3BF80A}"/>
              </a:ext>
            </a:extLst>
          </p:cNvPr>
          <p:cNvCxnSpPr>
            <a:cxnSpLocks/>
            <a:stCxn id="10" idx="3"/>
            <a:endCxn id="9" idx="0"/>
          </p:cNvCxnSpPr>
          <p:nvPr/>
        </p:nvCxnSpPr>
        <p:spPr>
          <a:xfrm>
            <a:off x="5014127" y="5073760"/>
            <a:ext cx="1621108" cy="7486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305E4F5-BA15-F4CB-B1B3-B46B864D2003}"/>
              </a:ext>
            </a:extLst>
          </p:cNvPr>
          <p:cNvSpPr txBox="1"/>
          <p:nvPr/>
        </p:nvSpPr>
        <p:spPr>
          <a:xfrm>
            <a:off x="5137573" y="4461894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C4DFE5F-0679-B795-E4E1-B7EEEA0F09B6}"/>
              </a:ext>
            </a:extLst>
          </p:cNvPr>
          <p:cNvSpPr txBox="1"/>
          <p:nvPr/>
        </p:nvSpPr>
        <p:spPr>
          <a:xfrm>
            <a:off x="6871893" y="4446723"/>
            <a:ext cx="1952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Total ou parcial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CEFE80AA-C222-38E1-34E4-17435CBBB001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 flipV="1">
            <a:off x="5415213" y="4631389"/>
            <a:ext cx="1456680" cy="15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225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72854D-C7D3-B3D4-A4CD-0BE370DC9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Entidade associativa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C8A869-9364-DEBC-99DB-90929B4A8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8" y="1367974"/>
            <a:ext cx="9787576" cy="4127358"/>
          </a:xfrm>
        </p:spPr>
        <p:txBody>
          <a:bodyPr/>
          <a:lstStyle/>
          <a:p>
            <a:r>
              <a:rPr lang="pt-BR" dirty="0"/>
              <a:t>um relacionamento, que passa a ser tratado como se fosse também uma entidade. </a:t>
            </a:r>
          </a:p>
          <a:p>
            <a:r>
              <a:rPr lang="pt-BR" dirty="0"/>
              <a:t>Possui atributos próprios</a:t>
            </a:r>
          </a:p>
          <a:p>
            <a:r>
              <a:rPr lang="pt-BR" dirty="0"/>
              <a:t>Possui significado “forte” no domínio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72042B0-647F-2989-4072-9FD9D17587B3}"/>
              </a:ext>
            </a:extLst>
          </p:cNvPr>
          <p:cNvSpPr/>
          <p:nvPr/>
        </p:nvSpPr>
        <p:spPr>
          <a:xfrm>
            <a:off x="499094" y="4005915"/>
            <a:ext cx="2277573" cy="852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Médico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C8AC87D-D160-6D8F-FB04-27AAC08FFF23}"/>
              </a:ext>
            </a:extLst>
          </p:cNvPr>
          <p:cNvSpPr/>
          <p:nvPr/>
        </p:nvSpPr>
        <p:spPr>
          <a:xfrm>
            <a:off x="7224475" y="4005915"/>
            <a:ext cx="2277573" cy="852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Paciente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A82F3F2B-5FB5-ABBF-8F29-ACD3B6EEE38F}"/>
              </a:ext>
            </a:extLst>
          </p:cNvPr>
          <p:cNvGrpSpPr/>
          <p:nvPr/>
        </p:nvGrpSpPr>
        <p:grpSpPr>
          <a:xfrm>
            <a:off x="3686095" y="3660894"/>
            <a:ext cx="2774994" cy="1542588"/>
            <a:chOff x="3575564" y="3793087"/>
            <a:chExt cx="2277573" cy="852545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436F56D4-5256-ADB8-4104-66961F942636}"/>
                </a:ext>
              </a:extLst>
            </p:cNvPr>
            <p:cNvSpPr/>
            <p:nvPr/>
          </p:nvSpPr>
          <p:spPr>
            <a:xfrm>
              <a:off x="3575564" y="3793087"/>
              <a:ext cx="2277573" cy="85254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" name="Losango 6">
              <a:extLst>
                <a:ext uri="{FF2B5EF4-FFF2-40B4-BE49-F238E27FC236}">
                  <a16:creationId xmlns:a16="http://schemas.microsoft.com/office/drawing/2014/main" id="{6C10577A-1940-56CD-C0FD-C2C219736F95}"/>
                </a:ext>
              </a:extLst>
            </p:cNvPr>
            <p:cNvSpPr/>
            <p:nvPr/>
          </p:nvSpPr>
          <p:spPr>
            <a:xfrm>
              <a:off x="3788229" y="3959051"/>
              <a:ext cx="1899138" cy="562707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600" dirty="0"/>
                <a:t>consulta</a:t>
              </a:r>
            </a:p>
          </p:txBody>
        </p:sp>
      </p:grpSp>
      <p:sp>
        <p:nvSpPr>
          <p:cNvPr id="9" name="Losango 8">
            <a:extLst>
              <a:ext uri="{FF2B5EF4-FFF2-40B4-BE49-F238E27FC236}">
                <a16:creationId xmlns:a16="http://schemas.microsoft.com/office/drawing/2014/main" id="{99F6E301-3F2B-6D24-89A8-9EF343CF1572}"/>
              </a:ext>
            </a:extLst>
          </p:cNvPr>
          <p:cNvSpPr/>
          <p:nvPr/>
        </p:nvSpPr>
        <p:spPr>
          <a:xfrm>
            <a:off x="3891850" y="5565205"/>
            <a:ext cx="2363483" cy="101815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500" dirty="0"/>
              <a:t>prescrição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4CA9D2C-E597-6258-E45F-27DD9A2729E7}"/>
              </a:ext>
            </a:extLst>
          </p:cNvPr>
          <p:cNvSpPr/>
          <p:nvPr/>
        </p:nvSpPr>
        <p:spPr>
          <a:xfrm>
            <a:off x="7224475" y="5648010"/>
            <a:ext cx="2277573" cy="852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Medicamento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D6269-3656-C043-0BB0-18DA812C7BFD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776667" y="4432188"/>
            <a:ext cx="90942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A427C4A0-2395-510A-CBDD-CA989F1CAD3F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6461089" y="4432188"/>
            <a:ext cx="7633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210548CF-D4C3-C7DB-F0CD-2C43241CC182}"/>
              </a:ext>
            </a:extLst>
          </p:cNvPr>
          <p:cNvCxnSpPr>
            <a:stCxn id="6" idx="2"/>
            <a:endCxn id="9" idx="0"/>
          </p:cNvCxnSpPr>
          <p:nvPr/>
        </p:nvCxnSpPr>
        <p:spPr>
          <a:xfrm>
            <a:off x="5073592" y="5203482"/>
            <a:ext cx="0" cy="3617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71B5301A-8267-3049-085B-A4803294C67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6255333" y="6074283"/>
            <a:ext cx="969142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4A1E036-5078-D751-ECC4-A970B4230268}"/>
              </a:ext>
            </a:extLst>
          </p:cNvPr>
          <p:cNvSpPr txBox="1"/>
          <p:nvPr/>
        </p:nvSpPr>
        <p:spPr>
          <a:xfrm>
            <a:off x="2830343" y="4100934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82F0419-83CF-FD91-3292-CAC4FAEE162F}"/>
              </a:ext>
            </a:extLst>
          </p:cNvPr>
          <p:cNvSpPr txBox="1"/>
          <p:nvPr/>
        </p:nvSpPr>
        <p:spPr>
          <a:xfrm>
            <a:off x="6757290" y="4057797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5934C40-D911-75F8-FDE7-076D3B047D01}"/>
              </a:ext>
            </a:extLst>
          </p:cNvPr>
          <p:cNvSpPr txBox="1"/>
          <p:nvPr/>
        </p:nvSpPr>
        <p:spPr>
          <a:xfrm>
            <a:off x="5419108" y="5156402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D9BD13C-D23E-2D34-B93A-656B7970F573}"/>
              </a:ext>
            </a:extLst>
          </p:cNvPr>
          <p:cNvSpPr txBox="1"/>
          <p:nvPr/>
        </p:nvSpPr>
        <p:spPr>
          <a:xfrm>
            <a:off x="6672703" y="5635078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879307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2B77AF-447A-CA56-E64F-7374DC4E4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 identificador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7CA63B-3A77-22CC-9E85-7BC10B919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Quando o relacionamento participa da identificação de uma entidade fraca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9A35D1F-727B-8B5A-0F65-2BAF6D656007}"/>
              </a:ext>
            </a:extLst>
          </p:cNvPr>
          <p:cNvSpPr/>
          <p:nvPr/>
        </p:nvSpPr>
        <p:spPr>
          <a:xfrm>
            <a:off x="921338" y="5351824"/>
            <a:ext cx="2173052" cy="852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Empregado</a:t>
            </a:r>
          </a:p>
        </p:txBody>
      </p:sp>
      <p:sp>
        <p:nvSpPr>
          <p:cNvPr id="5" name="Quadro 4">
            <a:extLst>
              <a:ext uri="{FF2B5EF4-FFF2-40B4-BE49-F238E27FC236}">
                <a16:creationId xmlns:a16="http://schemas.microsoft.com/office/drawing/2014/main" id="{A940216D-3C8E-9F8E-7157-DC3D3FFF3331}"/>
              </a:ext>
            </a:extLst>
          </p:cNvPr>
          <p:cNvSpPr/>
          <p:nvPr/>
        </p:nvSpPr>
        <p:spPr>
          <a:xfrm>
            <a:off x="7516283" y="5247464"/>
            <a:ext cx="2614997" cy="1061263"/>
          </a:xfrm>
          <a:prstGeom prst="fram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Dependente</a:t>
            </a:r>
          </a:p>
        </p:txBody>
      </p:sp>
      <p:sp>
        <p:nvSpPr>
          <p:cNvPr id="6" name="Losango 5">
            <a:extLst>
              <a:ext uri="{FF2B5EF4-FFF2-40B4-BE49-F238E27FC236}">
                <a16:creationId xmlns:a16="http://schemas.microsoft.com/office/drawing/2014/main" id="{A6448F63-FEF7-F6C9-6F77-85C18B43FD1E}"/>
              </a:ext>
            </a:extLst>
          </p:cNvPr>
          <p:cNvSpPr/>
          <p:nvPr/>
        </p:nvSpPr>
        <p:spPr>
          <a:xfrm>
            <a:off x="4250387" y="5247464"/>
            <a:ext cx="2173052" cy="106126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possui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D277BD5-080E-9209-86E3-70DED6BFCAFC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3094390" y="5778096"/>
            <a:ext cx="1155997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FD21011-A44B-6A77-C2BA-0C33FD971412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6423439" y="5778096"/>
            <a:ext cx="109284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DD5AB3AD-F03E-9702-68E2-10E7FB366C2F}"/>
              </a:ext>
            </a:extLst>
          </p:cNvPr>
          <p:cNvSpPr/>
          <p:nvPr/>
        </p:nvSpPr>
        <p:spPr>
          <a:xfrm>
            <a:off x="539393" y="4397340"/>
            <a:ext cx="1243173" cy="3420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u="sng" dirty="0"/>
              <a:t>código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237826B1-61F0-5A7D-59EF-54EB645B1902}"/>
              </a:ext>
            </a:extLst>
          </p:cNvPr>
          <p:cNvCxnSpPr>
            <a:cxnSpLocks/>
            <a:stCxn id="9" idx="4"/>
            <a:endCxn id="4" idx="0"/>
          </p:cNvCxnSpPr>
          <p:nvPr/>
        </p:nvCxnSpPr>
        <p:spPr>
          <a:xfrm>
            <a:off x="1160980" y="4739363"/>
            <a:ext cx="846884" cy="6124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7F1D816F-98A0-81D1-1346-DF9F53FAF03D}"/>
              </a:ext>
            </a:extLst>
          </p:cNvPr>
          <p:cNvSpPr/>
          <p:nvPr/>
        </p:nvSpPr>
        <p:spPr>
          <a:xfrm>
            <a:off x="1934966" y="4406472"/>
            <a:ext cx="1243173" cy="3420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nome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A82F5F9-9B4A-65CA-C90F-420729D68250}"/>
              </a:ext>
            </a:extLst>
          </p:cNvPr>
          <p:cNvCxnSpPr>
            <a:stCxn id="4" idx="0"/>
            <a:endCxn id="14" idx="4"/>
          </p:cNvCxnSpPr>
          <p:nvPr/>
        </p:nvCxnSpPr>
        <p:spPr>
          <a:xfrm flipV="1">
            <a:off x="2007864" y="4748495"/>
            <a:ext cx="548689" cy="6033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DB9843B4-AE3F-FBE3-9392-905F775031B7}"/>
              </a:ext>
            </a:extLst>
          </p:cNvPr>
          <p:cNvSpPr/>
          <p:nvPr/>
        </p:nvSpPr>
        <p:spPr>
          <a:xfrm>
            <a:off x="7162932" y="4549740"/>
            <a:ext cx="1243173" cy="3420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u="sng" dirty="0" err="1"/>
              <a:t>seq</a:t>
            </a:r>
            <a:endParaRPr lang="pt-BR" sz="1400" u="sng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5D441D12-4927-C056-0EC1-EF5205DBA77E}"/>
              </a:ext>
            </a:extLst>
          </p:cNvPr>
          <p:cNvSpPr/>
          <p:nvPr/>
        </p:nvSpPr>
        <p:spPr>
          <a:xfrm>
            <a:off x="8669593" y="4549739"/>
            <a:ext cx="1243173" cy="3420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/>
              <a:t>nome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6D6035CD-CE33-459D-E2FD-3AB9658D5B4D}"/>
              </a:ext>
            </a:extLst>
          </p:cNvPr>
          <p:cNvCxnSpPr>
            <a:stCxn id="17" idx="4"/>
            <a:endCxn id="5" idx="0"/>
          </p:cNvCxnSpPr>
          <p:nvPr/>
        </p:nvCxnSpPr>
        <p:spPr>
          <a:xfrm>
            <a:off x="7784519" y="4891763"/>
            <a:ext cx="1039263" cy="3557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73ACFA23-FD3E-3E87-2690-0D9127B1F4B0}"/>
              </a:ext>
            </a:extLst>
          </p:cNvPr>
          <p:cNvCxnSpPr>
            <a:stCxn id="18" idx="4"/>
            <a:endCxn id="5" idx="0"/>
          </p:cNvCxnSpPr>
          <p:nvPr/>
        </p:nvCxnSpPr>
        <p:spPr>
          <a:xfrm flipH="1">
            <a:off x="8823782" y="4891762"/>
            <a:ext cx="467398" cy="3557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: Angulado 25">
            <a:extLst>
              <a:ext uri="{FF2B5EF4-FFF2-40B4-BE49-F238E27FC236}">
                <a16:creationId xmlns:a16="http://schemas.microsoft.com/office/drawing/2014/main" id="{8704B3D6-4E71-C1E1-CF43-911BA0845B0A}"/>
              </a:ext>
            </a:extLst>
          </p:cNvPr>
          <p:cNvCxnSpPr>
            <a:cxnSpLocks/>
            <a:stCxn id="17" idx="0"/>
            <a:endCxn id="9" idx="0"/>
          </p:cNvCxnSpPr>
          <p:nvPr/>
        </p:nvCxnSpPr>
        <p:spPr>
          <a:xfrm rot="16200000" flipV="1">
            <a:off x="4396550" y="1161770"/>
            <a:ext cx="152400" cy="6623539"/>
          </a:xfrm>
          <a:prstGeom prst="bentConnector3">
            <a:avLst>
              <a:gd name="adj1" fmla="val 836813"/>
            </a:avLst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47F59E6-46AA-D38B-80E9-A8203C5C76F3}"/>
              </a:ext>
            </a:extLst>
          </p:cNvPr>
          <p:cNvSpPr txBox="1"/>
          <p:nvPr/>
        </p:nvSpPr>
        <p:spPr>
          <a:xfrm>
            <a:off x="1926565" y="3030877"/>
            <a:ext cx="5097233" cy="5539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500" dirty="0"/>
              <a:t>A chave da entidade fraca depende da chave </a:t>
            </a:r>
          </a:p>
          <a:p>
            <a:r>
              <a:rPr lang="pt-BR" sz="1500" dirty="0"/>
              <a:t>da entidade forte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D0561602-5ECA-D9E3-1651-AC565F0A2518}"/>
              </a:ext>
            </a:extLst>
          </p:cNvPr>
          <p:cNvSpPr txBox="1"/>
          <p:nvPr/>
        </p:nvSpPr>
        <p:spPr>
          <a:xfrm>
            <a:off x="6886618" y="5362204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(0,n)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55A83E1-2B0C-581D-B164-413880B43435}"/>
              </a:ext>
            </a:extLst>
          </p:cNvPr>
          <p:cNvSpPr txBox="1"/>
          <p:nvPr/>
        </p:nvSpPr>
        <p:spPr>
          <a:xfrm>
            <a:off x="3156117" y="540624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(1,1)</a:t>
            </a:r>
          </a:p>
        </p:txBody>
      </p:sp>
    </p:spTree>
    <p:extLst>
      <p:ext uri="{BB962C8B-B14F-4D97-AF65-F5344CB8AC3E}">
        <p14:creationId xmlns:p14="http://schemas.microsoft.com/office/powerpoint/2010/main" val="2210360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D7162-77FA-0A20-EC30-21D6FAA1C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643CE0-AD8F-0F8B-DA46-B7B81D67F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Na atividade da aula passada (biblioteca) :</a:t>
            </a:r>
          </a:p>
          <a:p>
            <a:pPr marL="914400" lvl="1" indent="-514350">
              <a:buAutoNum type="arabicPeriod"/>
            </a:pPr>
            <a:r>
              <a:rPr lang="pt-BR" dirty="0"/>
              <a:t>Identificar todas as entidades. </a:t>
            </a:r>
          </a:p>
          <a:p>
            <a:pPr marL="914400" lvl="1" indent="-514350">
              <a:buAutoNum type="arabicPeriod"/>
            </a:pPr>
            <a:r>
              <a:rPr lang="pt-BR" dirty="0"/>
              <a:t>Classificar os atributos (simples, compostos, multivalorados, derivados).</a:t>
            </a:r>
          </a:p>
          <a:p>
            <a:pPr marL="914400" lvl="1" indent="-514350">
              <a:buAutoNum type="arabicPeriod"/>
            </a:pPr>
            <a:r>
              <a:rPr lang="pt-BR" dirty="0"/>
              <a:t>Identificar possíveis relacionamentos. </a:t>
            </a:r>
          </a:p>
          <a:p>
            <a:pPr marL="914400" lvl="1" indent="-514350">
              <a:buAutoNum type="arabicPeriod"/>
            </a:pPr>
            <a:r>
              <a:rPr lang="pt-BR" dirty="0"/>
              <a:t>Definir cardinalidades entre esses relacionamentos. </a:t>
            </a:r>
          </a:p>
          <a:p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7745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98BCB-6ABB-F2E1-1A81-B344F6EE1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333C5B-D88B-7365-1376-2AFAB0C25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Uma clínica veterinária deseja informatizar seu sistema. Após entrevista com o responsável, foram levantadas as seguintes informações:</a:t>
            </a:r>
          </a:p>
          <a:p>
            <a:r>
              <a:rPr lang="pt-BR" dirty="0"/>
              <a:t>Cada </a:t>
            </a:r>
            <a:r>
              <a:rPr lang="pt-BR" b="1" dirty="0"/>
              <a:t>cliente </a:t>
            </a:r>
            <a:r>
              <a:rPr lang="pt-BR" dirty="0"/>
              <a:t>possui nome, </a:t>
            </a:r>
            <a:r>
              <a:rPr lang="pt-BR" u="sng" dirty="0"/>
              <a:t>CPF</a:t>
            </a:r>
            <a:r>
              <a:rPr lang="pt-BR" dirty="0"/>
              <a:t>, telefone(s) e endereço.</a:t>
            </a:r>
          </a:p>
          <a:p>
            <a:r>
              <a:rPr lang="pt-BR" dirty="0">
                <a:solidFill>
                  <a:srgbClr val="FF0000"/>
                </a:solidFill>
              </a:rPr>
              <a:t>Um cliente pode possuir vários animais.</a:t>
            </a:r>
          </a:p>
          <a:p>
            <a:r>
              <a:rPr lang="pt-BR" dirty="0"/>
              <a:t>Cada </a:t>
            </a:r>
            <a:r>
              <a:rPr lang="pt-BR" b="1" dirty="0"/>
              <a:t>animal</a:t>
            </a:r>
            <a:r>
              <a:rPr lang="pt-BR" dirty="0"/>
              <a:t> possui nome, espécie, raça e data de nascimento.</a:t>
            </a:r>
          </a:p>
          <a:p>
            <a:r>
              <a:rPr lang="pt-BR" dirty="0">
                <a:solidFill>
                  <a:srgbClr val="FF0000"/>
                </a:solidFill>
              </a:rPr>
              <a:t>Um animal pode realizar várias </a:t>
            </a:r>
            <a:r>
              <a:rPr lang="pt-BR" b="1" dirty="0">
                <a:solidFill>
                  <a:srgbClr val="FF0000"/>
                </a:solidFill>
              </a:rPr>
              <a:t>consultas</a:t>
            </a:r>
            <a:r>
              <a:rPr lang="pt-BR" dirty="0"/>
              <a:t>.</a:t>
            </a:r>
          </a:p>
          <a:p>
            <a:r>
              <a:rPr lang="pt-BR" dirty="0"/>
              <a:t>Cada </a:t>
            </a:r>
            <a:r>
              <a:rPr lang="pt-BR" b="1" dirty="0"/>
              <a:t>consulta</a:t>
            </a:r>
            <a:r>
              <a:rPr lang="pt-BR" dirty="0"/>
              <a:t> possui data, valor e diagnóstico.</a:t>
            </a:r>
          </a:p>
          <a:p>
            <a:r>
              <a:rPr lang="pt-BR" dirty="0"/>
              <a:t>Cada consulta é realizada por </a:t>
            </a:r>
            <a:r>
              <a:rPr lang="pt-BR" dirty="0">
                <a:solidFill>
                  <a:srgbClr val="FF0000"/>
                </a:solidFill>
              </a:rPr>
              <a:t>um único</a:t>
            </a:r>
            <a:r>
              <a:rPr lang="pt-BR" dirty="0"/>
              <a:t> </a:t>
            </a:r>
            <a:r>
              <a:rPr lang="pt-BR" b="1" dirty="0"/>
              <a:t>veterinário</a:t>
            </a:r>
            <a:r>
              <a:rPr lang="pt-BR" dirty="0"/>
              <a:t>.</a:t>
            </a:r>
          </a:p>
          <a:p>
            <a:r>
              <a:rPr lang="pt-BR" dirty="0"/>
              <a:t>Um veterinário possui nome, CRMV e especialidade.</a:t>
            </a:r>
          </a:p>
          <a:p>
            <a:r>
              <a:rPr lang="pt-BR" dirty="0">
                <a:solidFill>
                  <a:srgbClr val="FF0000"/>
                </a:solidFill>
              </a:rPr>
              <a:t>Um veterinário pode realizar várias consultas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28273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C0E74F88-E20D-696C-76E1-201D024B0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17" y="274638"/>
            <a:ext cx="9954417" cy="1143000"/>
          </a:xfrm>
        </p:spPr>
        <p:txBody>
          <a:bodyPr/>
          <a:lstStyle/>
          <a:p>
            <a:r>
              <a:rPr lang="en-US" dirty="0"/>
              <a:t>DER – </a:t>
            </a:r>
            <a:r>
              <a:rPr lang="en-US" dirty="0" err="1"/>
              <a:t>Clínica</a:t>
            </a:r>
            <a:r>
              <a:rPr lang="en-US" dirty="0"/>
              <a:t> </a:t>
            </a:r>
            <a:r>
              <a:rPr lang="en-US" dirty="0" err="1"/>
              <a:t>Veterinária</a:t>
            </a:r>
            <a:endParaRPr lang="en-US" dirty="0"/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1E0C7759-6348-6E3D-4B3A-94906E8BB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17" y="1217614"/>
            <a:ext cx="9560458" cy="47085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688014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D5EEC-A7EB-4D58-A4B8-3B50D79F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ECB6B0-6657-3779-09DF-22224A239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8" y="1600201"/>
            <a:ext cx="9707190" cy="5122146"/>
          </a:xfrm>
        </p:spPr>
        <p:txBody>
          <a:bodyPr>
            <a:normAutofit fontScale="55000" lnSpcReduction="20000"/>
          </a:bodyPr>
          <a:lstStyle/>
          <a:p>
            <a:r>
              <a:rPr lang="pt-BR" dirty="0"/>
              <a:t>Uma instituição de ensino deseja desenvolver um sistema para gerenciar eventos acadêmicos, como palestras, workshops e minicursos.</a:t>
            </a:r>
          </a:p>
          <a:p>
            <a:r>
              <a:rPr lang="pt-BR" dirty="0"/>
              <a:t>Cada evento possui um código identificador único, título, data de realização, horário e carga horária. Todo evento acontece em uma única sala.</a:t>
            </a:r>
          </a:p>
          <a:p>
            <a:r>
              <a:rPr lang="pt-BR" dirty="0"/>
              <a:t>Cada sala possui número identificador, bloco e capacidade máxima de participantes.</a:t>
            </a:r>
          </a:p>
          <a:p>
            <a:r>
              <a:rPr lang="pt-BR" dirty="0"/>
              <a:t>Os eventos são organizados por professores da instituição. Cada professor possui um código único, nome, e-mail e departamento ao qual está vinculado. Um professor pode organizar vários eventos, mas cada evento possui apenas um professor responsável.</a:t>
            </a:r>
          </a:p>
          <a:p>
            <a:r>
              <a:rPr lang="pt-BR" dirty="0"/>
              <a:t>Os alunos podem se inscrever nos eventos. Cada aluno possui matrícula, nome e curso ao qual pertence.</a:t>
            </a:r>
          </a:p>
          <a:p>
            <a:r>
              <a:rPr lang="pt-BR" dirty="0"/>
              <a:t>Um aluno pode se inscrever em vários eventos, e cada evento pode ter vários alunos inscritos. No ato da inscrição, o sistema deve registrar a data da inscrição e a situação da inscrição (confirmada, cancelada ou lista de espera).</a:t>
            </a:r>
          </a:p>
          <a:p>
            <a:r>
              <a:rPr lang="pt-BR" dirty="0"/>
              <a:t>Após a realização do evento, os alunos que comparecerem recebem um certificado de participação. Para cada certificado deve ser registrado um número único e a data de emissão. O certificado está vinculado a um único aluno e a um único evento.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96436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B7866-1FC7-DF97-FD52-BE4834092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18" y="274638"/>
            <a:ext cx="9496174" cy="529230"/>
          </a:xfrm>
        </p:spPr>
        <p:txBody>
          <a:bodyPr>
            <a:normAutofit fontScale="90000"/>
          </a:bodyPr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926CEA-E79E-05A1-9F5B-8E8C00A85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8" y="937419"/>
            <a:ext cx="9596658" cy="4983161"/>
          </a:xfrm>
        </p:spPr>
        <p:txBody>
          <a:bodyPr>
            <a:noAutofit/>
          </a:bodyPr>
          <a:lstStyle/>
          <a:p>
            <a:r>
              <a:rPr lang="pt-BR" sz="1600" dirty="0"/>
              <a:t>Uma empresa está desenvolvendo uma plataforma de cursos online voltada para formação profissional. O sistema deverá permitir o cadastro de instrutores, cursos e alunos, além de controlar matrículas, avaliações e emissão de certificados.</a:t>
            </a:r>
          </a:p>
          <a:p>
            <a:r>
              <a:rPr lang="pt-BR" sz="1600" dirty="0"/>
              <a:t>Cada instrutor possui um identificador único, nome completo, e-mail, telefone e área de especialização. Um instrutor pode ministrar vários cursos, mas cada curso é ministrado por apenas um instrutor.</a:t>
            </a:r>
          </a:p>
          <a:p>
            <a:r>
              <a:rPr lang="pt-BR" sz="1600" dirty="0"/>
              <a:t>Cada curso é identificado por um código único e possui título, descrição, carga horária e preço. Os cursos são ofertados continuamente na plataforma.</a:t>
            </a:r>
          </a:p>
          <a:p>
            <a:r>
              <a:rPr lang="pt-BR" sz="1600" dirty="0"/>
              <a:t>Os alunos realizam cadastro na plataforma informando matrícula, nome, e-mail e data de nascimento. Um aluno pode se matricular em vários cursos ao mesmo tempo, e cada curso pode possuir vários alunos matriculados.</a:t>
            </a:r>
          </a:p>
          <a:p>
            <a:r>
              <a:rPr lang="pt-BR" sz="1600" dirty="0"/>
              <a:t>No momento em que um aluno se matricula em um curso, o sistema deve registrar a data da matrícula, a situação da matrícula (ativa, trancada ou concluída) e o percentual de progresso do aluno no curso.</a:t>
            </a:r>
          </a:p>
          <a:p>
            <a:r>
              <a:rPr lang="pt-BR" sz="1600" dirty="0"/>
              <a:t>Ao concluir um curso, o aluno pode registrar uma avaliação referente ao curso realizado. Para cada avaliação devem ser armazenados a nota atribuída (de 1 a 5), um comentário textual e a data da avaliação. Um aluno pode avaliar um curso apenas uma única vez.</a:t>
            </a:r>
          </a:p>
          <a:p>
            <a:r>
              <a:rPr lang="pt-BR" sz="1600" dirty="0"/>
              <a:t>Quando um aluno conclui um curso com sucesso, o sistema deve emitir um certificado. Cada certificado possui um código único e registra a data de emissão. Um certificado está vinculado a um aluno e a um curso específico</a:t>
            </a:r>
            <a:r>
              <a:rPr lang="pt-B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39083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6EB38E-18FC-852C-5569-7C49800B8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22B2F1-53C5-1407-6022-219BD2AB1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Com base exclusivamente nas informações fornecidas:</a:t>
            </a:r>
          </a:p>
          <a:p>
            <a:pPr lvl="1"/>
            <a:r>
              <a:rPr lang="pt-BR" dirty="0"/>
              <a:t>Identifique as entidades do domínio.</a:t>
            </a:r>
          </a:p>
          <a:p>
            <a:pPr lvl="1"/>
            <a:r>
              <a:rPr lang="pt-BR" dirty="0"/>
              <a:t>Liste seus respectivos atributos, indicando as chaves primárias.</a:t>
            </a:r>
          </a:p>
          <a:p>
            <a:pPr lvl="1"/>
            <a:r>
              <a:rPr lang="pt-BR" dirty="0"/>
              <a:t>Identifique os relacionamentos.</a:t>
            </a:r>
          </a:p>
          <a:p>
            <a:pPr lvl="1"/>
            <a:r>
              <a:rPr lang="pt-BR" dirty="0"/>
              <a:t>Defina as cardinalidades.</a:t>
            </a:r>
          </a:p>
          <a:p>
            <a:pPr lvl="1"/>
            <a:r>
              <a:rPr lang="pt-BR" dirty="0"/>
              <a:t>Indique se existe necessidade de entidade associativa.</a:t>
            </a:r>
          </a:p>
          <a:p>
            <a:pPr lvl="1"/>
            <a:r>
              <a:rPr lang="pt-BR" dirty="0"/>
              <a:t>Verifique se há atributos derivados ou restrições implícitas.</a:t>
            </a:r>
          </a:p>
          <a:p>
            <a:pPr lvl="1"/>
            <a:r>
              <a:rPr lang="pt-BR" dirty="0"/>
              <a:t>Construa o Diagrama Entidade-Relacionamento completo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92888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A3DC7-C9E2-DBE3-AAAC-B0C99997A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40D7CB-7390-A334-1EC9-A06D13327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631" y="1282534"/>
            <a:ext cx="9820895" cy="5403274"/>
          </a:xfrm>
        </p:spPr>
        <p:txBody>
          <a:bodyPr>
            <a:normAutofit fontScale="47500" lnSpcReduction="20000"/>
          </a:bodyPr>
          <a:lstStyle/>
          <a:p>
            <a:r>
              <a:rPr lang="pt-BR" dirty="0"/>
              <a:t>Uma empresa deseja desenvolver um sistema para gerenciar sua estrutura organizacional. Cada empresa é identificada por CNPJ e possui razão social, nome fantasia, um endereço (composto por rua, número, bairro, cidade, estado e CEP) e vários telefones para contato.</a:t>
            </a:r>
          </a:p>
          <a:p>
            <a:r>
              <a:rPr lang="pt-BR" dirty="0"/>
              <a:t>A empresa é organizada em departamentos. Cada departamento possui código, nome, orçamento e pode funcionar em mais de uma localização física (por exemplo, diferentes prédios ou unidades). Cada departamento pertence a uma única empresa.</a:t>
            </a:r>
          </a:p>
          <a:p>
            <a:r>
              <a:rPr lang="pt-BR" dirty="0"/>
              <a:t>Os departamentos são compostos por funcionários. Cada funcionário é identificado por matrícula e possui CPF, data de nascimento e salário. O nome do funcionário é composto por primeiro nome, nome do meio e sobrenome. O funcionário também possui endereço (composto pelos mesmos elementos já descritos) e pode ter vários telefones para contato.</a:t>
            </a:r>
          </a:p>
          <a:p>
            <a:r>
              <a:rPr lang="pt-BR" dirty="0"/>
              <a:t>Cada funcionário trabalha em um único departamento, enquanto um departamento pode possuir vários funcionários. Além disso, um dos funcionários de cada departamento exerce a função de gerente. Um funcionário pode gerenciar no máximo um departamento.</a:t>
            </a:r>
          </a:p>
          <a:p>
            <a:r>
              <a:rPr lang="pt-BR" dirty="0"/>
              <a:t>Funcionários podem supervisionar outros funcionários. Um funcionário pode supervisionar vários subordinados, mas cada funcionário pode ser supervisionado por, no máximo, um supervisor.</a:t>
            </a:r>
          </a:p>
          <a:p>
            <a:r>
              <a:rPr lang="pt-BR" dirty="0"/>
              <a:t>Os funcionários podem possuir dependentes. Para cada dependente, registram-se nome, data de nascimento e grau de parentesco. Os dependentes só existem vinculados a um funcionário específico.</a:t>
            </a:r>
          </a:p>
          <a:p>
            <a:r>
              <a:rPr lang="pt-BR" dirty="0"/>
              <a:t>A empresa também desenvolve projetos. Cada projeto é identificado por código e possui nome, descrição, data de início e data de término. Um funcionário pode participar de vários projetos e um projeto pode contar com vários funcionários. Para cada participação, devem ser registradas a data de entrada do funcionário no projeto, a quantidade de horas trabalhadas e o papel desempenhado.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86167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7372A-CB62-96D2-A369-461EF2C07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3EAA7-4443-3B95-64A5-FC61DCA37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D3E940-0FF3-1705-CA7A-460127903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631" y="1282534"/>
            <a:ext cx="9820895" cy="5575465"/>
          </a:xfrm>
        </p:spPr>
        <p:txBody>
          <a:bodyPr>
            <a:normAutofit/>
          </a:bodyPr>
          <a:lstStyle/>
          <a:p>
            <a:r>
              <a:rPr lang="pt-BR" dirty="0"/>
              <a:t>Com base nessa descrição, elabore o Diagrama de Entidades e Relacionamentos identificando entidades, atributos (simples, compostos e multivalorados), relacionamentos, cardinalidades, possíveis entidades associativas, </a:t>
            </a:r>
            <a:r>
              <a:rPr lang="pt-BR" dirty="0" err="1"/>
              <a:t>auto-relacionamentos</a:t>
            </a:r>
            <a:r>
              <a:rPr lang="pt-BR" dirty="0"/>
              <a:t> e, se houver, entidades fracas e relacionamentos identificadores.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39422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8C2F8DA8-B3BF-6F59-64BE-3E4B529BA96F}"/>
              </a:ext>
            </a:extLst>
          </p:cNvPr>
          <p:cNvSpPr txBox="1"/>
          <p:nvPr/>
        </p:nvSpPr>
        <p:spPr>
          <a:xfrm>
            <a:off x="2131142" y="2351971"/>
            <a:ext cx="6130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pt-BR" dirty="0"/>
              <a:t>Finalizando...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BEC24D3-0E93-54BD-2DC8-5EC5207F56D1}"/>
              </a:ext>
            </a:extLst>
          </p:cNvPr>
          <p:cNvSpPr txBox="1"/>
          <p:nvPr/>
        </p:nvSpPr>
        <p:spPr>
          <a:xfrm>
            <a:off x="6492977" y="6121881"/>
            <a:ext cx="3050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alison.filgueiras@ueg.br</a:t>
            </a:r>
            <a:endParaRPr lang="pt-BR" dirty="0"/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98CFABA-33AD-A138-F4DC-E166AF8C5AE6}"/>
              </a:ext>
            </a:extLst>
          </p:cNvPr>
          <p:cNvSpPr txBox="1"/>
          <p:nvPr/>
        </p:nvSpPr>
        <p:spPr>
          <a:xfrm>
            <a:off x="6478229" y="5739947"/>
            <a:ext cx="6130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Obrigado,</a:t>
            </a:r>
          </a:p>
        </p:txBody>
      </p:sp>
    </p:spTree>
    <p:extLst>
      <p:ext uri="{BB962C8B-B14F-4D97-AF65-F5344CB8AC3E}">
        <p14:creationId xmlns:p14="http://schemas.microsoft.com/office/powerpoint/2010/main" val="680428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04AD4-52FA-0C3F-FC46-A14A82D5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8AF403-7A8E-F679-149D-9BF3C5107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60297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a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presentacao_IA_Ueg_2026.pptx - v2.pptx" id="{D6C7F5A4-D091-4E56-A7F0-EDD44F63FA2A}" vid="{03A85EFB-0979-4035-9C6F-924D8F58E56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apresentacao_ueg_2026</Template>
  <TotalTime>3488</TotalTime>
  <Words>1860</Words>
  <Application>Microsoft Office PowerPoint</Application>
  <PresentationFormat>Widescreen</PresentationFormat>
  <Paragraphs>246</Paragraphs>
  <Slides>33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8" baseType="lpstr">
      <vt:lpstr>Aptos</vt:lpstr>
      <vt:lpstr>Arial</vt:lpstr>
      <vt:lpstr>Montserrat</vt:lpstr>
      <vt:lpstr>Open Sans</vt:lpstr>
      <vt:lpstr>Tema do Office</vt:lpstr>
      <vt:lpstr>Apresentação do PowerPoint</vt:lpstr>
      <vt:lpstr>Objetivos do encontro</vt:lpstr>
      <vt:lpstr>Modelagem</vt:lpstr>
      <vt:lpstr>Modelo Conceitual</vt:lpstr>
      <vt:lpstr>Modelagem de Bancos de Dados</vt:lpstr>
      <vt:lpstr>Modelagem Conceitual</vt:lpstr>
      <vt:lpstr>DER - Diagrama de Entidades e Relacionamentos</vt:lpstr>
      <vt:lpstr>Entidades</vt:lpstr>
      <vt:lpstr>Entidades</vt:lpstr>
      <vt:lpstr>Entidades fracas</vt:lpstr>
      <vt:lpstr>Atributos</vt:lpstr>
      <vt:lpstr>Atributos</vt:lpstr>
      <vt:lpstr>Tipos de atributo</vt:lpstr>
      <vt:lpstr>Relacionamentos</vt:lpstr>
      <vt:lpstr>Relacionamentos</vt:lpstr>
      <vt:lpstr>Cardinalidade</vt:lpstr>
      <vt:lpstr>Cardinalidade</vt:lpstr>
      <vt:lpstr>Relacionamento simples</vt:lpstr>
      <vt:lpstr>Auto-relacionamento</vt:lpstr>
      <vt:lpstr>Relacionamento ternário</vt:lpstr>
      <vt:lpstr>Generalização/Especialização</vt:lpstr>
      <vt:lpstr>Entidade associativa</vt:lpstr>
      <vt:lpstr>Relacionamento identificador</vt:lpstr>
      <vt:lpstr>Exercício</vt:lpstr>
      <vt:lpstr>Exercício</vt:lpstr>
      <vt:lpstr>DER – Clínica Veterinária</vt:lpstr>
      <vt:lpstr>Exercício</vt:lpstr>
      <vt:lpstr>Exercício</vt:lpstr>
      <vt:lpstr>Exercício</vt:lpstr>
      <vt:lpstr>Exercício</vt:lpstr>
      <vt:lpstr>Exercício</vt:lpstr>
      <vt:lpstr>Apresentação do PowerPoint</vt:lpstr>
      <vt:lpstr>Referências bibliográficas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Office</dc:creator>
  <cp:keywords/>
  <dc:description>generated using python-pptx</dc:description>
  <cp:lastModifiedBy>Office</cp:lastModifiedBy>
  <cp:revision>23</cp:revision>
  <dcterms:created xsi:type="dcterms:W3CDTF">2026-02-08T00:22:46Z</dcterms:created>
  <dcterms:modified xsi:type="dcterms:W3CDTF">2026-08-25T23:13:31Z</dcterms:modified>
  <cp:category/>
</cp:coreProperties>
</file>