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315" r:id="rId3"/>
    <p:sldId id="328" r:id="rId4"/>
    <p:sldId id="316" r:id="rId5"/>
    <p:sldId id="322" r:id="rId6"/>
    <p:sldId id="319" r:id="rId7"/>
    <p:sldId id="318" r:id="rId8"/>
    <p:sldId id="321" r:id="rId9"/>
    <p:sldId id="320" r:id="rId10"/>
    <p:sldId id="323" r:id="rId11"/>
    <p:sldId id="324" r:id="rId12"/>
    <p:sldId id="329" r:id="rId13"/>
    <p:sldId id="330" r:id="rId14"/>
    <p:sldId id="331" r:id="rId15"/>
    <p:sldId id="325" r:id="rId16"/>
    <p:sldId id="326" r:id="rId17"/>
    <p:sldId id="327" r:id="rId18"/>
    <p:sldId id="317" r:id="rId19"/>
    <p:sldId id="332" r:id="rId20"/>
    <p:sldId id="376" r:id="rId21"/>
    <p:sldId id="377" r:id="rId22"/>
    <p:sldId id="367" r:id="rId23"/>
    <p:sldId id="365" r:id="rId24"/>
    <p:sldId id="375" r:id="rId25"/>
    <p:sldId id="333" r:id="rId26"/>
    <p:sldId id="306" r:id="rId27"/>
    <p:sldId id="28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3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90" autoAdjust="0"/>
    <p:restoredTop sz="86467" autoAdjust="0"/>
  </p:normalViewPr>
  <p:slideViewPr>
    <p:cSldViewPr snapToGrid="0" snapToObjects="1">
      <p:cViewPr varScale="1">
        <p:scale>
          <a:sx n="95" d="100"/>
          <a:sy n="95" d="100"/>
        </p:scale>
        <p:origin x="396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D7C45-680E-4489-80EB-BBEA1434BA56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C9F70-A0BE-4079-B8B5-04DAAB5E5C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806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0728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122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C5D3D-5D95-EDAF-913F-F3C33EDDA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0DA7B34-22CB-EA93-AE17-3187E7E39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7E6E5C2-94B0-D9D4-B325-D73B7CD54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E3FF84F-3904-D09B-564F-67DF6179E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71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1914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6342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3000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792" y="2130426"/>
            <a:ext cx="984274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792" y="3864634"/>
            <a:ext cx="984274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76883" y="6356351"/>
            <a:ext cx="192464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657" y="4406901"/>
            <a:ext cx="982877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657" y="2906713"/>
            <a:ext cx="982877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1017" y="1552577"/>
            <a:ext cx="464917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6437" y="1561383"/>
            <a:ext cx="454899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017" y="1535113"/>
            <a:ext cx="508049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8166" y="2174875"/>
            <a:ext cx="505334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91509" y="1535113"/>
            <a:ext cx="5149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92381" y="2174875"/>
            <a:ext cx="487305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797" y="273051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5737" y="273051"/>
            <a:ext cx="565892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9797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166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38166" y="685800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8166" y="5366035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017" y="274638"/>
            <a:ext cx="995441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017" y="1600201"/>
            <a:ext cx="995441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8166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7017" y="6356351"/>
            <a:ext cx="35024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40785" y="6356351"/>
            <a:ext cx="192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pic>
        <p:nvPicPr>
          <p:cNvPr id="1031" name="Imagem 1030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50F0E33-6D96-819A-F084-8DC047D0F98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340136" y="0"/>
            <a:ext cx="1851863" cy="5763853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14B44035-AFE9-B53C-C283-0D620D4577F8}"/>
              </a:ext>
            </a:extLst>
          </p:cNvPr>
          <p:cNvSpPr/>
          <p:nvPr userDrawn="1"/>
        </p:nvSpPr>
        <p:spPr>
          <a:xfrm>
            <a:off x="10363200" y="5753819"/>
            <a:ext cx="1828800" cy="1104181"/>
          </a:xfrm>
          <a:prstGeom prst="rect">
            <a:avLst/>
          </a:prstGeom>
          <a:solidFill>
            <a:schemeClr val="tx2">
              <a:lumMod val="75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Picture 2" descr="Universidade Estadual de Goiás">
            <a:extLst>
              <a:ext uri="{FF2B5EF4-FFF2-40B4-BE49-F238E27FC236}">
                <a16:creationId xmlns:a16="http://schemas.microsoft.com/office/drawing/2014/main" id="{18AB2DC8-328B-1683-CA2B-023A50B2F2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217" y="6418144"/>
            <a:ext cx="1206766" cy="36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just" defTabSz="4572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just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defTabSz="457200" rtl="0" eaLnBrk="1" latinLnBrk="0" hangingPunct="1">
        <a:spcBef>
          <a:spcPct val="20000"/>
        </a:spcBef>
        <a:buFont typeface="Arial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457200" rtl="0" eaLnBrk="1" latinLnBrk="0" hangingPunct="1">
        <a:spcBef>
          <a:spcPct val="20000"/>
        </a:spcBef>
        <a:buFont typeface="Arial"/>
        <a:buChar char="–"/>
        <a:defRPr sz="2000" u="sng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mailto:alison.filgueiras@ueg.br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38D8062-D185-A225-A53A-B6501DA3323D}"/>
              </a:ext>
            </a:extLst>
          </p:cNvPr>
          <p:cNvSpPr txBox="1"/>
          <p:nvPr/>
        </p:nvSpPr>
        <p:spPr>
          <a:xfrm>
            <a:off x="1097280" y="1359568"/>
            <a:ext cx="588815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00" b="1" dirty="0"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Bancos de Dados I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665C5E3-E48B-49FC-3351-D42F2E92F8A1}"/>
              </a:ext>
            </a:extLst>
          </p:cNvPr>
          <p:cNvSpPr txBox="1"/>
          <p:nvPr/>
        </p:nvSpPr>
        <p:spPr>
          <a:xfrm>
            <a:off x="1097279" y="2159787"/>
            <a:ext cx="7218643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00" b="1" dirty="0">
                <a:solidFill>
                  <a:srgbClr val="3E3EEC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Sistemas </a:t>
            </a:r>
            <a:r>
              <a:rPr lang="pt-BR" sz="4600" b="1">
                <a:solidFill>
                  <a:srgbClr val="3E3EEC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para Internet</a:t>
            </a:r>
            <a:endParaRPr lang="pt-BR" sz="4600" b="1" dirty="0">
              <a:solidFill>
                <a:srgbClr val="3E3EEC"/>
              </a:solidFill>
              <a:latin typeface="Montserrat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BF2CD0B-5541-7125-8B87-C1ED8D1E3A78}"/>
              </a:ext>
            </a:extLst>
          </p:cNvPr>
          <p:cNvSpPr txBox="1"/>
          <p:nvPr/>
        </p:nvSpPr>
        <p:spPr>
          <a:xfrm>
            <a:off x="1085705" y="3437059"/>
            <a:ext cx="6135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Introdução e fundamentos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0FC8993-9C43-CF86-EBF5-D44B006FFB99}"/>
              </a:ext>
            </a:extLst>
          </p:cNvPr>
          <p:cNvSpPr txBox="1"/>
          <p:nvPr/>
        </p:nvSpPr>
        <p:spPr>
          <a:xfrm>
            <a:off x="960119" y="6115551"/>
            <a:ext cx="6135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Alison Filgueiras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Professor | UEG</a:t>
            </a:r>
          </a:p>
        </p:txBody>
      </p:sp>
      <p:grpSp>
        <p:nvGrpSpPr>
          <p:cNvPr id="1034" name="Agrupar 1033">
            <a:extLst>
              <a:ext uri="{FF2B5EF4-FFF2-40B4-BE49-F238E27FC236}">
                <a16:creationId xmlns:a16="http://schemas.microsoft.com/office/drawing/2014/main" id="{F2684B3C-CED0-121B-CAF8-575122981630}"/>
              </a:ext>
            </a:extLst>
          </p:cNvPr>
          <p:cNvGrpSpPr/>
          <p:nvPr/>
        </p:nvGrpSpPr>
        <p:grpSpPr>
          <a:xfrm>
            <a:off x="226700" y="6103288"/>
            <a:ext cx="685800" cy="615554"/>
            <a:chOff x="226700" y="6103288"/>
            <a:chExt cx="685800" cy="615554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85D935DD-DDDA-FF65-63FD-530CB8DBE80E}"/>
                </a:ext>
              </a:extLst>
            </p:cNvPr>
            <p:cNvSpPr/>
            <p:nvPr/>
          </p:nvSpPr>
          <p:spPr>
            <a:xfrm>
              <a:off x="226700" y="6103288"/>
              <a:ext cx="685800" cy="61555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0" name="Gráfico 19" descr="Usuário com preenchimento sólido">
              <a:extLst>
                <a:ext uri="{FF2B5EF4-FFF2-40B4-BE49-F238E27FC236}">
                  <a16:creationId xmlns:a16="http://schemas.microsoft.com/office/drawing/2014/main" id="{C66295BE-8410-F15A-A753-03D0AB13B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3414" y="6204878"/>
              <a:ext cx="412373" cy="412373"/>
            </a:xfrm>
            <a:prstGeom prst="rect">
              <a:avLst/>
            </a:prstGeom>
          </p:spPr>
        </p:pic>
      </p:grpSp>
      <p:sp>
        <p:nvSpPr>
          <p:cNvPr id="24" name="Retângulo 23">
            <a:extLst>
              <a:ext uri="{FF2B5EF4-FFF2-40B4-BE49-F238E27FC236}">
                <a16:creationId xmlns:a16="http://schemas.microsoft.com/office/drawing/2014/main" id="{A679D320-6A19-BA43-1417-38BF23578455}"/>
              </a:ext>
            </a:extLst>
          </p:cNvPr>
          <p:cNvSpPr/>
          <p:nvPr/>
        </p:nvSpPr>
        <p:spPr>
          <a:xfrm>
            <a:off x="1212352" y="3088519"/>
            <a:ext cx="1009639" cy="81561"/>
          </a:xfrm>
          <a:prstGeom prst="rect">
            <a:avLst/>
          </a:prstGeom>
          <a:solidFill>
            <a:srgbClr val="3E3EE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5" name="Imagem 1024" descr="Palco com luzes azuis&#10;&#10;O conteúdo gerado por IA pode estar incorreto.">
            <a:extLst>
              <a:ext uri="{FF2B5EF4-FFF2-40B4-BE49-F238E27FC236}">
                <a16:creationId xmlns:a16="http://schemas.microsoft.com/office/drawing/2014/main" id="{B9266E90-32F5-C287-214F-67EC1490E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9165" y="0"/>
            <a:ext cx="2391109" cy="3972479"/>
          </a:xfrm>
          <a:prstGeom prst="rect">
            <a:avLst/>
          </a:prstGeom>
        </p:spPr>
      </p:pic>
      <p:pic>
        <p:nvPicPr>
          <p:cNvPr id="1027" name="Imagem 1026" descr="Lousa com letras e números em fundo preto&#10;&#10;O conteúdo gerado por IA pode estar incorreto.">
            <a:extLst>
              <a:ext uri="{FF2B5EF4-FFF2-40B4-BE49-F238E27FC236}">
                <a16:creationId xmlns:a16="http://schemas.microsoft.com/office/drawing/2014/main" id="{A4B543E0-C29B-E196-B7C7-5E66271B5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9164" y="3928750"/>
            <a:ext cx="2391109" cy="4182059"/>
          </a:xfrm>
          <a:prstGeom prst="rect">
            <a:avLst/>
          </a:prstGeom>
        </p:spPr>
      </p:pic>
      <p:sp>
        <p:nvSpPr>
          <p:cNvPr id="1029" name="AutoShape 6" descr="Imagem de ">
            <a:extLst>
              <a:ext uri="{FF2B5EF4-FFF2-40B4-BE49-F238E27FC236}">
                <a16:creationId xmlns:a16="http://schemas.microsoft.com/office/drawing/2014/main" id="{9EAD35B4-A30E-3E1D-0195-D40D66F1CC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" name="Picture 2" descr="Universidade Estadual de Goiás">
            <a:extLst>
              <a:ext uri="{FF2B5EF4-FFF2-40B4-BE49-F238E27FC236}">
                <a16:creationId xmlns:a16="http://schemas.microsoft.com/office/drawing/2014/main" id="{2A0A8953-2E8B-09AD-FF7B-0FC207565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217" y="6418144"/>
            <a:ext cx="1206766" cy="36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1BFCD8B-611F-E161-11A6-C23A82F6C4E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008" y="168620"/>
            <a:ext cx="9954417" cy="1143000"/>
          </a:xfrm>
        </p:spPr>
        <p:txBody>
          <a:bodyPr/>
          <a:lstStyle/>
          <a:p>
            <a:r>
              <a:rPr lang="pt-BR" dirty="0"/>
              <a:t>Objetivos</a:t>
            </a:r>
            <a:r>
              <a:rPr lang="pt-BR" baseline="0" dirty="0"/>
              <a:t> do encontro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D3FEDF3-A8A2-12B5-77A6-DD23F1E58EB5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Abordar o Modelo Lógico Relacional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9820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91D2A-7C63-9D83-166D-AA58D1EE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lógico: objetivos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3579BB-CC30-6357-6E87-0DF0C8E2F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Obter um banco de dados que permita </a:t>
            </a:r>
            <a:r>
              <a:rPr lang="pt-BR" i="1" dirty="0"/>
              <a:t>boa performance </a:t>
            </a:r>
            <a:r>
              <a:rPr lang="pt-BR" dirty="0"/>
              <a:t>de instruções de consulta e alteração do banco de dados. </a:t>
            </a:r>
          </a:p>
          <a:p>
            <a:r>
              <a:rPr lang="pt-BR" dirty="0"/>
              <a:t>Obter boa performance significa basicamente diminuir o número de acessos a disco, já que estes consomem o maior tempo na execução de uma instrução de banco de dados</a:t>
            </a:r>
          </a:p>
          <a:p>
            <a:r>
              <a:rPr lang="pt-BR" dirty="0"/>
              <a:t>Obter um banco de dados que </a:t>
            </a:r>
            <a:r>
              <a:rPr lang="pt-BR" i="1" dirty="0"/>
              <a:t>simplifique o desenvolvimento </a:t>
            </a:r>
            <a:r>
              <a:rPr lang="pt-BR" dirty="0"/>
              <a:t>e a manutenção de aplicações</a:t>
            </a:r>
          </a:p>
        </p:txBody>
      </p:sp>
    </p:spTree>
    <p:extLst>
      <p:ext uri="{BB962C8B-B14F-4D97-AF65-F5344CB8AC3E}">
        <p14:creationId xmlns:p14="http://schemas.microsoft.com/office/powerpoint/2010/main" val="533641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40BBC-BCD7-9F65-C69F-CDBB82F8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534312-6D48-DFDF-6FBC-A0857F873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Um modelo lógico deve definir quais tabelas o banco contém e, quais os nomes de cada uma das colunas das tabela</a:t>
            </a:r>
          </a:p>
          <a:p>
            <a:r>
              <a:rPr lang="pt-BR" dirty="0"/>
              <a:t>o Transformação do modelo conceitual, construído na etapa anterior, em um modelo lógico. </a:t>
            </a:r>
          </a:p>
          <a:p>
            <a:r>
              <a:rPr lang="pt-BR" dirty="0"/>
              <a:t>O modelo lógico define como o banco de dados será implementado no SGBD de destino.</a:t>
            </a:r>
          </a:p>
        </p:txBody>
      </p:sp>
    </p:spTree>
    <p:extLst>
      <p:ext uri="{BB962C8B-B14F-4D97-AF65-F5344CB8AC3E}">
        <p14:creationId xmlns:p14="http://schemas.microsoft.com/office/powerpoint/2010/main" val="3699553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3E325-2303-3E7E-5817-36A3C5E2A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3A16C-E16E-6C64-2838-BD12A8EE3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8FAC7C-BAA8-6986-E598-F7240249A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Essa transição é guiada por regras de mapeamento baseadas na estrutura dos componentes e na cardinalidade dos relacionamentos</a:t>
            </a:r>
          </a:p>
        </p:txBody>
      </p:sp>
    </p:spTree>
    <p:extLst>
      <p:ext uri="{BB962C8B-B14F-4D97-AF65-F5344CB8AC3E}">
        <p14:creationId xmlns:p14="http://schemas.microsoft.com/office/powerpoint/2010/main" val="4225105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024DA-85E8-2063-FB9B-D72013DEB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0B9BD-24A6-ED1A-2E04-5EC853BF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48F907-D197-B635-0211-2FDF922D8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especificação de um banco de dados relacional deve conter: </a:t>
            </a:r>
          </a:p>
          <a:p>
            <a:pPr lvl="1"/>
            <a:r>
              <a:rPr lang="pt-BR" dirty="0"/>
              <a:t>Relações (tabelas) que compõem o banco de dados; </a:t>
            </a:r>
          </a:p>
          <a:p>
            <a:pPr lvl="1"/>
            <a:r>
              <a:rPr lang="pt-BR" dirty="0"/>
              <a:t>colunas que as relações possuem; </a:t>
            </a:r>
          </a:p>
          <a:p>
            <a:pPr lvl="1"/>
            <a:r>
              <a:rPr lang="pt-BR" dirty="0"/>
              <a:t>Restrições de Integridade</a:t>
            </a:r>
          </a:p>
          <a:p>
            <a:r>
              <a:rPr lang="pt-BR" dirty="0"/>
              <a:t>Podem ser textuais e diagramáticas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0513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6AD18-2CC9-2994-7F39-E0A6D4BC6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1287EE-2FC8-2817-60F4-8E438EEB3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Textual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AE3A81-E8F2-F53A-7D6B-E26E03A54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Nesta notação são listadas as relações (tabelas) e, para cada relação, entre parênteses, os campos que compõem a relação.</a:t>
            </a:r>
          </a:p>
          <a:p>
            <a:r>
              <a:rPr lang="pt-BR" dirty="0"/>
              <a:t>Os campos que compõem a chave primária são sublinhados</a:t>
            </a:r>
          </a:p>
          <a:p>
            <a:r>
              <a:rPr lang="pt-BR" dirty="0"/>
              <a:t>Após a definição da relação especifica-se as chaves estrangeiras: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96C8582-D848-1911-0622-AC1F6443ADF6}"/>
              </a:ext>
            </a:extLst>
          </p:cNvPr>
          <p:cNvSpPr txBox="1"/>
          <p:nvPr/>
        </p:nvSpPr>
        <p:spPr>
          <a:xfrm>
            <a:off x="1166188" y="5926016"/>
            <a:ext cx="6080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&lt;nome da relação&gt; (@</a:t>
            </a:r>
            <a:r>
              <a:rPr lang="pt-BR" b="1" u="sng" dirty="0"/>
              <a:t>campo1</a:t>
            </a:r>
            <a:r>
              <a:rPr lang="pt-BR" b="1" dirty="0"/>
              <a:t>, campo2, </a:t>
            </a:r>
            <a:r>
              <a:rPr lang="pt-BR" b="1" dirty="0" err="1"/>
              <a:t>campon</a:t>
            </a:r>
            <a:r>
              <a:rPr lang="pt-BR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83663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8F7BC4-1E58-CDB1-07BA-E83ACD0F8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Diagramáticas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118BE7C-1E3E-D6BC-DF9E-F9E3A122D1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1411" y="1600200"/>
            <a:ext cx="7153102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214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565E7-44F1-34C4-E18D-E0FD86170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Transformação de entidades e 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23E53C-ACE9-838A-6752-3EE723882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b="1" dirty="0"/>
              <a:t>Entidades fortes: </a:t>
            </a:r>
            <a:r>
              <a:rPr lang="pt-BR" dirty="0"/>
              <a:t>cada entidade forte torna-se uma tabela (relação).</a:t>
            </a:r>
          </a:p>
          <a:p>
            <a:r>
              <a:rPr lang="pt-BR" dirty="0"/>
              <a:t>O atributo identificador torna-se chave-primária (</a:t>
            </a:r>
            <a:r>
              <a:rPr lang="pt-BR" dirty="0" err="1"/>
              <a:t>sublinado</a:t>
            </a:r>
            <a:r>
              <a:rPr lang="pt-BR" dirty="0"/>
              <a:t>, </a:t>
            </a:r>
            <a:r>
              <a:rPr lang="pt-BR" dirty="0" err="1"/>
              <a:t>pk</a:t>
            </a:r>
            <a:r>
              <a:rPr lang="pt-BR" dirty="0"/>
              <a:t> ou @)</a:t>
            </a:r>
          </a:p>
          <a:p>
            <a:r>
              <a:rPr lang="pt-BR" b="1" dirty="0"/>
              <a:t>Entidades fracas:</a:t>
            </a:r>
            <a:r>
              <a:rPr lang="pt-BR" dirty="0"/>
              <a:t> viram tabela (relação) Essa nova tabela conterá as chaves primárias da entidade forte</a:t>
            </a:r>
          </a:p>
          <a:p>
            <a:r>
              <a:rPr lang="pt-BR" b="1" dirty="0"/>
              <a:t>Atributos Atômicos</a:t>
            </a:r>
            <a:r>
              <a:rPr lang="pt-BR" dirty="0"/>
              <a:t>: Tornam-se colunas simples da tabela</a:t>
            </a:r>
          </a:p>
          <a:p>
            <a:r>
              <a:rPr lang="pt-BR" b="1" dirty="0"/>
              <a:t>Atributos Compostos</a:t>
            </a:r>
            <a:r>
              <a:rPr lang="pt-BR" dirty="0"/>
              <a:t>: Devem ser decompostos. Se "Endereço" tem "Rua" e "Número", no MR ele vira duas colunas separadas (ou uma tabela 1:1) </a:t>
            </a:r>
          </a:p>
        </p:txBody>
      </p:sp>
    </p:spTree>
    <p:extLst>
      <p:ext uri="{BB962C8B-B14F-4D97-AF65-F5344CB8AC3E}">
        <p14:creationId xmlns:p14="http://schemas.microsoft.com/office/powerpoint/2010/main" val="2173972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3C00B-8110-4EC7-BD0C-DF4935374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C1533-C8A6-FEDB-82F5-C7B22CA9B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de entidades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78108-512B-2A33-108E-F27E7E769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Atributos Multivalorados: </a:t>
            </a:r>
            <a:r>
              <a:rPr lang="pt-BR" dirty="0"/>
              <a:t>Como o modelo relacional exige valores atômicos, um atributo multivalorado (</a:t>
            </a:r>
            <a:r>
              <a:rPr lang="pt-BR" dirty="0" err="1"/>
              <a:t>ex</a:t>
            </a:r>
            <a:r>
              <a:rPr lang="pt-BR" dirty="0"/>
              <a:t>: Telefones) deve ser movido para uma nova tabela</a:t>
            </a:r>
          </a:p>
          <a:p>
            <a:pPr lvl="1"/>
            <a:r>
              <a:rPr lang="pt-BR" dirty="0"/>
              <a:t>Essa nova tabela conterá o valor do atributo e a PK da entidade original como Chave Estrangeira (FK)</a:t>
            </a:r>
          </a:p>
          <a:p>
            <a:r>
              <a:rPr lang="pt-BR" b="1" dirty="0"/>
              <a:t>Atributos Derivados</a:t>
            </a:r>
            <a:r>
              <a:rPr lang="pt-BR" dirty="0"/>
              <a:t>: não são armazenados fisicamente para evitar redundância, sendo calculados por meio de consultas ou </a:t>
            </a:r>
            <a:r>
              <a:rPr lang="pt-BR" dirty="0" err="1"/>
              <a:t>views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397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4E1642-83EF-ED4D-9C7F-3AF505557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Chave estrangeira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BC7306-C6CF-0F50-377E-4068E5215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coluna de uma tabela (relação) que faz ligação com a tabela de origem do relacionamento e impõe uma restrição.</a:t>
            </a:r>
          </a:p>
          <a:p>
            <a:r>
              <a:rPr lang="pt-BR" dirty="0"/>
              <a:t>Ex. Aluno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 err="1">
                <a:sym typeface="Wingdings" panose="05000000000000000000" pitchFamily="2" charset="2"/>
              </a:rPr>
              <a:t>Emprestimo</a:t>
            </a:r>
            <a:r>
              <a:rPr lang="pt-BR" dirty="0">
                <a:sym typeface="Wingdings" panose="05000000000000000000" pitchFamily="2" charset="2"/>
              </a:rPr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22812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D489F-FDF9-68EC-F970-667266B4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800" dirty="0"/>
              <a:t>Implementação dos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348E22-BFDE-3657-99E0-150D636D5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Observar cardinalidade mínima e máxima das entidades que participam do relacionamento</a:t>
            </a:r>
          </a:p>
          <a:p>
            <a:r>
              <a:rPr lang="pt-BR" dirty="0"/>
              <a:t>Um relacionamento pode gerar: </a:t>
            </a:r>
          </a:p>
          <a:p>
            <a:pPr lvl="1"/>
            <a:r>
              <a:rPr lang="pt-BR" dirty="0"/>
              <a:t>Tabela própria: colunas correspondentes aos identificadores das entidades participantes</a:t>
            </a:r>
          </a:p>
          <a:p>
            <a:pPr lvl="1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DD44DA1-376B-BE0D-6D0B-61EDD6F5D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13" y="4401833"/>
            <a:ext cx="7821116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790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579CE-6C66-14D4-A5FD-2ABD51488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0C96B-1934-9363-B6DE-EDBB127B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800" dirty="0"/>
              <a:t>Implementação dos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7552C3-3381-EB0E-ACE9-3DD1E9FEF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Colunas adicionais dentro da Entidade</a:t>
            </a:r>
          </a:p>
          <a:p>
            <a:pPr lvl="1"/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09E242F-4AE5-B2D8-A873-2837FBEDF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228" y="3586015"/>
            <a:ext cx="8002117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72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599B9-F561-FC84-22F3-BBF6337D2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3B4E1-D2D8-B9DB-1ED7-7457FFD6F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800" dirty="0"/>
              <a:t>Fusão de tabelas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70ECDE-EAEA-09CC-1342-3E6CAA1F9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Relacionamentos 1:1 </a:t>
            </a:r>
          </a:p>
          <a:p>
            <a:pPr lvl="1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FFE5FA3-BB45-1230-FC90-934613CAD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97" y="2734312"/>
            <a:ext cx="7563906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77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C63D0-DF4F-2AA5-A7B5-F9A0C3F04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Mapeamento dos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89F44F-7C40-31C1-C5D5-F2AF34A5F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tradução depende dos limites máximos e mínimos de participação</a:t>
            </a:r>
          </a:p>
          <a:p>
            <a:pPr lvl="1"/>
            <a:r>
              <a:rPr lang="pt-BR" dirty="0"/>
              <a:t>Um-para-Muitos (1:N): A regra padrão é a adição de colunas</a:t>
            </a:r>
          </a:p>
          <a:p>
            <a:pPr lvl="1"/>
            <a:r>
              <a:rPr lang="pt-BR" dirty="0"/>
              <a:t>. A PK do lado "1" é inserida como FK na tabela do lado "N"</a:t>
            </a:r>
          </a:p>
          <a:p>
            <a:pPr lvl="1"/>
            <a:r>
              <a:rPr lang="pt-BR" dirty="0"/>
              <a:t>Exemplo: Em um relacionamento entre DEPARTAMENTO (1) e EMPREGADO (N), a PK de Departamento vai para a tabela Empregado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1879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CDCC7-DC66-9E51-D870-37BB3D68C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3921AE-AD16-19BF-8F07-98D7BC0F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Mapeamento dos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DE84E2-5755-3E09-ADE6-7A250B3C3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Um-para-um (M:N): Opções entre </a:t>
            </a:r>
            <a:r>
              <a:rPr lang="pt-BR" b="1" dirty="0"/>
              <a:t>fusão de tabelas</a:t>
            </a:r>
            <a:r>
              <a:rPr lang="pt-BR" dirty="0"/>
              <a:t> (se a participação for obrigatória em ambos os lados) ou adição de FK no lado que for mais conveniente</a:t>
            </a:r>
          </a:p>
        </p:txBody>
      </p:sp>
    </p:spTree>
    <p:extLst>
      <p:ext uri="{BB962C8B-B14F-4D97-AF65-F5344CB8AC3E}">
        <p14:creationId xmlns:p14="http://schemas.microsoft.com/office/powerpoint/2010/main" val="644374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569D4-FFF8-9CBA-4F3A-25B30C518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DCD71-D7B6-58E0-FBF7-2B0E51589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Mapeamento dos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F3D412-A0AB-DB06-DB7C-5BCEA2A02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Muitos-para-Muitos (M:N): </a:t>
            </a:r>
            <a:r>
              <a:rPr lang="pt-BR" dirty="0"/>
              <a:t>Exige obrigatoriamente a criação de uma tabela própria (tabela associativa)</a:t>
            </a:r>
          </a:p>
          <a:p>
            <a:pPr lvl="1"/>
            <a:r>
              <a:rPr lang="pt-BR" dirty="0"/>
              <a:t>Essa tabela conterá as </a:t>
            </a:r>
            <a:r>
              <a:rPr lang="pt-BR" dirty="0" err="1"/>
              <a:t>PKs</a:t>
            </a:r>
            <a:r>
              <a:rPr lang="pt-BR" dirty="0"/>
              <a:t> de ambas as entidades como </a:t>
            </a:r>
            <a:r>
              <a:rPr lang="pt-BR" dirty="0" err="1"/>
              <a:t>FKs</a:t>
            </a:r>
            <a:r>
              <a:rPr lang="pt-BR" dirty="0"/>
              <a:t>, e a combinação delas formará uma PK composta</a:t>
            </a:r>
          </a:p>
          <a:p>
            <a:pPr lvl="1"/>
            <a:r>
              <a:rPr lang="pt-BR" dirty="0"/>
              <a:t>Atributos do relacionamento também ficam nesta tabela</a:t>
            </a:r>
          </a:p>
        </p:txBody>
      </p:sp>
    </p:spTree>
    <p:extLst>
      <p:ext uri="{BB962C8B-B14F-4D97-AF65-F5344CB8AC3E}">
        <p14:creationId xmlns:p14="http://schemas.microsoft.com/office/powerpoint/2010/main" val="3279029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2A75B-F629-A966-BDE7-D254815CE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85050B-72C9-A1DE-E55D-258EAD044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retomar o exercício 1. Biblioteca.</a:t>
            </a:r>
          </a:p>
        </p:txBody>
      </p:sp>
    </p:spTree>
    <p:extLst>
      <p:ext uri="{BB962C8B-B14F-4D97-AF65-F5344CB8AC3E}">
        <p14:creationId xmlns:p14="http://schemas.microsoft.com/office/powerpoint/2010/main" val="2554325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B87973-A5AF-CBA8-0441-F307E89E7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97E848-85E0-C922-3617-6A884AA8F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8" y="1417638"/>
            <a:ext cx="9581128" cy="5440362"/>
          </a:xfrm>
        </p:spPr>
        <p:txBody>
          <a:bodyPr>
            <a:normAutofit fontScale="55000" lnSpcReduction="20000"/>
          </a:bodyPr>
          <a:lstStyle/>
          <a:p>
            <a:r>
              <a:rPr lang="pt-BR" dirty="0"/>
              <a:t>Uma biblioteca deseja informatizar o controle de seu acervo e dos empréstimos realizados aos usuários.</a:t>
            </a:r>
          </a:p>
          <a:p>
            <a:r>
              <a:rPr lang="pt-BR" dirty="0"/>
              <a:t>A biblioteca possui um conjunto de livros, sendo que cada livro é identificado por um código, título, ano de publicação e editora.</a:t>
            </a:r>
          </a:p>
          <a:p>
            <a:r>
              <a:rPr lang="pt-BR" dirty="0"/>
              <a:t>Cada livro pode possuir um ou mais autores, e um autor pode ter escrito vários livros.</a:t>
            </a:r>
          </a:p>
          <a:p>
            <a:r>
              <a:rPr lang="pt-BR" dirty="0"/>
              <a:t>A biblioteca possui vários exemplares de um mesmo livro. </a:t>
            </a:r>
          </a:p>
          <a:p>
            <a:r>
              <a:rPr lang="pt-BR" dirty="0"/>
              <a:t>Cada exemplar é identificado individualmente e possui informações como número de tombo, estado de conservação e disponibilidade.</a:t>
            </a:r>
          </a:p>
          <a:p>
            <a:r>
              <a:rPr lang="pt-BR" dirty="0"/>
              <a:t>Os usuários da biblioteca podem se cadastrar no sistema, informando dados como nome, e-mail e telefone.</a:t>
            </a:r>
          </a:p>
          <a:p>
            <a:r>
              <a:rPr lang="pt-BR" dirty="0"/>
              <a:t>Os usuários podem realizar empréstimos de exemplares. </a:t>
            </a:r>
          </a:p>
          <a:p>
            <a:r>
              <a:rPr lang="pt-BR" dirty="0"/>
              <a:t>Cada empréstimo possui uma data de retirada e uma data prevista para devolução.</a:t>
            </a:r>
          </a:p>
          <a:p>
            <a:r>
              <a:rPr lang="pt-BR" dirty="0"/>
              <a:t>Um usuário pode realizar vários empréstimos ao longo do tempo, mas cada empréstimo está associado a um único usuário.</a:t>
            </a:r>
          </a:p>
          <a:p>
            <a:r>
              <a:rPr lang="pt-BR" dirty="0"/>
              <a:t>Cada empréstimo pode envolver um ou mais exemplares, e cada exemplar pode participar de vários empréstimos ao longo do tempo.</a:t>
            </a:r>
          </a:p>
          <a:p>
            <a:r>
              <a:rPr lang="pt-BR" dirty="0"/>
              <a:t>Além disso, a biblioteca deseja controlar possíveis multas, que podem ocorrer quando um exemplar é devolvido após a data prevista. </a:t>
            </a:r>
          </a:p>
          <a:p>
            <a:r>
              <a:rPr lang="pt-BR" dirty="0"/>
              <a:t>Cada multa possui valor e data de pagamento. </a:t>
            </a:r>
          </a:p>
        </p:txBody>
      </p:sp>
    </p:spTree>
    <p:extLst>
      <p:ext uri="{BB962C8B-B14F-4D97-AF65-F5344CB8AC3E}">
        <p14:creationId xmlns:p14="http://schemas.microsoft.com/office/powerpoint/2010/main" val="2002701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0DEC3-3A4E-4475-BDB7-A74090A29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1701A6-BCC0-270E-2F4A-9D5918FCF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8" y="1600201"/>
            <a:ext cx="9735508" cy="4525963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Uma clínica veterinária deseja controlar o atendimento de seus animais. Cada animal possui nome, espécie, raça e data de nascimento, e pertence a um único tutor. O tutor é identificado por CPF e possui nome e telefone. Um tutor pode ter vários animais cadastrados. A clínica possui veterinários, cada um com CRM, nome e especialidade. Os atendimentos são registrados com data, descrição do problema e diagnóstico, sendo que cada atendimento envolve um único animal e é conduzido por um único veterinário. Um animal pode ter vários atendimentos ao longo do tempo, e um veterinário pode realizar vários atendimentos.</a:t>
            </a:r>
          </a:p>
        </p:txBody>
      </p:sp>
    </p:spTree>
    <p:extLst>
      <p:ext uri="{BB962C8B-B14F-4D97-AF65-F5344CB8AC3E}">
        <p14:creationId xmlns:p14="http://schemas.microsoft.com/office/powerpoint/2010/main" val="3955040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9C103-4827-7B08-36B2-DBEE37AC3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738540-C143-DC27-7D60-0C51A8D53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/>
              <a:t>Uma escola de idiomas oferece cursos de diferentes idiomas e níveis (básico, intermediário, avançado). Cada curso possui nome, idioma, nível e carga horária. A escola conta com professores identificados por matrícula, com nome e idiomas que lecionam. As turmas são formadas a partir de cursos e possuem horário, sala e período. Cada turma é conduzida por um único professor. Os alunos se matriculam nas turmas e cada matrícula possui data de início e situação (ativo, trancado, concluído). Um aluno pode estar matriculado em várias turmas simultaneamente.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4776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D5EEC-A7EB-4D58-A4B8-3B50D79F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ECB6B0-6657-3779-09DF-22224A239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8" y="1600201"/>
            <a:ext cx="9707190" cy="5122146"/>
          </a:xfrm>
        </p:spPr>
        <p:txBody>
          <a:bodyPr>
            <a:normAutofit fontScale="55000" lnSpcReduction="20000"/>
          </a:bodyPr>
          <a:lstStyle/>
          <a:p>
            <a:r>
              <a:rPr lang="pt-BR" dirty="0"/>
              <a:t>Uma instituição de ensino deseja desenvolver um sistema para gerenciar eventos acadêmicos, como palestras, workshops e minicursos.</a:t>
            </a:r>
          </a:p>
          <a:p>
            <a:r>
              <a:rPr lang="pt-BR" dirty="0"/>
              <a:t>Cada evento possui um código identificador único, título, data de realização, horário e carga horária. Todo evento acontece em uma única sala.</a:t>
            </a:r>
          </a:p>
          <a:p>
            <a:r>
              <a:rPr lang="pt-BR" dirty="0"/>
              <a:t>Cada sala possui número identificador, bloco e capacidade máxima de participantes.</a:t>
            </a:r>
          </a:p>
          <a:p>
            <a:r>
              <a:rPr lang="pt-BR" dirty="0"/>
              <a:t>Os eventos são organizados por professores da instituição. Cada professor possui um código único, nome, e-mail e departamento ao qual está vinculado. Um professor pode organizar vários eventos, mas cada evento possui apenas um professor responsável.</a:t>
            </a:r>
          </a:p>
          <a:p>
            <a:r>
              <a:rPr lang="pt-BR" dirty="0"/>
              <a:t>Os alunos podem se inscrever nos eventos. Cada aluno possui matrícula, nome e curso ao qual pertence.</a:t>
            </a:r>
          </a:p>
          <a:p>
            <a:r>
              <a:rPr lang="pt-BR" dirty="0"/>
              <a:t>Um aluno pode se inscrever em vários eventos, e cada evento pode ter vários alunos inscritos. No ato da inscrição, o sistema deve registrar a data da inscrição e a situação da inscrição (confirmada, cancelada ou lista de espera).</a:t>
            </a:r>
          </a:p>
          <a:p>
            <a:r>
              <a:rPr lang="pt-BR" dirty="0"/>
              <a:t>Após a realização do evento, os alunos que comparecerem recebem um certificado de participação. Para cada certificado deve ser registrado um número único e a data de emissão. O certificado está vinculado a um único aluno e a um único evento.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9643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B7866-1FC7-DF97-FD52-BE4834092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18" y="274638"/>
            <a:ext cx="9496174" cy="529230"/>
          </a:xfrm>
        </p:spPr>
        <p:txBody>
          <a:bodyPr>
            <a:normAutofit fontScale="90000"/>
          </a:bodyPr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926CEA-E79E-05A1-9F5B-8E8C00A85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8" y="937419"/>
            <a:ext cx="9596658" cy="4983161"/>
          </a:xfrm>
        </p:spPr>
        <p:txBody>
          <a:bodyPr>
            <a:noAutofit/>
          </a:bodyPr>
          <a:lstStyle/>
          <a:p>
            <a:r>
              <a:rPr lang="pt-BR" sz="1600" dirty="0"/>
              <a:t>Uma empresa está desenvolvendo uma plataforma de cursos online voltada para formação profissional. O sistema deverá permitir o cadastro de instrutores, cursos e alunos, além de controlar matrículas, avaliações e emissão de certificados.</a:t>
            </a:r>
          </a:p>
          <a:p>
            <a:r>
              <a:rPr lang="pt-BR" sz="1600" dirty="0"/>
              <a:t>Cada instrutor possui um identificador único, nome completo, e-mail, telefone e área de especialização. Um instrutor pode ministrar vários cursos, mas cada curso é ministrado por apenas um instrutor.</a:t>
            </a:r>
          </a:p>
          <a:p>
            <a:r>
              <a:rPr lang="pt-BR" sz="1600" dirty="0"/>
              <a:t>Cada curso é identificado por um código único e possui título, descrição, carga horária e preço. Os cursos são ofertados continuamente na plataforma.</a:t>
            </a:r>
          </a:p>
          <a:p>
            <a:r>
              <a:rPr lang="pt-BR" sz="1600" dirty="0"/>
              <a:t>Os alunos realizam cadastro na plataforma informando matrícula, nome, e-mail e data de nascimento. Um aluno pode se matricular em vários cursos ao mesmo tempo, e cada curso pode possuir vários alunos matriculados.</a:t>
            </a:r>
          </a:p>
          <a:p>
            <a:r>
              <a:rPr lang="pt-BR" sz="1600" dirty="0"/>
              <a:t>No momento em que um aluno se matricula em um curso, o sistema deve registrar a data da matrícula, a situação da matrícula (ativa, trancada ou concluída) e o percentual de progresso do aluno no curso.</a:t>
            </a:r>
          </a:p>
          <a:p>
            <a:r>
              <a:rPr lang="pt-BR" sz="1600" dirty="0"/>
              <a:t>Ao concluir um curso, o aluno pode registrar uma avaliação referente ao curso realizado. Para cada avaliação devem ser armazenados a nota atribuída (de 1 a 5), um comentário textual e a data da avaliação. Um aluno pode avaliar um curso apenas uma única vez.</a:t>
            </a:r>
          </a:p>
          <a:p>
            <a:r>
              <a:rPr lang="pt-BR" sz="1600" dirty="0"/>
              <a:t>Quando um aluno conclui um curso com sucesso, o sistema deve emitir um certificado. Cada certificado possui um código único e registra a data de emissão. Um certificado está vinculado a um aluno e a um curso específico</a:t>
            </a:r>
            <a:r>
              <a:rPr lang="pt-B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3908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06239D-38C6-ED77-BDF6-6CDD67D8B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7E1F91-7E8C-CC2C-A662-F3E0C65B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A locadora possui uma frota de veículos de diferentes categorias (econômico, SUV, utilitário etc.), cada um com placa, modelo, ano, cor e quilometragem atual. Os veículos pertencem a fornecedores que os disponibilizam para a frota.</a:t>
            </a:r>
          </a:p>
          <a:p>
            <a:r>
              <a:rPr lang="pt-BR" dirty="0"/>
              <a:t>Os clientes se cadastram informando seus dados pessoais e CNH. Um cliente pode realizar várias locações ao longo do tempo, mas uma locação envolve apenas um veículo por vez. Cada locação registra a data de retirada, data prevista de devolução, data real de devolução e o valor cobrado.</a:t>
            </a:r>
          </a:p>
          <a:p>
            <a:r>
              <a:rPr lang="pt-BR" dirty="0"/>
              <a:t>Ao devolver o veículo, o atendente responsável registra uma vistoria, anotando o estado geral do veículo e eventuais avarias encontradas. Cada avaria tem descrição e custo estimado de reparo.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42019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83ACF-9F02-AAF8-8695-4643EAF43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954C24-4B74-9C63-933B-8F8FD94A0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7" y="1600201"/>
            <a:ext cx="9604879" cy="4895602"/>
          </a:xfrm>
        </p:spPr>
        <p:txBody>
          <a:bodyPr>
            <a:normAutofit fontScale="55000" lnSpcReduction="20000"/>
          </a:bodyPr>
          <a:lstStyle/>
          <a:p>
            <a:r>
              <a:rPr lang="pt-BR" dirty="0"/>
              <a:t>Uma empresa de </a:t>
            </a:r>
            <a:r>
              <a:rPr lang="pt-BR" b="1" dirty="0"/>
              <a:t>e-commerce</a:t>
            </a:r>
            <a:r>
              <a:rPr lang="pt-BR" dirty="0"/>
              <a:t> comercializa diversos tipos de produtos, como eletrônicos, acessórios e livros.</a:t>
            </a:r>
          </a:p>
          <a:p>
            <a:r>
              <a:rPr lang="pt-BR" dirty="0"/>
              <a:t>Cada </a:t>
            </a:r>
            <a:r>
              <a:rPr lang="pt-BR" b="1" dirty="0"/>
              <a:t>produto</a:t>
            </a:r>
            <a:r>
              <a:rPr lang="pt-BR" dirty="0"/>
              <a:t> possui código, nome, descrição, preço e categoria.</a:t>
            </a:r>
          </a:p>
          <a:p>
            <a:r>
              <a:rPr lang="pt-BR" dirty="0"/>
              <a:t>Os produtos são armazenados em diferentes </a:t>
            </a:r>
            <a:r>
              <a:rPr lang="pt-BR" b="1" dirty="0"/>
              <a:t>estoques</a:t>
            </a:r>
            <a:r>
              <a:rPr lang="pt-BR" dirty="0"/>
              <a:t>, que podem estar localizados em diferentes cidades e estados. Cada estoque possui identificação e localização geográfica.</a:t>
            </a:r>
          </a:p>
          <a:p>
            <a:r>
              <a:rPr lang="pt-BR" dirty="0"/>
              <a:t>Um mesmo produto pode estar disponível em vários estoques, e cada estoque pode armazenar vários produtos, sendo necessário controlar a </a:t>
            </a:r>
            <a:r>
              <a:rPr lang="pt-BR" b="1" dirty="0"/>
              <a:t>quantidade disponível</a:t>
            </a:r>
            <a:r>
              <a:rPr lang="pt-BR" dirty="0"/>
              <a:t> de cada produto em cada estoque.</a:t>
            </a:r>
          </a:p>
          <a:p>
            <a:r>
              <a:rPr lang="pt-BR" dirty="0"/>
              <a:t>Os clientes realizam </a:t>
            </a:r>
            <a:r>
              <a:rPr lang="pt-BR" b="1" dirty="0"/>
              <a:t>compras</a:t>
            </a:r>
            <a:r>
              <a:rPr lang="pt-BR" dirty="0"/>
              <a:t> na plataforma. Cada cliente possui dados como nome, e-mail e endereço.</a:t>
            </a:r>
          </a:p>
          <a:p>
            <a:r>
              <a:rPr lang="pt-BR" dirty="0"/>
              <a:t>Uma compra pode conter vários produtos, e para cada produto comprado deve ser registrado a quantidade e o preço no momento da venda.</a:t>
            </a:r>
          </a:p>
          <a:p>
            <a:r>
              <a:rPr lang="pt-BR" dirty="0"/>
              <a:t>Após a entrega, o cliente pode realizar uma </a:t>
            </a:r>
            <a:r>
              <a:rPr lang="pt-BR" b="1" dirty="0"/>
              <a:t>avaliação</a:t>
            </a:r>
            <a:r>
              <a:rPr lang="pt-BR" dirty="0"/>
              <a:t> da compra, atribuindo uma nota e um comentário.</a:t>
            </a:r>
          </a:p>
          <a:p>
            <a:r>
              <a:rPr lang="pt-BR" dirty="0"/>
              <a:t>O sistema também deve permitir o registro de </a:t>
            </a:r>
            <a:r>
              <a:rPr lang="pt-BR" b="1" dirty="0"/>
              <a:t>histórico de vendas dos produtos</a:t>
            </a:r>
            <a:r>
              <a:rPr lang="pt-BR" dirty="0"/>
              <a:t>, para apoiar decisões futuras de reposição de estoque.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24131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8C2F8DA8-B3BF-6F59-64BE-3E4B529BA96F}"/>
              </a:ext>
            </a:extLst>
          </p:cNvPr>
          <p:cNvSpPr txBox="1"/>
          <p:nvPr/>
        </p:nvSpPr>
        <p:spPr>
          <a:xfrm>
            <a:off x="2131142" y="2351971"/>
            <a:ext cx="6130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pt-BR" dirty="0"/>
              <a:t>Finalizando...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BEC24D3-0E93-54BD-2DC8-5EC5207F56D1}"/>
              </a:ext>
            </a:extLst>
          </p:cNvPr>
          <p:cNvSpPr txBox="1"/>
          <p:nvPr/>
        </p:nvSpPr>
        <p:spPr>
          <a:xfrm>
            <a:off x="6492977" y="6121881"/>
            <a:ext cx="3050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alison.filgueiras@ueg.br</a:t>
            </a:r>
            <a:endParaRPr lang="pt-BR" dirty="0"/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98CFABA-33AD-A138-F4DC-E166AF8C5AE6}"/>
              </a:ext>
            </a:extLst>
          </p:cNvPr>
          <p:cNvSpPr txBox="1"/>
          <p:nvPr/>
        </p:nvSpPr>
        <p:spPr>
          <a:xfrm>
            <a:off x="6478229" y="5739947"/>
            <a:ext cx="6130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Obrigado,</a:t>
            </a:r>
          </a:p>
        </p:txBody>
      </p:sp>
    </p:spTree>
    <p:extLst>
      <p:ext uri="{BB962C8B-B14F-4D97-AF65-F5344CB8AC3E}">
        <p14:creationId xmlns:p14="http://schemas.microsoft.com/office/powerpoint/2010/main" val="68042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04AD4-52FA-0C3F-FC46-A14A82D5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8AF403-7A8E-F679-149D-9BF3C5107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60297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a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presentacao_IA_Ueg_2026.pptx - v2.pptx" id="{D6C7F5A4-D091-4E56-A7F0-EDD44F63FA2A}" vid="{03A85EFB-0979-4035-9C6F-924D8F58E56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apresentacao_ueg_2026</Template>
  <TotalTime>4140</TotalTime>
  <Words>1886</Words>
  <Application>Microsoft Office PowerPoint</Application>
  <PresentationFormat>Widescreen</PresentationFormat>
  <Paragraphs>119</Paragraphs>
  <Slides>27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3" baseType="lpstr">
      <vt:lpstr>Aptos</vt:lpstr>
      <vt:lpstr>Arial</vt:lpstr>
      <vt:lpstr>Montserrat</vt:lpstr>
      <vt:lpstr>Open Sans</vt:lpstr>
      <vt:lpstr>Wingdings</vt:lpstr>
      <vt:lpstr>Tema do Office</vt:lpstr>
      <vt:lpstr>Apresentação do PowerPoint</vt:lpstr>
      <vt:lpstr>Objetivos do encontro</vt:lpstr>
      <vt:lpstr>Projeto lógico: objetivos</vt:lpstr>
      <vt:lpstr>Modelo Lógico</vt:lpstr>
      <vt:lpstr>Modelo Lógico</vt:lpstr>
      <vt:lpstr>Modelo Lógico</vt:lpstr>
      <vt:lpstr>Textual</vt:lpstr>
      <vt:lpstr>Diagramáticas</vt:lpstr>
      <vt:lpstr>Transformação de entidades e atributos</vt:lpstr>
      <vt:lpstr>Transformação de entidades</vt:lpstr>
      <vt:lpstr>Chave estrangeira</vt:lpstr>
      <vt:lpstr>Implementação dos relacionamentos</vt:lpstr>
      <vt:lpstr>Implementação dos relacionamentos</vt:lpstr>
      <vt:lpstr>Fusão de tabelas</vt:lpstr>
      <vt:lpstr>Mapeamento dos relacionamentos</vt:lpstr>
      <vt:lpstr>Mapeamento dos relacionamentos</vt:lpstr>
      <vt:lpstr>Mapeamento dos relacionamentos</vt:lpstr>
      <vt:lpstr>Exercícios</vt:lpstr>
      <vt:lpstr>Exercício</vt:lpstr>
      <vt:lpstr>Exercício</vt:lpstr>
      <vt:lpstr>Exercício</vt:lpstr>
      <vt:lpstr>Exercício</vt:lpstr>
      <vt:lpstr>Exercício</vt:lpstr>
      <vt:lpstr>Exercício</vt:lpstr>
      <vt:lpstr>Exercício</vt:lpstr>
      <vt:lpstr>Apresentação do PowerPoint</vt:lpstr>
      <vt:lpstr>Referências bibliográficas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Office</dc:creator>
  <cp:keywords/>
  <dc:description>generated using python-pptx</dc:description>
  <cp:lastModifiedBy>Office</cp:lastModifiedBy>
  <cp:revision>32</cp:revision>
  <dcterms:created xsi:type="dcterms:W3CDTF">2026-02-08T00:22:46Z</dcterms:created>
  <dcterms:modified xsi:type="dcterms:W3CDTF">2026-09-09T00:37:33Z</dcterms:modified>
  <cp:category/>
</cp:coreProperties>
</file>