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315" r:id="rId3"/>
    <p:sldId id="379" r:id="rId4"/>
    <p:sldId id="380" r:id="rId5"/>
    <p:sldId id="381" r:id="rId6"/>
    <p:sldId id="382" r:id="rId7"/>
    <p:sldId id="383" r:id="rId8"/>
    <p:sldId id="384" r:id="rId9"/>
    <p:sldId id="385" r:id="rId10"/>
    <p:sldId id="386" r:id="rId11"/>
    <p:sldId id="317" r:id="rId12"/>
    <p:sldId id="387" r:id="rId13"/>
    <p:sldId id="332" r:id="rId14"/>
    <p:sldId id="376" r:id="rId15"/>
    <p:sldId id="377" r:id="rId16"/>
    <p:sldId id="367" r:id="rId17"/>
    <p:sldId id="365" r:id="rId18"/>
    <p:sldId id="375" r:id="rId19"/>
    <p:sldId id="333" r:id="rId20"/>
    <p:sldId id="306" r:id="rId21"/>
    <p:sldId id="28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3E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90" autoAdjust="0"/>
    <p:restoredTop sz="86467" autoAdjust="0"/>
  </p:normalViewPr>
  <p:slideViewPr>
    <p:cSldViewPr snapToGrid="0" snapToObjects="1">
      <p:cViewPr varScale="1">
        <p:scale>
          <a:sx n="54" d="100"/>
          <a:sy n="54" d="100"/>
        </p:scale>
        <p:origin x="400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6D7C45-680E-4489-80EB-BBEA1434BA56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7C9F70-A0BE-4079-B8B5-04DAAB5E5C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806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C4230-3B91-1C8D-F08D-4655FC425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9EB80A5-E01D-CE99-6EC3-5A1280DA00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9631D40-A544-2390-910E-55A420621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85E8625-DB38-9FC6-AD8E-9B6B6DB4FA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7282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82E3D-E612-E936-2F5A-7F550D12C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EA12B43-CBCD-AB1F-1402-2422E31E2D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F1CC15A-95AB-B706-5641-64F4D52570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DEA2A8-ABBE-FD09-8C00-7563B9E425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5857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1A7D0-BA7A-E925-219C-ED27650DF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AB5D480-ACD8-DE96-498F-61CCC9CCD1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0397EAF-47E0-89EA-CDEF-1C0AC8BC74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B37849A-5675-6A1F-52B7-2A4E00A90F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3253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84598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76238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22420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19148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63420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3000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792" y="2130426"/>
            <a:ext cx="984274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792" y="3864634"/>
            <a:ext cx="984274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76883" y="6356351"/>
            <a:ext cx="192464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657" y="4406901"/>
            <a:ext cx="982877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657" y="2906713"/>
            <a:ext cx="982877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1017" y="1552577"/>
            <a:ext cx="464917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6437" y="1561383"/>
            <a:ext cx="454899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017" y="1535113"/>
            <a:ext cx="508049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8166" y="2174875"/>
            <a:ext cx="505334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91509" y="1535113"/>
            <a:ext cx="5149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92381" y="2174875"/>
            <a:ext cx="487305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797" y="273051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5737" y="273051"/>
            <a:ext cx="565892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9797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166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38166" y="685800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8166" y="5366035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1017" y="274638"/>
            <a:ext cx="995441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017" y="1600201"/>
            <a:ext cx="995441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8166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7017" y="6356351"/>
            <a:ext cx="35024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40785" y="6356351"/>
            <a:ext cx="192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pic>
        <p:nvPicPr>
          <p:cNvPr id="1031" name="Imagem 1030" descr="Tela de celula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750F0E33-6D96-819A-F084-8DC047D0F98C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340136" y="0"/>
            <a:ext cx="1851863" cy="5763853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14B44035-AFE9-B53C-C283-0D620D4577F8}"/>
              </a:ext>
            </a:extLst>
          </p:cNvPr>
          <p:cNvSpPr/>
          <p:nvPr userDrawn="1"/>
        </p:nvSpPr>
        <p:spPr>
          <a:xfrm>
            <a:off x="10363200" y="5753819"/>
            <a:ext cx="1828800" cy="1104181"/>
          </a:xfrm>
          <a:prstGeom prst="rect">
            <a:avLst/>
          </a:prstGeom>
          <a:solidFill>
            <a:schemeClr val="tx2">
              <a:lumMod val="75000"/>
            </a:schemeClr>
          </a:solidFill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Picture 2" descr="Universidade Estadual de Goiás">
            <a:extLst>
              <a:ext uri="{FF2B5EF4-FFF2-40B4-BE49-F238E27FC236}">
                <a16:creationId xmlns:a16="http://schemas.microsoft.com/office/drawing/2014/main" id="{18AB2DC8-328B-1683-CA2B-023A50B2F2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4217" y="6418144"/>
            <a:ext cx="1206766" cy="365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just" defTabSz="457200" rtl="0" eaLnBrk="1" latinLnBrk="0" hangingPunct="1"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just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just" defTabSz="457200" rtl="0" eaLnBrk="1" latinLnBrk="0" hangingPunct="1">
        <a:spcBef>
          <a:spcPct val="20000"/>
        </a:spcBef>
        <a:buFont typeface="Arial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457200" rtl="0" eaLnBrk="1" latinLnBrk="0" hangingPunct="1">
        <a:spcBef>
          <a:spcPct val="20000"/>
        </a:spcBef>
        <a:buFont typeface="Arial"/>
        <a:buChar char="–"/>
        <a:defRPr sz="2000" u="sng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mailto:alison.filgueiras@ueg.br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38D8062-D185-A225-A53A-B6501DA3323D}"/>
              </a:ext>
            </a:extLst>
          </p:cNvPr>
          <p:cNvSpPr txBox="1"/>
          <p:nvPr/>
        </p:nvSpPr>
        <p:spPr>
          <a:xfrm>
            <a:off x="1097280" y="1359568"/>
            <a:ext cx="5888150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600" b="1" dirty="0"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Bancos de Dados I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665C5E3-E48B-49FC-3351-D42F2E92F8A1}"/>
              </a:ext>
            </a:extLst>
          </p:cNvPr>
          <p:cNvSpPr txBox="1"/>
          <p:nvPr/>
        </p:nvSpPr>
        <p:spPr>
          <a:xfrm>
            <a:off x="1097279" y="2159787"/>
            <a:ext cx="7640233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600" b="1" dirty="0">
                <a:solidFill>
                  <a:srgbClr val="3E3EEC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Sistemas de Informação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BF2CD0B-5541-7125-8B87-C1ED8D1E3A78}"/>
              </a:ext>
            </a:extLst>
          </p:cNvPr>
          <p:cNvSpPr txBox="1"/>
          <p:nvPr/>
        </p:nvSpPr>
        <p:spPr>
          <a:xfrm>
            <a:off x="1085705" y="3437059"/>
            <a:ext cx="6135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Introdução e fundamentos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0FC8993-9C43-CF86-EBF5-D44B006FFB99}"/>
              </a:ext>
            </a:extLst>
          </p:cNvPr>
          <p:cNvSpPr txBox="1"/>
          <p:nvPr/>
        </p:nvSpPr>
        <p:spPr>
          <a:xfrm>
            <a:off x="960119" y="6115551"/>
            <a:ext cx="61356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Alison Filgueiras</a:t>
            </a:r>
          </a:p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Professor | UEG</a:t>
            </a:r>
          </a:p>
        </p:txBody>
      </p:sp>
      <p:grpSp>
        <p:nvGrpSpPr>
          <p:cNvPr id="1034" name="Agrupar 1033">
            <a:extLst>
              <a:ext uri="{FF2B5EF4-FFF2-40B4-BE49-F238E27FC236}">
                <a16:creationId xmlns:a16="http://schemas.microsoft.com/office/drawing/2014/main" id="{F2684B3C-CED0-121B-CAF8-575122981630}"/>
              </a:ext>
            </a:extLst>
          </p:cNvPr>
          <p:cNvGrpSpPr/>
          <p:nvPr/>
        </p:nvGrpSpPr>
        <p:grpSpPr>
          <a:xfrm>
            <a:off x="226700" y="6103288"/>
            <a:ext cx="685800" cy="615554"/>
            <a:chOff x="226700" y="6103288"/>
            <a:chExt cx="685800" cy="615554"/>
          </a:xfrm>
        </p:grpSpPr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85D935DD-DDDA-FF65-63FD-530CB8DBE80E}"/>
                </a:ext>
              </a:extLst>
            </p:cNvPr>
            <p:cNvSpPr/>
            <p:nvPr/>
          </p:nvSpPr>
          <p:spPr>
            <a:xfrm>
              <a:off x="226700" y="6103288"/>
              <a:ext cx="685800" cy="61555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0" name="Gráfico 19" descr="Usuário com preenchimento sólido">
              <a:extLst>
                <a:ext uri="{FF2B5EF4-FFF2-40B4-BE49-F238E27FC236}">
                  <a16:creationId xmlns:a16="http://schemas.microsoft.com/office/drawing/2014/main" id="{C66295BE-8410-F15A-A753-03D0AB13BBA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63414" y="6204878"/>
              <a:ext cx="412373" cy="412373"/>
            </a:xfrm>
            <a:prstGeom prst="rect">
              <a:avLst/>
            </a:prstGeom>
          </p:spPr>
        </p:pic>
      </p:grpSp>
      <p:sp>
        <p:nvSpPr>
          <p:cNvPr id="24" name="Retângulo 23">
            <a:extLst>
              <a:ext uri="{FF2B5EF4-FFF2-40B4-BE49-F238E27FC236}">
                <a16:creationId xmlns:a16="http://schemas.microsoft.com/office/drawing/2014/main" id="{A679D320-6A19-BA43-1417-38BF23578455}"/>
              </a:ext>
            </a:extLst>
          </p:cNvPr>
          <p:cNvSpPr/>
          <p:nvPr/>
        </p:nvSpPr>
        <p:spPr>
          <a:xfrm>
            <a:off x="1212352" y="3088519"/>
            <a:ext cx="1009639" cy="81561"/>
          </a:xfrm>
          <a:prstGeom prst="rect">
            <a:avLst/>
          </a:prstGeom>
          <a:solidFill>
            <a:srgbClr val="3E3EE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5" name="Imagem 1024" descr="Palco com luzes azuis&#10;&#10;O conteúdo gerado por IA pode estar incorreto.">
            <a:extLst>
              <a:ext uri="{FF2B5EF4-FFF2-40B4-BE49-F238E27FC236}">
                <a16:creationId xmlns:a16="http://schemas.microsoft.com/office/drawing/2014/main" id="{B9266E90-32F5-C287-214F-67EC1490E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9165" y="0"/>
            <a:ext cx="2391109" cy="3972479"/>
          </a:xfrm>
          <a:prstGeom prst="rect">
            <a:avLst/>
          </a:prstGeom>
        </p:spPr>
      </p:pic>
      <p:pic>
        <p:nvPicPr>
          <p:cNvPr id="1027" name="Imagem 1026" descr="Lousa com letras e números em fundo preto&#10;&#10;O conteúdo gerado por IA pode estar incorreto.">
            <a:extLst>
              <a:ext uri="{FF2B5EF4-FFF2-40B4-BE49-F238E27FC236}">
                <a16:creationId xmlns:a16="http://schemas.microsoft.com/office/drawing/2014/main" id="{A4B543E0-C29B-E196-B7C7-5E66271B51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9164" y="3928750"/>
            <a:ext cx="2391109" cy="4182059"/>
          </a:xfrm>
          <a:prstGeom prst="rect">
            <a:avLst/>
          </a:prstGeom>
        </p:spPr>
      </p:pic>
      <p:sp>
        <p:nvSpPr>
          <p:cNvPr id="1029" name="AutoShape 6" descr="Imagem de ">
            <a:extLst>
              <a:ext uri="{FF2B5EF4-FFF2-40B4-BE49-F238E27FC236}">
                <a16:creationId xmlns:a16="http://schemas.microsoft.com/office/drawing/2014/main" id="{9EAD35B4-A30E-3E1D-0195-D40D66F1CC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" name="Picture 2" descr="Universidade Estadual de Goiás">
            <a:extLst>
              <a:ext uri="{FF2B5EF4-FFF2-40B4-BE49-F238E27FC236}">
                <a16:creationId xmlns:a16="http://schemas.microsoft.com/office/drawing/2014/main" id="{2A0A8953-2E8B-09AD-FF7B-0FC207565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4217" y="6418144"/>
            <a:ext cx="1206766" cy="365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1BFCD8B-611F-E161-11A6-C23A82F6C4E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8008" y="168620"/>
            <a:ext cx="9954417" cy="1143000"/>
          </a:xfrm>
        </p:spPr>
        <p:txBody>
          <a:bodyPr/>
          <a:lstStyle/>
          <a:p>
            <a:r>
              <a:rPr lang="pt-BR" dirty="0"/>
              <a:t>Objetivos</a:t>
            </a:r>
            <a:r>
              <a:rPr lang="pt-BR" baseline="0" dirty="0"/>
              <a:t> do encontro</a:t>
            </a:r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D3FEDF3-A8A2-12B5-77A6-DD23F1E58EB5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>
            <a:normAutofit/>
          </a:bodyPr>
          <a:lstStyle/>
          <a:p>
            <a:r>
              <a:rPr lang="pt-BR" dirty="0"/>
              <a:t>Discutir dependência funcional, normalização, modelo físico e introdução à SQL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49820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B9631-2776-A2BD-8E40-F5E105260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44F6B7-30B1-7F66-32C0-4F179F69F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Dependência funcional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EF9C35-DBC1-2A71-45C3-4349A7C67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Uma dependência funcional ocorre quando um atributo determina outro</a:t>
            </a:r>
          </a:p>
          <a:p>
            <a:r>
              <a:rPr lang="pt-BR" dirty="0"/>
              <a:t>Se eu sei A eu consigo B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F8FF187-B69F-A321-8969-417B621A2911}"/>
              </a:ext>
            </a:extLst>
          </p:cNvPr>
          <p:cNvSpPr txBox="1"/>
          <p:nvPr/>
        </p:nvSpPr>
        <p:spPr>
          <a:xfrm>
            <a:off x="4321870" y="3397892"/>
            <a:ext cx="14061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A </a:t>
            </a:r>
            <a:r>
              <a:rPr lang="pt-BR" sz="3200" dirty="0">
                <a:sym typeface="Wingdings" panose="05000000000000000000" pitchFamily="2" charset="2"/>
              </a:rPr>
              <a:t> B</a:t>
            </a:r>
            <a:endParaRPr lang="pt-BR" sz="3200" dirty="0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7D76082F-57B5-966E-BCE8-A8F01F662E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323551"/>
              </p:ext>
            </p:extLst>
          </p:nvPr>
        </p:nvGraphicFramePr>
        <p:xfrm>
          <a:off x="1057610" y="4134738"/>
          <a:ext cx="8398119" cy="126067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49272">
                  <a:extLst>
                    <a:ext uri="{9D8B030D-6E8A-4147-A177-3AD203B41FA5}">
                      <a16:colId xmlns:a16="http://schemas.microsoft.com/office/drawing/2014/main" val="2020286709"/>
                    </a:ext>
                  </a:extLst>
                </a:gridCol>
                <a:gridCol w="4270663">
                  <a:extLst>
                    <a:ext uri="{9D8B030D-6E8A-4147-A177-3AD203B41FA5}">
                      <a16:colId xmlns:a16="http://schemas.microsoft.com/office/drawing/2014/main" val="73812423"/>
                    </a:ext>
                  </a:extLst>
                </a:gridCol>
                <a:gridCol w="2078184">
                  <a:extLst>
                    <a:ext uri="{9D8B030D-6E8A-4147-A177-3AD203B41FA5}">
                      <a16:colId xmlns:a16="http://schemas.microsoft.com/office/drawing/2014/main" val="2276893396"/>
                    </a:ext>
                  </a:extLst>
                </a:gridCol>
              </a:tblGrid>
              <a:tr h="620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u="sng" dirty="0"/>
                        <a:t>ISBN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Título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Edição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524563"/>
                  </a:ext>
                </a:extLst>
              </a:tr>
              <a:tr h="620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978-0133970777</a:t>
                      </a:r>
                      <a:endParaRPr lang="pt-BR" u="sn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Fundamentals </a:t>
                      </a:r>
                      <a:r>
                        <a:rPr lang="pt-BR" dirty="0" err="1"/>
                        <a:t>of</a:t>
                      </a:r>
                      <a:r>
                        <a:rPr lang="pt-BR" dirty="0"/>
                        <a:t> </a:t>
                      </a:r>
                      <a:r>
                        <a:rPr lang="pt-BR" dirty="0" err="1"/>
                        <a:t>Database</a:t>
                      </a:r>
                      <a:r>
                        <a:rPr lang="pt-BR" dirty="0"/>
                        <a:t>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7083544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79431F02-C9F4-3F9B-A47D-EA9B1CAF0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2031" y="5847062"/>
            <a:ext cx="419910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altLang="pt-BR" b="1" dirty="0">
                <a:latin typeface="Arial" panose="020B0604020202020204" pitchFamily="34" charset="0"/>
              </a:rPr>
              <a:t>T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otal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depende da chave inteira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Parcial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 → depende de parte da chave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Transitiva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 → depende indiretamente </a:t>
            </a:r>
          </a:p>
        </p:txBody>
      </p:sp>
    </p:spTree>
    <p:extLst>
      <p:ext uri="{BB962C8B-B14F-4D97-AF65-F5344CB8AC3E}">
        <p14:creationId xmlns:p14="http://schemas.microsoft.com/office/powerpoint/2010/main" val="905225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58A74-D0DB-1434-03A4-F71E26BDF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A6D8A1-7EAC-087F-A811-60D995936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Dependência funcional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CF94BC-D381-8BEB-6913-D389D17AA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Uma dependência funcional é </a:t>
            </a:r>
            <a:r>
              <a:rPr lang="pt-BR" b="1" dirty="0"/>
              <a:t>parcial</a:t>
            </a:r>
            <a:r>
              <a:rPr lang="pt-BR" dirty="0"/>
              <a:t> quando há uma dependência de apenas uma das chaves (quando é múltipla)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6DCA44B-2FBC-4055-4995-09B7C4FDD4E8}"/>
              </a:ext>
            </a:extLst>
          </p:cNvPr>
          <p:cNvSpPr txBox="1"/>
          <p:nvPr/>
        </p:nvSpPr>
        <p:spPr>
          <a:xfrm>
            <a:off x="2908707" y="3388247"/>
            <a:ext cx="45175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Itens de empréstimo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280052EF-6999-DDD9-2C55-798868D11C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420786"/>
              </p:ext>
            </p:extLst>
          </p:nvPr>
        </p:nvGraphicFramePr>
        <p:xfrm>
          <a:off x="1057610" y="4134738"/>
          <a:ext cx="8720235" cy="12411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27873">
                  <a:extLst>
                    <a:ext uri="{9D8B030D-6E8A-4147-A177-3AD203B41FA5}">
                      <a16:colId xmlns:a16="http://schemas.microsoft.com/office/drawing/2014/main" val="2020286709"/>
                    </a:ext>
                  </a:extLst>
                </a:gridCol>
                <a:gridCol w="1583944">
                  <a:extLst>
                    <a:ext uri="{9D8B030D-6E8A-4147-A177-3AD203B41FA5}">
                      <a16:colId xmlns:a16="http://schemas.microsoft.com/office/drawing/2014/main" val="73812423"/>
                    </a:ext>
                  </a:extLst>
                </a:gridCol>
                <a:gridCol w="2441864">
                  <a:extLst>
                    <a:ext uri="{9D8B030D-6E8A-4147-A177-3AD203B41FA5}">
                      <a16:colId xmlns:a16="http://schemas.microsoft.com/office/drawing/2014/main" val="1291049209"/>
                    </a:ext>
                  </a:extLst>
                </a:gridCol>
                <a:gridCol w="1298864">
                  <a:extLst>
                    <a:ext uri="{9D8B030D-6E8A-4147-A177-3AD203B41FA5}">
                      <a16:colId xmlns:a16="http://schemas.microsoft.com/office/drawing/2014/main" val="2276893396"/>
                    </a:ext>
                  </a:extLst>
                </a:gridCol>
                <a:gridCol w="1267690">
                  <a:extLst>
                    <a:ext uri="{9D8B030D-6E8A-4147-A177-3AD203B41FA5}">
                      <a16:colId xmlns:a16="http://schemas.microsoft.com/office/drawing/2014/main" val="2297043430"/>
                    </a:ext>
                  </a:extLst>
                </a:gridCol>
              </a:tblGrid>
              <a:tr h="620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u="sng" dirty="0">
                          <a:solidFill>
                            <a:srgbClr val="FF0000"/>
                          </a:solidFill>
                        </a:rPr>
                        <a:t>ISBN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u="sng" dirty="0" err="1"/>
                        <a:t>idEmprestimo</a:t>
                      </a:r>
                      <a:endParaRPr lang="pt-BR" sz="1400" u="sng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titulo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 err="1"/>
                        <a:t>dev_prev</a:t>
                      </a:r>
                      <a:endParaRPr lang="pt-BR" sz="14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 err="1"/>
                        <a:t>dev_final</a:t>
                      </a:r>
                      <a:endParaRPr lang="pt-BR" sz="14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524563"/>
                  </a:ext>
                </a:extLst>
              </a:tr>
              <a:tr h="620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978-0133970777</a:t>
                      </a:r>
                      <a:endParaRPr lang="pt-BR" sz="1400" u="sng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u="sng" dirty="0"/>
                        <a:t>17812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Fundamentals </a:t>
                      </a:r>
                      <a:r>
                        <a:rPr lang="pt-BR" sz="1400" dirty="0" err="1">
                          <a:solidFill>
                            <a:srgbClr val="FF0000"/>
                          </a:solidFill>
                        </a:rPr>
                        <a:t>of</a:t>
                      </a:r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pt-BR" sz="1400" dirty="0" err="1">
                          <a:solidFill>
                            <a:srgbClr val="FF0000"/>
                          </a:solidFill>
                        </a:rPr>
                        <a:t>Database</a:t>
                      </a:r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/>
                        <a:t>07/05/2025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/>
                        <a:t>09/05/2025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7083544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B9C4BFF1-3546-8698-1FEE-7C50DD646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2031" y="5847062"/>
            <a:ext cx="419910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altLang="pt-BR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T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otal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 → depende da chave inteira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Parcial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→ depende de parte da chave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Transitiva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 → depende indiretamente </a:t>
            </a:r>
          </a:p>
        </p:txBody>
      </p:sp>
    </p:spTree>
    <p:extLst>
      <p:ext uri="{BB962C8B-B14F-4D97-AF65-F5344CB8AC3E}">
        <p14:creationId xmlns:p14="http://schemas.microsoft.com/office/powerpoint/2010/main" val="2702812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EB8D7-B161-D6C0-6D63-E2830E656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29137D-F1A4-F08B-10B4-58709EA4A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Dependência funcional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144F39-DE11-0BBE-F981-D41D34E40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Uma dependência funcional é </a:t>
            </a:r>
            <a:r>
              <a:rPr lang="pt-BR" b="1" dirty="0"/>
              <a:t>transitiva</a:t>
            </a:r>
            <a:r>
              <a:rPr lang="pt-BR" dirty="0"/>
              <a:t> quando há uma dependência indireta de uma coluna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2968920-684F-0F91-64C1-9973E2B93C94}"/>
              </a:ext>
            </a:extLst>
          </p:cNvPr>
          <p:cNvSpPr txBox="1"/>
          <p:nvPr/>
        </p:nvSpPr>
        <p:spPr>
          <a:xfrm>
            <a:off x="2908707" y="3388247"/>
            <a:ext cx="2759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Empréstimo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23EF5675-E408-41A0-F35D-8FE54525F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703563"/>
              </p:ext>
            </p:extLst>
          </p:nvPr>
        </p:nvGraphicFramePr>
        <p:xfrm>
          <a:off x="1057610" y="4134738"/>
          <a:ext cx="8720235" cy="12411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27873">
                  <a:extLst>
                    <a:ext uri="{9D8B030D-6E8A-4147-A177-3AD203B41FA5}">
                      <a16:colId xmlns:a16="http://schemas.microsoft.com/office/drawing/2014/main" val="2020286709"/>
                    </a:ext>
                  </a:extLst>
                </a:gridCol>
                <a:gridCol w="1583944">
                  <a:extLst>
                    <a:ext uri="{9D8B030D-6E8A-4147-A177-3AD203B41FA5}">
                      <a16:colId xmlns:a16="http://schemas.microsoft.com/office/drawing/2014/main" val="73812423"/>
                    </a:ext>
                  </a:extLst>
                </a:gridCol>
                <a:gridCol w="1220932">
                  <a:extLst>
                    <a:ext uri="{9D8B030D-6E8A-4147-A177-3AD203B41FA5}">
                      <a16:colId xmlns:a16="http://schemas.microsoft.com/office/drawing/2014/main" val="1291049209"/>
                    </a:ext>
                  </a:extLst>
                </a:gridCol>
                <a:gridCol w="1522268">
                  <a:extLst>
                    <a:ext uri="{9D8B030D-6E8A-4147-A177-3AD203B41FA5}">
                      <a16:colId xmlns:a16="http://schemas.microsoft.com/office/drawing/2014/main" val="1268010583"/>
                    </a:ext>
                  </a:extLst>
                </a:gridCol>
                <a:gridCol w="997528">
                  <a:extLst>
                    <a:ext uri="{9D8B030D-6E8A-4147-A177-3AD203B41FA5}">
                      <a16:colId xmlns:a16="http://schemas.microsoft.com/office/drawing/2014/main" val="2276893396"/>
                    </a:ext>
                  </a:extLst>
                </a:gridCol>
                <a:gridCol w="1267690">
                  <a:extLst>
                    <a:ext uri="{9D8B030D-6E8A-4147-A177-3AD203B41FA5}">
                      <a16:colId xmlns:a16="http://schemas.microsoft.com/office/drawing/2014/main" val="2297043430"/>
                    </a:ext>
                  </a:extLst>
                </a:gridCol>
              </a:tblGrid>
              <a:tr h="620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u="sng" dirty="0" err="1"/>
                        <a:t>idEmprestimo</a:t>
                      </a:r>
                      <a:endParaRPr lang="pt-BR" sz="1400" u="sng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u="none" dirty="0"/>
                        <a:t>Data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atendente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setor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/>
                        <a:t>status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 err="1"/>
                        <a:t>qtd_itens</a:t>
                      </a:r>
                      <a:endParaRPr lang="pt-BR" sz="14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524563"/>
                  </a:ext>
                </a:extLst>
              </a:tr>
              <a:tr h="620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0" i="0" u="sng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17812</a:t>
                      </a:r>
                      <a:endParaRPr lang="pt-BR" sz="1400" u="sn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u="none" dirty="0"/>
                        <a:t>01/05/2025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Joana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Atendimento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/>
                        <a:t>Aberto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7083544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CD62B1C9-C82A-76B2-9E5A-2EF8C405A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2031" y="5847062"/>
            <a:ext cx="4199103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altLang="pt-BR" b="1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</a:rPr>
              <a:t>T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otal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→ depende da chave inteira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Parcial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→ depende de parte da chave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Transitiva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→ depende indiretamente </a:t>
            </a:r>
          </a:p>
        </p:txBody>
      </p:sp>
    </p:spTree>
    <p:extLst>
      <p:ext uri="{BB962C8B-B14F-4D97-AF65-F5344CB8AC3E}">
        <p14:creationId xmlns:p14="http://schemas.microsoft.com/office/powerpoint/2010/main" val="322540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3C2ADD-C0FF-E06C-B43C-0037031E7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Normalização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7EA39C-3D42-6699-AAF8-938728BCE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Processo de organizar tabelas para:</a:t>
            </a:r>
          </a:p>
          <a:p>
            <a:r>
              <a:rPr lang="pt-BR" dirty="0"/>
              <a:t>Reduzir redundância </a:t>
            </a:r>
          </a:p>
          <a:p>
            <a:r>
              <a:rPr lang="pt-BR" dirty="0"/>
              <a:t>Evitar anomalias </a:t>
            </a:r>
          </a:p>
          <a:p>
            <a:r>
              <a:rPr lang="pt-BR" dirty="0"/>
              <a:t>Garantir consistência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511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FED567-533A-C69F-7BD5-877AEF40B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Primeira Forma Normal (1FN)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69BD5E-47B9-EFD6-7324-B6DE1E8A3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Não ter atributos multivalorados ou repetidos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00334085-C19D-A646-ED03-ED2B871B19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311451"/>
              </p:ext>
            </p:extLst>
          </p:nvPr>
        </p:nvGraphicFramePr>
        <p:xfrm>
          <a:off x="878774" y="2458192"/>
          <a:ext cx="8858992" cy="970808"/>
        </p:xfrm>
        <a:graphic>
          <a:graphicData uri="http://schemas.openxmlformats.org/drawingml/2006/table">
            <a:tbl>
              <a:tblPr/>
              <a:tblGrid>
                <a:gridCol w="4429496">
                  <a:extLst>
                    <a:ext uri="{9D8B030D-6E8A-4147-A177-3AD203B41FA5}">
                      <a16:colId xmlns:a16="http://schemas.microsoft.com/office/drawing/2014/main" val="386229564"/>
                    </a:ext>
                  </a:extLst>
                </a:gridCol>
                <a:gridCol w="4429496">
                  <a:extLst>
                    <a:ext uri="{9D8B030D-6E8A-4147-A177-3AD203B41FA5}">
                      <a16:colId xmlns:a16="http://schemas.microsoft.com/office/drawing/2014/main" val="3778236330"/>
                    </a:ext>
                  </a:extLst>
                </a:gridCol>
              </a:tblGrid>
              <a:tr h="485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/>
                        <a:t>Nome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Telefones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544785"/>
                  </a:ext>
                </a:extLst>
              </a:tr>
              <a:tr h="485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/>
                        <a:t>João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/>
                        <a:t>9999, 8888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286146"/>
                  </a:ext>
                </a:extLst>
              </a:tr>
            </a:tbl>
          </a:graphicData>
        </a:graphic>
      </p:graphicFrame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5FEA1737-5B6E-8A64-352E-36F825D774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654147"/>
              </p:ext>
            </p:extLst>
          </p:nvPr>
        </p:nvGraphicFramePr>
        <p:xfrm>
          <a:off x="878774" y="4286992"/>
          <a:ext cx="10194038" cy="1519449"/>
        </p:xfrm>
        <a:graphic>
          <a:graphicData uri="http://schemas.openxmlformats.org/drawingml/2006/table">
            <a:tbl>
              <a:tblPr/>
              <a:tblGrid>
                <a:gridCol w="5097019">
                  <a:extLst>
                    <a:ext uri="{9D8B030D-6E8A-4147-A177-3AD203B41FA5}">
                      <a16:colId xmlns:a16="http://schemas.microsoft.com/office/drawing/2014/main" val="99612312"/>
                    </a:ext>
                  </a:extLst>
                </a:gridCol>
                <a:gridCol w="5097019">
                  <a:extLst>
                    <a:ext uri="{9D8B030D-6E8A-4147-A177-3AD203B41FA5}">
                      <a16:colId xmlns:a16="http://schemas.microsoft.com/office/drawing/2014/main" val="290124863"/>
                    </a:ext>
                  </a:extLst>
                </a:gridCol>
              </a:tblGrid>
              <a:tr h="506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/>
                        <a:t>Nome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Telefone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3502947"/>
                  </a:ext>
                </a:extLst>
              </a:tr>
              <a:tr h="506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/>
                        <a:t>João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/>
                        <a:t>9999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076247"/>
                  </a:ext>
                </a:extLst>
              </a:tr>
              <a:tr h="506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/>
                        <a:t>João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/>
                        <a:t>8888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428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2780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9E350D-A056-6C6C-D9D1-5197CDAF0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Segunda Forma Normal (2FN)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343530-6EC8-900E-023A-15593748C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tabela está na </a:t>
            </a:r>
            <a:r>
              <a:rPr lang="pt-BR" b="1" dirty="0"/>
              <a:t>2FN</a:t>
            </a:r>
            <a:r>
              <a:rPr lang="pt-BR" dirty="0"/>
              <a:t> quando:</a:t>
            </a:r>
          </a:p>
          <a:p>
            <a:r>
              <a:rPr lang="pt-BR" dirty="0"/>
              <a:t>Está na Primeira Forma Normal (1FN)  </a:t>
            </a:r>
          </a:p>
          <a:p>
            <a:r>
              <a:rPr lang="pt-BR" dirty="0"/>
              <a:t>Todos os atributos não-chave dependem da chave primária completa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1539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DCCA1-ECF7-B228-7FDF-BF302EE26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6181F4-F166-2ADB-3CE1-3CFA30E1D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Segunda Forma Normal (2FN)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6D271DDB-17D1-6C2F-576E-99E9C6F1FB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1442293"/>
              </p:ext>
            </p:extLst>
          </p:nvPr>
        </p:nvGraphicFramePr>
        <p:xfrm>
          <a:off x="118754" y="2220686"/>
          <a:ext cx="10146021" cy="27854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0664">
                  <a:extLst>
                    <a:ext uri="{9D8B030D-6E8A-4147-A177-3AD203B41FA5}">
                      <a16:colId xmlns:a16="http://schemas.microsoft.com/office/drawing/2014/main" val="1409413919"/>
                    </a:ext>
                  </a:extLst>
                </a:gridCol>
                <a:gridCol w="1294411">
                  <a:extLst>
                    <a:ext uri="{9D8B030D-6E8A-4147-A177-3AD203B41FA5}">
                      <a16:colId xmlns:a16="http://schemas.microsoft.com/office/drawing/2014/main" val="852463472"/>
                    </a:ext>
                  </a:extLst>
                </a:gridCol>
                <a:gridCol w="2042555">
                  <a:extLst>
                    <a:ext uri="{9D8B030D-6E8A-4147-A177-3AD203B41FA5}">
                      <a16:colId xmlns:a16="http://schemas.microsoft.com/office/drawing/2014/main" val="3025147027"/>
                    </a:ext>
                  </a:extLst>
                </a:gridCol>
                <a:gridCol w="2934941">
                  <a:extLst>
                    <a:ext uri="{9D8B030D-6E8A-4147-A177-3AD203B41FA5}">
                      <a16:colId xmlns:a16="http://schemas.microsoft.com/office/drawing/2014/main" val="3186138024"/>
                    </a:ext>
                  </a:extLst>
                </a:gridCol>
                <a:gridCol w="2413450">
                  <a:extLst>
                    <a:ext uri="{9D8B030D-6E8A-4147-A177-3AD203B41FA5}">
                      <a16:colId xmlns:a16="http://schemas.microsoft.com/office/drawing/2014/main" val="2350425051"/>
                    </a:ext>
                  </a:extLst>
                </a:gridCol>
              </a:tblGrid>
              <a:tr h="506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u="sng" dirty="0" err="1"/>
                        <a:t>id_leitor</a:t>
                      </a:r>
                      <a:endParaRPr lang="pt-BR" b="1" u="sn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u="sng" dirty="0" err="1"/>
                        <a:t>id_livro</a:t>
                      </a:r>
                      <a:endParaRPr lang="pt-BR" b="1" u="sn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 err="1"/>
                        <a:t>nome_leitor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titulo_livro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 err="1"/>
                        <a:t>data_emprestimo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6896533"/>
                  </a:ext>
                </a:extLst>
              </a:tr>
              <a:tr h="886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Dom Casmurro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01/03/2024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3604"/>
                  </a:ext>
                </a:extLst>
              </a:tr>
              <a:tr h="506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O Cortiço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05/03/2024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6173169"/>
                  </a:ext>
                </a:extLst>
              </a:tr>
              <a:tr h="886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João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Dom Casmurro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06/03/2024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8908451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48D4F9BD-215D-1CA7-E7BF-65128DDB10C1}"/>
              </a:ext>
            </a:extLst>
          </p:cNvPr>
          <p:cNvSpPr txBox="1"/>
          <p:nvPr/>
        </p:nvSpPr>
        <p:spPr>
          <a:xfrm>
            <a:off x="3271126" y="5439898"/>
            <a:ext cx="4546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Normalizar </a:t>
            </a:r>
            <a:r>
              <a:rPr lang="pt-BR" dirty="0">
                <a:sym typeface="Wingdings" panose="05000000000000000000" pitchFamily="2" charset="2"/>
              </a:rPr>
              <a:t> leitor, livro, </a:t>
            </a:r>
            <a:r>
              <a:rPr lang="pt-BR" dirty="0" err="1">
                <a:sym typeface="Wingdings" panose="05000000000000000000" pitchFamily="2" charset="2"/>
              </a:rPr>
              <a:t>emprestimo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85181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42E4DE-B38C-0943-99A0-050EF9122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Terceira Forma Normal (3FN)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4DE77F-55D1-BF34-C3DE-6EDAD75F6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tabela está na 3FN quando:</a:t>
            </a:r>
          </a:p>
          <a:p>
            <a:pPr lvl="1"/>
            <a:r>
              <a:rPr lang="pt-BR" dirty="0"/>
              <a:t>Está na 2FN </a:t>
            </a:r>
          </a:p>
          <a:p>
            <a:pPr lvl="1"/>
            <a:r>
              <a:rPr lang="pt-BR" dirty="0"/>
              <a:t>Não possui dependências transitivas </a:t>
            </a:r>
          </a:p>
          <a:p>
            <a:pPr lvl="1"/>
            <a:endParaRPr lang="pt-BR" dirty="0"/>
          </a:p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E85DF66-3E3D-6AFE-C352-99DE443AFFF7}"/>
              </a:ext>
            </a:extLst>
          </p:cNvPr>
          <p:cNvSpPr txBox="1"/>
          <p:nvPr/>
        </p:nvSpPr>
        <p:spPr>
          <a:xfrm>
            <a:off x="2066308" y="3473970"/>
            <a:ext cx="8110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❌ Um atributo não-chave depender de outro atributo não-chave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100ABAA4-B823-C0A1-04BE-FF64E7AE85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664196"/>
              </p:ext>
            </p:extLst>
          </p:nvPr>
        </p:nvGraphicFramePr>
        <p:xfrm>
          <a:off x="311810" y="4196560"/>
          <a:ext cx="9953624" cy="2103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15109">
                  <a:extLst>
                    <a:ext uri="{9D8B030D-6E8A-4147-A177-3AD203B41FA5}">
                      <a16:colId xmlns:a16="http://schemas.microsoft.com/office/drawing/2014/main" val="2589455058"/>
                    </a:ext>
                  </a:extLst>
                </a:gridCol>
                <a:gridCol w="3661703">
                  <a:extLst>
                    <a:ext uri="{9D8B030D-6E8A-4147-A177-3AD203B41FA5}">
                      <a16:colId xmlns:a16="http://schemas.microsoft.com/office/drawing/2014/main" val="4136179536"/>
                    </a:ext>
                  </a:extLst>
                </a:gridCol>
                <a:gridCol w="2488406">
                  <a:extLst>
                    <a:ext uri="{9D8B030D-6E8A-4147-A177-3AD203B41FA5}">
                      <a16:colId xmlns:a16="http://schemas.microsoft.com/office/drawing/2014/main" val="3292525843"/>
                    </a:ext>
                  </a:extLst>
                </a:gridCol>
                <a:gridCol w="2488406">
                  <a:extLst>
                    <a:ext uri="{9D8B030D-6E8A-4147-A177-3AD203B41FA5}">
                      <a16:colId xmlns:a16="http://schemas.microsoft.com/office/drawing/2014/main" val="39149009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u="sng" dirty="0" err="1"/>
                        <a:t>id_livro</a:t>
                      </a:r>
                      <a:endParaRPr lang="pt-BR" b="1" u="sn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titulo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id_editora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nome_editora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7441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u="sng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Dom Casmurro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Editora Abril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4280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u="sng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Memórias Póstumas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Editora Abril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9374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u="sng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O Cortiço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Companhia das Letras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757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u="sng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Capitães da Areia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Record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2296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2466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2A75B-F629-A966-BDE7-D254815CE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5BF8A0E1-1963-6D39-A6E6-7C7333AA76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9699120"/>
              </p:ext>
            </p:extLst>
          </p:nvPr>
        </p:nvGraphicFramePr>
        <p:xfrm>
          <a:off x="311017" y="2030682"/>
          <a:ext cx="9771134" cy="32775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5849">
                  <a:extLst>
                    <a:ext uri="{9D8B030D-6E8A-4147-A177-3AD203B41FA5}">
                      <a16:colId xmlns:a16="http://schemas.microsoft.com/office/drawing/2014/main" val="4230254058"/>
                    </a:ext>
                  </a:extLst>
                </a:gridCol>
                <a:gridCol w="1010235">
                  <a:extLst>
                    <a:ext uri="{9D8B030D-6E8A-4147-A177-3AD203B41FA5}">
                      <a16:colId xmlns:a16="http://schemas.microsoft.com/office/drawing/2014/main" val="3915481110"/>
                    </a:ext>
                  </a:extLst>
                </a:gridCol>
                <a:gridCol w="2020472">
                  <a:extLst>
                    <a:ext uri="{9D8B030D-6E8A-4147-A177-3AD203B41FA5}">
                      <a16:colId xmlns:a16="http://schemas.microsoft.com/office/drawing/2014/main" val="1534190909"/>
                    </a:ext>
                  </a:extLst>
                </a:gridCol>
                <a:gridCol w="1275216">
                  <a:extLst>
                    <a:ext uri="{9D8B030D-6E8A-4147-A177-3AD203B41FA5}">
                      <a16:colId xmlns:a16="http://schemas.microsoft.com/office/drawing/2014/main" val="1234018579"/>
                    </a:ext>
                  </a:extLst>
                </a:gridCol>
                <a:gridCol w="943990">
                  <a:extLst>
                    <a:ext uri="{9D8B030D-6E8A-4147-A177-3AD203B41FA5}">
                      <a16:colId xmlns:a16="http://schemas.microsoft.com/office/drawing/2014/main" val="3702487262"/>
                    </a:ext>
                  </a:extLst>
                </a:gridCol>
                <a:gridCol w="1308339">
                  <a:extLst>
                    <a:ext uri="{9D8B030D-6E8A-4147-A177-3AD203B41FA5}">
                      <a16:colId xmlns:a16="http://schemas.microsoft.com/office/drawing/2014/main" val="2289995668"/>
                    </a:ext>
                  </a:extLst>
                </a:gridCol>
                <a:gridCol w="794939">
                  <a:extLst>
                    <a:ext uri="{9D8B030D-6E8A-4147-A177-3AD203B41FA5}">
                      <a16:colId xmlns:a16="http://schemas.microsoft.com/office/drawing/2014/main" val="213200704"/>
                    </a:ext>
                  </a:extLst>
                </a:gridCol>
                <a:gridCol w="1242094">
                  <a:extLst>
                    <a:ext uri="{9D8B030D-6E8A-4147-A177-3AD203B41FA5}">
                      <a16:colId xmlns:a16="http://schemas.microsoft.com/office/drawing/2014/main" val="2088363655"/>
                    </a:ext>
                  </a:extLst>
                </a:gridCol>
              </a:tblGrid>
              <a:tr h="6257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u="sng" strike="noStrike" dirty="0" err="1">
                          <a:effectLst/>
                        </a:rPr>
                        <a:t>id_matricula</a:t>
                      </a:r>
                      <a:endParaRPr lang="pt-BR" sz="1100" b="1" i="0" u="sng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nome_aluno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cpf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nome_curso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nivel_curso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nome_professor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sala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data_matricula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26299317"/>
                  </a:ext>
                </a:extLst>
              </a:tr>
              <a:tr h="5804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1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Ana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111.111.111-11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Banco de Dados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Superior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Carlos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101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01/02/2024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9535235"/>
                  </a:ext>
                </a:extLst>
              </a:tr>
              <a:tr h="5804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2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João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222.222.222-22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Banco de Dados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Superior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Carlos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101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01/02/2024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75583033"/>
                  </a:ext>
                </a:extLst>
              </a:tr>
              <a:tr h="312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3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Maria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333.333.333-33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Algoritmos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Superior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Fernanda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102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02/02/2024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07933010"/>
                  </a:ext>
                </a:extLst>
              </a:tr>
              <a:tr h="312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4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Ana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111.111.111-11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Algoritmos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Superior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Fernanda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102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03/02/2024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02820920"/>
                  </a:ext>
                </a:extLst>
              </a:tr>
              <a:tr h="8652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5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Pedro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444.444.444-44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Redes de Computadores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Técnico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Marcos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201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05/02/2024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4601365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AF44CF78-499D-379B-1A2B-F0EEB78ECA01}"/>
              </a:ext>
            </a:extLst>
          </p:cNvPr>
          <p:cNvSpPr txBox="1"/>
          <p:nvPr/>
        </p:nvSpPr>
        <p:spPr>
          <a:xfrm>
            <a:off x="477983" y="5733251"/>
            <a:ext cx="6133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Quais dados estão redundantes?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Onde pode haver inconsistência?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156444B-3D19-F44B-56E8-7A775A26B5A2}"/>
              </a:ext>
            </a:extLst>
          </p:cNvPr>
          <p:cNvSpPr txBox="1"/>
          <p:nvPr/>
        </p:nvSpPr>
        <p:spPr>
          <a:xfrm>
            <a:off x="311017" y="1445461"/>
            <a:ext cx="6133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PLANILHA: MATRICULAS</a:t>
            </a:r>
          </a:p>
        </p:txBody>
      </p:sp>
    </p:spTree>
    <p:extLst>
      <p:ext uri="{BB962C8B-B14F-4D97-AF65-F5344CB8AC3E}">
        <p14:creationId xmlns:p14="http://schemas.microsoft.com/office/powerpoint/2010/main" val="2554325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178438-F030-FCAD-3F8E-D0A8A9A3D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7DED0B03-FA2B-4EF8-2FE5-7138763AF8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971524"/>
              </p:ext>
            </p:extLst>
          </p:nvPr>
        </p:nvGraphicFramePr>
        <p:xfrm>
          <a:off x="311014" y="1579418"/>
          <a:ext cx="9723636" cy="415828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80404">
                  <a:extLst>
                    <a:ext uri="{9D8B030D-6E8A-4147-A177-3AD203B41FA5}">
                      <a16:colId xmlns:a16="http://schemas.microsoft.com/office/drawing/2014/main" val="4272086891"/>
                    </a:ext>
                  </a:extLst>
                </a:gridCol>
                <a:gridCol w="1080404">
                  <a:extLst>
                    <a:ext uri="{9D8B030D-6E8A-4147-A177-3AD203B41FA5}">
                      <a16:colId xmlns:a16="http://schemas.microsoft.com/office/drawing/2014/main" val="3463432324"/>
                    </a:ext>
                  </a:extLst>
                </a:gridCol>
                <a:gridCol w="1080404">
                  <a:extLst>
                    <a:ext uri="{9D8B030D-6E8A-4147-A177-3AD203B41FA5}">
                      <a16:colId xmlns:a16="http://schemas.microsoft.com/office/drawing/2014/main" val="2706630010"/>
                    </a:ext>
                  </a:extLst>
                </a:gridCol>
                <a:gridCol w="1080404">
                  <a:extLst>
                    <a:ext uri="{9D8B030D-6E8A-4147-A177-3AD203B41FA5}">
                      <a16:colId xmlns:a16="http://schemas.microsoft.com/office/drawing/2014/main" val="3454017332"/>
                    </a:ext>
                  </a:extLst>
                </a:gridCol>
                <a:gridCol w="1080404">
                  <a:extLst>
                    <a:ext uri="{9D8B030D-6E8A-4147-A177-3AD203B41FA5}">
                      <a16:colId xmlns:a16="http://schemas.microsoft.com/office/drawing/2014/main" val="1830830914"/>
                    </a:ext>
                  </a:extLst>
                </a:gridCol>
                <a:gridCol w="1080404">
                  <a:extLst>
                    <a:ext uri="{9D8B030D-6E8A-4147-A177-3AD203B41FA5}">
                      <a16:colId xmlns:a16="http://schemas.microsoft.com/office/drawing/2014/main" val="3556261166"/>
                    </a:ext>
                  </a:extLst>
                </a:gridCol>
                <a:gridCol w="1080404">
                  <a:extLst>
                    <a:ext uri="{9D8B030D-6E8A-4147-A177-3AD203B41FA5}">
                      <a16:colId xmlns:a16="http://schemas.microsoft.com/office/drawing/2014/main" val="776618749"/>
                    </a:ext>
                  </a:extLst>
                </a:gridCol>
                <a:gridCol w="1080404">
                  <a:extLst>
                    <a:ext uri="{9D8B030D-6E8A-4147-A177-3AD203B41FA5}">
                      <a16:colId xmlns:a16="http://schemas.microsoft.com/office/drawing/2014/main" val="4014549628"/>
                    </a:ext>
                  </a:extLst>
                </a:gridCol>
                <a:gridCol w="1080404">
                  <a:extLst>
                    <a:ext uri="{9D8B030D-6E8A-4147-A177-3AD203B41FA5}">
                      <a16:colId xmlns:a16="http://schemas.microsoft.com/office/drawing/2014/main" val="709766474"/>
                    </a:ext>
                  </a:extLst>
                </a:gridCol>
              </a:tblGrid>
              <a:tr h="10942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 err="1"/>
                        <a:t>id_venda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 err="1"/>
                        <a:t>id_produto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 err="1"/>
                        <a:t>nome_produto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categoria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id_cliente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nome_cliente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quantidade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preco_unitario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9511996"/>
                  </a:ext>
                </a:extLst>
              </a:tr>
              <a:tr h="76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Notebook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Informática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Goiânia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3000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81390"/>
                  </a:ext>
                </a:extLst>
              </a:tr>
              <a:tr h="76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Mouse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Informática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Goiânia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6875685"/>
                  </a:ext>
                </a:extLst>
              </a:tr>
              <a:tr h="76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Notebook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Informática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João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Anápolis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3000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0377290"/>
                  </a:ext>
                </a:extLst>
              </a:tr>
              <a:tr h="76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Cadeira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Móveis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Maria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Goiânia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7734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8900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B87973-A5AF-CBA8-0441-F307E89E7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97E848-85E0-C922-3617-6A884AA8F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018" y="1417638"/>
            <a:ext cx="9581128" cy="5440362"/>
          </a:xfrm>
        </p:spPr>
        <p:txBody>
          <a:bodyPr>
            <a:normAutofit fontScale="55000" lnSpcReduction="20000"/>
          </a:bodyPr>
          <a:lstStyle/>
          <a:p>
            <a:r>
              <a:rPr lang="pt-BR" dirty="0"/>
              <a:t>Uma biblioteca deseja informatizar o controle de seu acervo e dos empréstimos realizados aos usuários.</a:t>
            </a:r>
          </a:p>
          <a:p>
            <a:r>
              <a:rPr lang="pt-BR" dirty="0"/>
              <a:t>A biblioteca possui um conjunto de livros, sendo que cada livro é identificado por um código, título, ano de publicação e editora.</a:t>
            </a:r>
          </a:p>
          <a:p>
            <a:r>
              <a:rPr lang="pt-BR" dirty="0"/>
              <a:t>Cada livro pode possuir um ou mais autores, e um autor pode ter escrito vários livros.</a:t>
            </a:r>
          </a:p>
          <a:p>
            <a:r>
              <a:rPr lang="pt-BR" dirty="0"/>
              <a:t>A biblioteca possui vários exemplares de um mesmo livro. </a:t>
            </a:r>
          </a:p>
          <a:p>
            <a:r>
              <a:rPr lang="pt-BR" dirty="0"/>
              <a:t>Cada exemplar é identificado individualmente e possui informações como número de tombo, estado de conservação e disponibilidade.</a:t>
            </a:r>
          </a:p>
          <a:p>
            <a:r>
              <a:rPr lang="pt-BR" dirty="0"/>
              <a:t>Os usuários da biblioteca podem se cadastrar no sistema, informando dados como nome, e-mail e telefone.</a:t>
            </a:r>
          </a:p>
          <a:p>
            <a:r>
              <a:rPr lang="pt-BR" dirty="0"/>
              <a:t>Os usuários podem realizar empréstimos de exemplares. </a:t>
            </a:r>
          </a:p>
          <a:p>
            <a:r>
              <a:rPr lang="pt-BR" dirty="0"/>
              <a:t>Cada empréstimo possui uma data de retirada e uma data prevista para devolução.</a:t>
            </a:r>
          </a:p>
          <a:p>
            <a:r>
              <a:rPr lang="pt-BR" dirty="0"/>
              <a:t>Um usuário pode realizar vários empréstimos ao longo do tempo, mas cada empréstimo está associado a um único usuário.</a:t>
            </a:r>
          </a:p>
          <a:p>
            <a:r>
              <a:rPr lang="pt-BR" dirty="0"/>
              <a:t>Cada empréstimo pode envolver um ou mais exemplares, e cada exemplar pode participar de vários empréstimos ao longo do tempo.</a:t>
            </a:r>
          </a:p>
          <a:p>
            <a:r>
              <a:rPr lang="pt-BR" dirty="0"/>
              <a:t>Além disso, a biblioteca deseja controlar possíveis multas, que podem ocorrer quando um exemplar é devolvido após a data prevista. </a:t>
            </a:r>
          </a:p>
          <a:p>
            <a:r>
              <a:rPr lang="pt-BR" dirty="0"/>
              <a:t>Cada multa possui valor e data de pagamento. </a:t>
            </a:r>
          </a:p>
        </p:txBody>
      </p:sp>
    </p:spTree>
    <p:extLst>
      <p:ext uri="{BB962C8B-B14F-4D97-AF65-F5344CB8AC3E}">
        <p14:creationId xmlns:p14="http://schemas.microsoft.com/office/powerpoint/2010/main" val="2002701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E0DEC3-3A4E-4475-BDB7-A74090A29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1701A6-BCC0-270E-2F4A-9D5918FCF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018" y="1600201"/>
            <a:ext cx="9735508" cy="4525963"/>
          </a:xfrm>
        </p:spPr>
        <p:txBody>
          <a:bodyPr>
            <a:normAutofit fontScale="85000" lnSpcReduction="20000"/>
          </a:bodyPr>
          <a:lstStyle/>
          <a:p>
            <a:r>
              <a:rPr lang="pt-BR" dirty="0"/>
              <a:t>Uma clínica veterinária deseja controlar o atendimento de seus animais. Cada animal possui nome, espécie, raça e data de nascimento, e pertence a um único tutor. O tutor é identificado por CPF e possui nome e telefone. Um tutor pode ter vários animais cadastrados. A clínica possui veterinários, cada um com CRM, nome e especialidade. Os atendimentos são registrados com data, descrição do problema e diagnóstico, sendo que cada atendimento envolve um único animal e é conduzido por um único veterinário. Um animal pode ter vários atendimentos ao longo do tempo, e um veterinário pode realizar vários atendimentos.</a:t>
            </a:r>
          </a:p>
        </p:txBody>
      </p:sp>
    </p:spTree>
    <p:extLst>
      <p:ext uri="{BB962C8B-B14F-4D97-AF65-F5344CB8AC3E}">
        <p14:creationId xmlns:p14="http://schemas.microsoft.com/office/powerpoint/2010/main" val="3955040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9C103-4827-7B08-36B2-DBEE37AC3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738540-C143-DC27-7D60-0C51A8D53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t-BR" dirty="0"/>
              <a:t>Uma escola de idiomas oferece cursos de diferentes idiomas e níveis (básico, intermediário, avançado). Cada curso possui nome, idioma, nível e carga horária. A escola conta com professores identificados por matrícula, com nome e idiomas que lecionam. As turmas são formadas a partir de cursos e possuem horário, sala e período. Cada turma é conduzida por um único professor. Os alunos se matriculam nas turmas e cada matrícula possui data de início e situação (ativo, trancado, concluído). Um aluno pode estar matriculado em várias turmas simultaneamente.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44776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CD5EEC-A7EB-4D58-A4B8-3B50D79F8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ECB6B0-6657-3779-09DF-22224A239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018" y="1600201"/>
            <a:ext cx="9707190" cy="5122146"/>
          </a:xfrm>
        </p:spPr>
        <p:txBody>
          <a:bodyPr>
            <a:normAutofit fontScale="55000" lnSpcReduction="20000"/>
          </a:bodyPr>
          <a:lstStyle/>
          <a:p>
            <a:r>
              <a:rPr lang="pt-BR" dirty="0"/>
              <a:t>Uma instituição de ensino deseja desenvolver um sistema para gerenciar eventos acadêmicos, como palestras, workshops e minicursos.</a:t>
            </a:r>
          </a:p>
          <a:p>
            <a:r>
              <a:rPr lang="pt-BR" dirty="0"/>
              <a:t>Cada evento possui um código identificador único, título, data de realização, horário e carga horária. Todo evento acontece em uma única sala.</a:t>
            </a:r>
          </a:p>
          <a:p>
            <a:r>
              <a:rPr lang="pt-BR" dirty="0"/>
              <a:t>Cada sala possui número identificador, bloco e capacidade máxima de participantes.</a:t>
            </a:r>
          </a:p>
          <a:p>
            <a:r>
              <a:rPr lang="pt-BR" dirty="0"/>
              <a:t>Os eventos são organizados por professores da instituição. Cada professor possui um código único, nome, e-mail e departamento ao qual está vinculado. Um professor pode organizar vários eventos, mas cada evento possui apenas um professor responsável.</a:t>
            </a:r>
          </a:p>
          <a:p>
            <a:r>
              <a:rPr lang="pt-BR" dirty="0"/>
              <a:t>Os alunos podem se inscrever nos eventos. Cada aluno possui matrícula, nome e curso ao qual pertence.</a:t>
            </a:r>
          </a:p>
          <a:p>
            <a:r>
              <a:rPr lang="pt-BR" dirty="0"/>
              <a:t>Um aluno pode se inscrever em vários eventos, e cada evento pode ter vários alunos inscritos. No ato da inscrição, o sistema deve registrar a data da inscrição e a situação da inscrição (confirmada, cancelada ou lista de espera).</a:t>
            </a:r>
          </a:p>
          <a:p>
            <a:r>
              <a:rPr lang="pt-BR" dirty="0"/>
              <a:t>Após a realização do evento, os alunos que comparecerem recebem um certificado de participação. Para cada certificado deve ser registrado um número único e a data de emissão. O certificado está vinculado a um único aluno e a um único evento.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9643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3B7866-1FC7-DF97-FD52-BE4834092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18" y="274638"/>
            <a:ext cx="9496174" cy="529230"/>
          </a:xfrm>
        </p:spPr>
        <p:txBody>
          <a:bodyPr>
            <a:normAutofit fontScale="90000"/>
          </a:bodyPr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926CEA-E79E-05A1-9F5B-8E8C00A85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018" y="937419"/>
            <a:ext cx="9596658" cy="4983161"/>
          </a:xfrm>
        </p:spPr>
        <p:txBody>
          <a:bodyPr>
            <a:noAutofit/>
          </a:bodyPr>
          <a:lstStyle/>
          <a:p>
            <a:r>
              <a:rPr lang="pt-BR" sz="1600" dirty="0"/>
              <a:t>Uma empresa está desenvolvendo uma plataforma de cursos online voltada para formação profissional. O sistema deverá permitir o cadastro de instrutores, cursos e alunos, além de controlar matrículas, avaliações e emissão de certificados.</a:t>
            </a:r>
          </a:p>
          <a:p>
            <a:r>
              <a:rPr lang="pt-BR" sz="1600" dirty="0"/>
              <a:t>Cada instrutor possui um identificador único, nome completo, e-mail, telefone e área de especialização. Um instrutor pode ministrar vários cursos, mas cada curso é ministrado por apenas um instrutor.</a:t>
            </a:r>
          </a:p>
          <a:p>
            <a:r>
              <a:rPr lang="pt-BR" sz="1600" dirty="0"/>
              <a:t>Cada curso é identificado por um código único e possui título, descrição, carga horária e preço. Os cursos são ofertados continuamente na plataforma.</a:t>
            </a:r>
          </a:p>
          <a:p>
            <a:r>
              <a:rPr lang="pt-BR" sz="1600" dirty="0"/>
              <a:t>Os alunos realizam cadastro na plataforma informando matrícula, nome, e-mail e data de nascimento. Um aluno pode se matricular em vários cursos ao mesmo tempo, e cada curso pode possuir vários alunos matriculados.</a:t>
            </a:r>
          </a:p>
          <a:p>
            <a:r>
              <a:rPr lang="pt-BR" sz="1600" dirty="0"/>
              <a:t>No momento em que um aluno se matricula em um curso, o sistema deve registrar a data da matrícula, a situação da matrícula (ativa, trancada ou concluída) e o percentual de progresso do aluno no curso.</a:t>
            </a:r>
          </a:p>
          <a:p>
            <a:r>
              <a:rPr lang="pt-BR" sz="1600" dirty="0"/>
              <a:t>Ao concluir um curso, o aluno pode registrar uma avaliação referente ao curso realizado. Para cada avaliação devem ser armazenados a nota atribuída (de 1 a 5), um comentário textual e a data da avaliação. Um aluno pode avaliar um curso apenas uma única vez.</a:t>
            </a:r>
          </a:p>
          <a:p>
            <a:r>
              <a:rPr lang="pt-BR" sz="1600" dirty="0"/>
              <a:t>Quando um aluno conclui um curso com sucesso, o sistema deve emitir um certificado. Cada certificado possui um código único e registra a data de emissão. Um certificado está vinculado a um aluno e a um curso específico</a:t>
            </a:r>
            <a:r>
              <a:rPr lang="pt-BR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39083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06239D-38C6-ED77-BDF6-6CDD67D8B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7E1F91-7E8C-CC2C-A662-F3E0C65B1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A locadora possui uma frota de veículos de diferentes categorias (econômico, SUV, utilitário etc.), cada um com placa, modelo, ano, cor e quilometragem atual. Os veículos pertencem a fornecedores que os disponibilizam para a frota.</a:t>
            </a:r>
          </a:p>
          <a:p>
            <a:r>
              <a:rPr lang="pt-BR" dirty="0"/>
              <a:t>Os clientes se cadastram informando seus dados pessoais e CNH. Um cliente pode realizar várias locações ao longo do tempo, mas uma locação envolve apenas um veículo por vez. Cada locação registra a data de retirada, data prevista de devolução, data real de devolução e o valor cobrado.</a:t>
            </a:r>
          </a:p>
          <a:p>
            <a:r>
              <a:rPr lang="pt-BR" dirty="0"/>
              <a:t>Ao devolver o veículo, o atendente responsável registra uma vistoria, anotando o estado geral do veículo e eventuais avarias encontradas. Cada avaria tem descrição e custo estimado de reparo.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42019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383ACF-9F02-AAF8-8695-4643EAF43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954C24-4B74-9C63-933B-8F8FD94A0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017" y="1600201"/>
            <a:ext cx="9604879" cy="4895602"/>
          </a:xfrm>
        </p:spPr>
        <p:txBody>
          <a:bodyPr>
            <a:normAutofit fontScale="55000" lnSpcReduction="20000"/>
          </a:bodyPr>
          <a:lstStyle/>
          <a:p>
            <a:r>
              <a:rPr lang="pt-BR" dirty="0"/>
              <a:t>Uma empresa de </a:t>
            </a:r>
            <a:r>
              <a:rPr lang="pt-BR" b="1" dirty="0"/>
              <a:t>e-commerce</a:t>
            </a:r>
            <a:r>
              <a:rPr lang="pt-BR" dirty="0"/>
              <a:t> comercializa diversos tipos de produtos, como eletrônicos, acessórios e livros.</a:t>
            </a:r>
          </a:p>
          <a:p>
            <a:r>
              <a:rPr lang="pt-BR" dirty="0"/>
              <a:t>Cada </a:t>
            </a:r>
            <a:r>
              <a:rPr lang="pt-BR" b="1" dirty="0"/>
              <a:t>produto</a:t>
            </a:r>
            <a:r>
              <a:rPr lang="pt-BR" dirty="0"/>
              <a:t> possui código, nome, descrição, preço e categoria.</a:t>
            </a:r>
          </a:p>
          <a:p>
            <a:r>
              <a:rPr lang="pt-BR" dirty="0"/>
              <a:t>Os produtos são armazenados em diferentes </a:t>
            </a:r>
            <a:r>
              <a:rPr lang="pt-BR" b="1" dirty="0"/>
              <a:t>estoques</a:t>
            </a:r>
            <a:r>
              <a:rPr lang="pt-BR" dirty="0"/>
              <a:t>, que podem estar localizados em diferentes cidades e estados. Cada estoque possui identificação e localização geográfica.</a:t>
            </a:r>
          </a:p>
          <a:p>
            <a:r>
              <a:rPr lang="pt-BR" dirty="0"/>
              <a:t>Um mesmo produto pode estar disponível em vários estoques, e cada estoque pode armazenar vários produtos, sendo necessário controlar a </a:t>
            </a:r>
            <a:r>
              <a:rPr lang="pt-BR" b="1" dirty="0"/>
              <a:t>quantidade disponível</a:t>
            </a:r>
            <a:r>
              <a:rPr lang="pt-BR" dirty="0"/>
              <a:t> de cada produto em cada estoque.</a:t>
            </a:r>
          </a:p>
          <a:p>
            <a:r>
              <a:rPr lang="pt-BR" dirty="0"/>
              <a:t>Os clientes realizam </a:t>
            </a:r>
            <a:r>
              <a:rPr lang="pt-BR" b="1" dirty="0"/>
              <a:t>compras</a:t>
            </a:r>
            <a:r>
              <a:rPr lang="pt-BR" dirty="0"/>
              <a:t> na plataforma. Cada cliente possui dados como nome, e-mail e endereço.</a:t>
            </a:r>
          </a:p>
          <a:p>
            <a:r>
              <a:rPr lang="pt-BR" dirty="0"/>
              <a:t>Uma compra pode conter vários produtos, e para cada produto comprado deve ser registrado a quantidade e o preço no momento da venda.</a:t>
            </a:r>
          </a:p>
          <a:p>
            <a:r>
              <a:rPr lang="pt-BR" dirty="0"/>
              <a:t>Após a entrega, o cliente pode realizar uma </a:t>
            </a:r>
            <a:r>
              <a:rPr lang="pt-BR" b="1" dirty="0"/>
              <a:t>avaliação</a:t>
            </a:r>
            <a:r>
              <a:rPr lang="pt-BR" dirty="0"/>
              <a:t> da compra, atribuindo uma nota e um comentário.</a:t>
            </a:r>
          </a:p>
          <a:p>
            <a:r>
              <a:rPr lang="pt-BR" dirty="0"/>
              <a:t>O sistema também deve permitir o registro de </a:t>
            </a:r>
            <a:r>
              <a:rPr lang="pt-BR" b="1" dirty="0"/>
              <a:t>histórico de vendas dos produtos</a:t>
            </a:r>
            <a:r>
              <a:rPr lang="pt-BR" dirty="0"/>
              <a:t>, para apoiar decisões futuras de reposição de estoque.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524131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8C2F8DA8-B3BF-6F59-64BE-3E4B529BA96F}"/>
              </a:ext>
            </a:extLst>
          </p:cNvPr>
          <p:cNvSpPr txBox="1"/>
          <p:nvPr/>
        </p:nvSpPr>
        <p:spPr>
          <a:xfrm>
            <a:off x="2131142" y="2351971"/>
            <a:ext cx="6130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pt-BR" dirty="0"/>
              <a:t>Finalizando...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BEC24D3-0E93-54BD-2DC8-5EC5207F56D1}"/>
              </a:ext>
            </a:extLst>
          </p:cNvPr>
          <p:cNvSpPr txBox="1"/>
          <p:nvPr/>
        </p:nvSpPr>
        <p:spPr>
          <a:xfrm>
            <a:off x="6492977" y="6121881"/>
            <a:ext cx="30504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2"/>
              </a:rPr>
              <a:t>alison.filgueiras@ueg.br</a:t>
            </a:r>
            <a:endParaRPr lang="pt-BR" dirty="0"/>
          </a:p>
          <a:p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98CFABA-33AD-A138-F4DC-E166AF8C5AE6}"/>
              </a:ext>
            </a:extLst>
          </p:cNvPr>
          <p:cNvSpPr txBox="1"/>
          <p:nvPr/>
        </p:nvSpPr>
        <p:spPr>
          <a:xfrm>
            <a:off x="6478229" y="5739947"/>
            <a:ext cx="6130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Obrigado,</a:t>
            </a:r>
          </a:p>
        </p:txBody>
      </p:sp>
    </p:spTree>
    <p:extLst>
      <p:ext uri="{BB962C8B-B14F-4D97-AF65-F5344CB8AC3E}">
        <p14:creationId xmlns:p14="http://schemas.microsoft.com/office/powerpoint/2010/main" val="68042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004AD4-52FA-0C3F-FC46-A14A82D5C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bibliográficas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8AF403-7A8E-F679-149D-9BF3C5107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160297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ersonalizada 1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presentacao_IA_Ueg_2026.pptx - v2.pptx" id="{D6C7F5A4-D091-4E56-A7F0-EDD44F63FA2A}" vid="{03A85EFB-0979-4035-9C6F-924D8F58E56C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apresentacao_ueg_2026</Template>
  <TotalTime>4560</TotalTime>
  <Words>1736</Words>
  <Application>Microsoft Office PowerPoint</Application>
  <PresentationFormat>Widescreen</PresentationFormat>
  <Paragraphs>280</Paragraphs>
  <Slides>21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8" baseType="lpstr">
      <vt:lpstr>Aptos</vt:lpstr>
      <vt:lpstr>Aptos Narrow</vt:lpstr>
      <vt:lpstr>Arial</vt:lpstr>
      <vt:lpstr>Montserrat</vt:lpstr>
      <vt:lpstr>Open Sans</vt:lpstr>
      <vt:lpstr>Wingdings</vt:lpstr>
      <vt:lpstr>Tema do Office</vt:lpstr>
      <vt:lpstr>Apresentação do PowerPoint</vt:lpstr>
      <vt:lpstr>Objetivos do encontro</vt:lpstr>
      <vt:lpstr>Dependência funcional</vt:lpstr>
      <vt:lpstr>Dependência funcional</vt:lpstr>
      <vt:lpstr>Dependência funcional</vt:lpstr>
      <vt:lpstr>Normalização</vt:lpstr>
      <vt:lpstr>Primeira Forma Normal (1FN)</vt:lpstr>
      <vt:lpstr>Segunda Forma Normal (2FN)</vt:lpstr>
      <vt:lpstr>Segunda Forma Normal (2FN)</vt:lpstr>
      <vt:lpstr>Terceira Forma Normal (3FN)</vt:lpstr>
      <vt:lpstr>Exercícios</vt:lpstr>
      <vt:lpstr>Exercícios</vt:lpstr>
      <vt:lpstr>Exercício</vt:lpstr>
      <vt:lpstr>Exercício</vt:lpstr>
      <vt:lpstr>Exercício</vt:lpstr>
      <vt:lpstr>Exercício</vt:lpstr>
      <vt:lpstr>Exercício</vt:lpstr>
      <vt:lpstr>Exercício</vt:lpstr>
      <vt:lpstr>Exercício</vt:lpstr>
      <vt:lpstr>Apresentação do PowerPoint</vt:lpstr>
      <vt:lpstr>Referências bibliográficas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Office</dc:creator>
  <cp:keywords/>
  <dc:description>generated using python-pptx</dc:description>
  <cp:lastModifiedBy>Office</cp:lastModifiedBy>
  <cp:revision>36</cp:revision>
  <dcterms:created xsi:type="dcterms:W3CDTF">2026-02-08T00:22:46Z</dcterms:created>
  <dcterms:modified xsi:type="dcterms:W3CDTF">2026-04-14T01:09:06Z</dcterms:modified>
  <cp:category/>
</cp:coreProperties>
</file>