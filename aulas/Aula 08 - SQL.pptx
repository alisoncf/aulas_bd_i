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15" r:id="rId3"/>
    <p:sldId id="3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89" r:id="rId15"/>
    <p:sldId id="376" r:id="rId16"/>
    <p:sldId id="2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074" autoAdjust="0"/>
    <p:restoredTop sz="86467" autoAdjust="0"/>
  </p:normalViewPr>
  <p:slideViewPr>
    <p:cSldViewPr snapToGrid="0" snapToObjects="1">
      <p:cViewPr varScale="1">
        <p:scale>
          <a:sx n="48" d="100"/>
          <a:sy n="48" d="100"/>
        </p:scale>
        <p:origin x="672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4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27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0" y="6356350"/>
            <a:ext cx="12192000" cy="501649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6402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de Informação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SQL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dirty="0"/>
              <a:t>Do modelo relacional a SQL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548640" cy="67604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36320"/>
            <a:ext cx="792480" cy="79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0720" y="975360"/>
            <a:ext cx="9753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I</a:t>
            </a:r>
            <a:endParaRPr lang="en-US" sz="1733" dirty="0"/>
          </a:p>
        </p:txBody>
      </p:sp>
      <p:sp>
        <p:nvSpPr>
          <p:cNvPr id="6" name="Text 3"/>
          <p:cNvSpPr/>
          <p:nvPr/>
        </p:nvSpPr>
        <p:spPr>
          <a:xfrm>
            <a:off x="914400" y="1889760"/>
            <a:ext cx="103632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 Modelo Relacional</a:t>
            </a:r>
            <a:endParaRPr lang="en-US" sz="5600" dirty="0"/>
          </a:p>
          <a:p>
            <a:r>
              <a:rPr lang="en-US" sz="5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ao SQL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914400" y="4328160"/>
            <a:ext cx="2682240" cy="60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DDL: Data Definition Language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914400" y="530352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 ·  MySQL/MariaDB  ·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ponte: Modelo Relacional → SQL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609600" y="1192696"/>
            <a:ext cx="451104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609600" y="1192696"/>
            <a:ext cx="451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6949440" y="1192696"/>
            <a:ext cx="45110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Text 5"/>
          <p:cNvSpPr/>
          <p:nvPr/>
        </p:nvSpPr>
        <p:spPr>
          <a:xfrm>
            <a:off x="6949440" y="1192696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(DDL)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5120640" y="1448728"/>
            <a:ext cx="18288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Shape 8"/>
          <p:cNvSpPr/>
          <p:nvPr/>
        </p:nvSpPr>
        <p:spPr>
          <a:xfrm>
            <a:off x="609600" y="1863256"/>
            <a:ext cx="4511040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1" name="Text 9"/>
          <p:cNvSpPr/>
          <p:nvPr/>
        </p:nvSpPr>
        <p:spPr>
          <a:xfrm>
            <a:off x="731520" y="1863256"/>
            <a:ext cx="43891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949439" y="1863256"/>
            <a:ext cx="4511039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/>
          <p:nvPr/>
        </p:nvSpPr>
        <p:spPr>
          <a:xfrm>
            <a:off x="6949439" y="1889760"/>
            <a:ext cx="4511041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609600" y="2582584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5" name="Text 13"/>
          <p:cNvSpPr/>
          <p:nvPr/>
        </p:nvSpPr>
        <p:spPr>
          <a:xfrm>
            <a:off x="731520" y="2582584"/>
            <a:ext cx="55428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949440" y="2582584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7" name="Text 15"/>
          <p:cNvSpPr/>
          <p:nvPr/>
        </p:nvSpPr>
        <p:spPr>
          <a:xfrm>
            <a:off x="6949440" y="2582584"/>
            <a:ext cx="350601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09600" y="3301912"/>
            <a:ext cx="4511040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7"/>
          <p:cNvSpPr/>
          <p:nvPr/>
        </p:nvSpPr>
        <p:spPr>
          <a:xfrm>
            <a:off x="731520" y="3301912"/>
            <a:ext cx="43891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6949440" y="3301912"/>
            <a:ext cx="4511040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Text 19"/>
          <p:cNvSpPr/>
          <p:nvPr/>
        </p:nvSpPr>
        <p:spPr>
          <a:xfrm>
            <a:off x="6949440" y="3301912"/>
            <a:ext cx="350601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(linha)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609600" y="4021240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3" name="Text 21"/>
          <p:cNvSpPr/>
          <p:nvPr/>
        </p:nvSpPr>
        <p:spPr>
          <a:xfrm>
            <a:off x="731520" y="4021240"/>
            <a:ext cx="43891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6949440" y="4021240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5" name="Text 23"/>
          <p:cNvSpPr/>
          <p:nvPr/>
        </p:nvSpPr>
        <p:spPr>
          <a:xfrm>
            <a:off x="6949439" y="4047744"/>
            <a:ext cx="46329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609600" y="4740568"/>
            <a:ext cx="4511040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7" name="Text 25"/>
          <p:cNvSpPr/>
          <p:nvPr/>
        </p:nvSpPr>
        <p:spPr>
          <a:xfrm>
            <a:off x="731520" y="4740568"/>
            <a:ext cx="43891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Estrangeira</a:t>
            </a:r>
            <a:endParaRPr lang="en-US" sz="1733" dirty="0"/>
          </a:p>
        </p:txBody>
      </p:sp>
      <p:sp>
        <p:nvSpPr>
          <p:cNvPr id="28" name="Shape 26"/>
          <p:cNvSpPr/>
          <p:nvPr/>
        </p:nvSpPr>
        <p:spPr>
          <a:xfrm>
            <a:off x="6949440" y="4740568"/>
            <a:ext cx="4511040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9" name="Text 27"/>
          <p:cNvSpPr/>
          <p:nvPr/>
        </p:nvSpPr>
        <p:spPr>
          <a:xfrm>
            <a:off x="6949440" y="4740568"/>
            <a:ext cx="45110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609600" y="5459896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1" name="Text 29"/>
          <p:cNvSpPr/>
          <p:nvPr/>
        </p:nvSpPr>
        <p:spPr>
          <a:xfrm>
            <a:off x="731520" y="5459896"/>
            <a:ext cx="43891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733" dirty="0"/>
          </a:p>
        </p:txBody>
      </p:sp>
      <p:sp>
        <p:nvSpPr>
          <p:cNvPr id="32" name="Shape 30"/>
          <p:cNvSpPr/>
          <p:nvPr/>
        </p:nvSpPr>
        <p:spPr>
          <a:xfrm>
            <a:off x="6949440" y="5459896"/>
            <a:ext cx="4511040" cy="63398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3" name="Text 31"/>
          <p:cNvSpPr/>
          <p:nvPr/>
        </p:nvSpPr>
        <p:spPr>
          <a:xfrm>
            <a:off x="7071360" y="5459896"/>
            <a:ext cx="4273617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de dado (INT, VARCHAR...)</a:t>
            </a:r>
            <a:endParaRPr lang="en-US" sz="1733" dirty="0"/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024AC9D8-5CD5-DE06-BAAD-F8A7D88B31FD}"/>
              </a:ext>
            </a:extLst>
          </p:cNvPr>
          <p:cNvSpPr/>
          <p:nvPr/>
        </p:nvSpPr>
        <p:spPr>
          <a:xfrm>
            <a:off x="5383783" y="2899576"/>
            <a:ext cx="1302514" cy="131326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3474720" cy="4511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347472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" y="1584960"/>
            <a:ext cx="792480" cy="79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248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declarativa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792480" y="3413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diz O QUE quer, não COMO fazer. O SGBD decide o melhor caminho.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389120" y="1341120"/>
            <a:ext cx="3474720" cy="4511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Shape 7"/>
          <p:cNvSpPr/>
          <p:nvPr/>
        </p:nvSpPr>
        <p:spPr>
          <a:xfrm>
            <a:off x="4389120" y="1341120"/>
            <a:ext cx="347472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0" y="1584960"/>
            <a:ext cx="792480" cy="792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Padronizada (ISO/ANSI)</a:t>
            </a:r>
            <a:endParaRPr lang="en-US" sz="1867" dirty="0"/>
          </a:p>
        </p:txBody>
      </p:sp>
      <p:sp>
        <p:nvSpPr>
          <p:cNvPr id="13" name="Text 9"/>
          <p:cNvSpPr/>
          <p:nvPr/>
        </p:nvSpPr>
        <p:spPr>
          <a:xfrm>
            <a:off x="4572000" y="3413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sintaxe central é padrão. Pequenas variações existem entre SGBDs (dialetos).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68640" y="1341120"/>
            <a:ext cx="3474720" cy="4511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5" name="Shape 11"/>
          <p:cNvSpPr/>
          <p:nvPr/>
        </p:nvSpPr>
        <p:spPr>
          <a:xfrm>
            <a:off x="8168640" y="1341120"/>
            <a:ext cx="347472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584960"/>
            <a:ext cx="792480" cy="792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 com o SGBD</a:t>
            </a:r>
            <a:endParaRPr lang="en-US" sz="1867" dirty="0"/>
          </a:p>
        </p:txBody>
      </p:sp>
      <p:sp>
        <p:nvSpPr>
          <p:cNvPr id="18" name="Text 13"/>
          <p:cNvSpPr/>
          <p:nvPr/>
        </p:nvSpPr>
        <p:spPr>
          <a:xfrm>
            <a:off x="8351520" y="3413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MySQL, você escreve SQL e o servidor executa, gerencia e retorna os dados.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609600" y="61569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Structured Query Language  (ISO/IEC 9075)</a:t>
            </a:r>
            <a:endParaRPr lang="en-US" sz="1467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77FD742C-818F-D6E6-EC95-984A7CBE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2"/>
                </a:solidFill>
              </a:rPr>
              <a:t>O Que é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tem três grandes grupos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609600" y="1158240"/>
            <a:ext cx="3596640" cy="536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609600" y="1158240"/>
            <a:ext cx="3596640" cy="853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09600" y="1341120"/>
            <a:ext cx="359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4267" dirty="0"/>
          </a:p>
        </p:txBody>
      </p:sp>
      <p:sp>
        <p:nvSpPr>
          <p:cNvPr id="7" name="Text 5"/>
          <p:cNvSpPr/>
          <p:nvPr/>
        </p:nvSpPr>
        <p:spPr>
          <a:xfrm>
            <a:off x="609600" y="2255520"/>
            <a:ext cx="359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609600" y="2865120"/>
            <a:ext cx="359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estrutura do banco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5360" y="3596640"/>
            <a:ext cx="2865120" cy="463296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975360" y="3596640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975360" y="4181856"/>
            <a:ext cx="2865120" cy="463296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975360" y="4181856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975360" y="4767072"/>
            <a:ext cx="2865120" cy="463296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975360" y="4767072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975360" y="5352288"/>
            <a:ext cx="2865120" cy="463296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6" name="Text 14"/>
          <p:cNvSpPr/>
          <p:nvPr/>
        </p:nvSpPr>
        <p:spPr>
          <a:xfrm>
            <a:off x="975360" y="5352288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4450080" y="1158240"/>
            <a:ext cx="3596640" cy="536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4450080" y="1341120"/>
            <a:ext cx="359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4267" dirty="0"/>
          </a:p>
        </p:txBody>
      </p:sp>
      <p:sp>
        <p:nvSpPr>
          <p:cNvPr id="19" name="Text 17"/>
          <p:cNvSpPr/>
          <p:nvPr/>
        </p:nvSpPr>
        <p:spPr>
          <a:xfrm>
            <a:off x="4450080" y="2255520"/>
            <a:ext cx="359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4450080" y="2865120"/>
            <a:ext cx="359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 os dados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15840" y="3596640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2" name="Text 20"/>
          <p:cNvSpPr/>
          <p:nvPr/>
        </p:nvSpPr>
        <p:spPr>
          <a:xfrm>
            <a:off x="4815840" y="3596640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4815840" y="4181856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4" name="Text 22"/>
          <p:cNvSpPr/>
          <p:nvPr/>
        </p:nvSpPr>
        <p:spPr>
          <a:xfrm>
            <a:off x="4815840" y="4181856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733" dirty="0"/>
          </a:p>
        </p:txBody>
      </p:sp>
      <p:sp>
        <p:nvSpPr>
          <p:cNvPr id="25" name="Shape 23"/>
          <p:cNvSpPr/>
          <p:nvPr/>
        </p:nvSpPr>
        <p:spPr>
          <a:xfrm>
            <a:off x="4815840" y="4767072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6" name="Text 24"/>
          <p:cNvSpPr/>
          <p:nvPr/>
        </p:nvSpPr>
        <p:spPr>
          <a:xfrm>
            <a:off x="4815840" y="4767072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8290560" y="1158240"/>
            <a:ext cx="3596640" cy="536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8" name="Text 26"/>
          <p:cNvSpPr/>
          <p:nvPr/>
        </p:nvSpPr>
        <p:spPr>
          <a:xfrm>
            <a:off x="8290560" y="1341120"/>
            <a:ext cx="359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</a:t>
            </a:r>
            <a:endParaRPr lang="en-US" sz="4267" dirty="0"/>
          </a:p>
        </p:txBody>
      </p:sp>
      <p:sp>
        <p:nvSpPr>
          <p:cNvPr id="29" name="Text 27"/>
          <p:cNvSpPr/>
          <p:nvPr/>
        </p:nvSpPr>
        <p:spPr>
          <a:xfrm>
            <a:off x="8290560" y="2255520"/>
            <a:ext cx="359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8290560" y="2865120"/>
            <a:ext cx="359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os dados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56320" y="3596640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2" name="Text 30"/>
          <p:cNvSpPr/>
          <p:nvPr/>
        </p:nvSpPr>
        <p:spPr>
          <a:xfrm>
            <a:off x="8656320" y="3596640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733" dirty="0"/>
          </a:p>
        </p:txBody>
      </p:sp>
      <p:sp>
        <p:nvSpPr>
          <p:cNvPr id="33" name="Shape 31"/>
          <p:cNvSpPr/>
          <p:nvPr/>
        </p:nvSpPr>
        <p:spPr>
          <a:xfrm>
            <a:off x="8656320" y="4181856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4" name="Text 32"/>
          <p:cNvSpPr/>
          <p:nvPr/>
        </p:nvSpPr>
        <p:spPr>
          <a:xfrm>
            <a:off x="8656320" y="4181856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733" dirty="0"/>
          </a:p>
        </p:txBody>
      </p:sp>
      <p:sp>
        <p:nvSpPr>
          <p:cNvPr id="35" name="Shape 33"/>
          <p:cNvSpPr/>
          <p:nvPr/>
        </p:nvSpPr>
        <p:spPr>
          <a:xfrm>
            <a:off x="8656320" y="4767072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6" name="Text 34"/>
          <p:cNvSpPr/>
          <p:nvPr/>
        </p:nvSpPr>
        <p:spPr>
          <a:xfrm>
            <a:off x="8656320" y="4767072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733" dirty="0"/>
          </a:p>
        </p:txBody>
      </p:sp>
      <p:sp>
        <p:nvSpPr>
          <p:cNvPr id="37" name="Shape 35"/>
          <p:cNvSpPr/>
          <p:nvPr/>
        </p:nvSpPr>
        <p:spPr>
          <a:xfrm>
            <a:off x="8656320" y="5352288"/>
            <a:ext cx="2865120" cy="463296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8" name="Text 36"/>
          <p:cNvSpPr/>
          <p:nvPr/>
        </p:nvSpPr>
        <p:spPr>
          <a:xfrm>
            <a:off x="8656320" y="5352288"/>
            <a:ext cx="2865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7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4" name="Shape 2"/>
          <p:cNvSpPr/>
          <p:nvPr/>
        </p:nvSpPr>
        <p:spPr>
          <a:xfrm>
            <a:off x="426720" y="1158240"/>
            <a:ext cx="365760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426720" y="11582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426720" y="1731264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Text 5"/>
          <p:cNvSpPr/>
          <p:nvPr/>
        </p:nvSpPr>
        <p:spPr>
          <a:xfrm>
            <a:off x="548640" y="173126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72640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(−2B a +2B)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26720" y="2487168"/>
            <a:ext cx="3657600" cy="69494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28544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muito grandes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26720" y="3243072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/>
          <p:nvPr/>
        </p:nvSpPr>
        <p:spPr>
          <a:xfrm>
            <a:off x="548640" y="3243072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DECIMAL(p,s)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exata (ex: dinheiro)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426720" y="3998976"/>
            <a:ext cx="3657600" cy="69494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6" name="Text 14"/>
          <p:cNvSpPr/>
          <p:nvPr/>
        </p:nvSpPr>
        <p:spPr>
          <a:xfrm>
            <a:off x="548640" y="3998976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/ DOUBLE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40352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flutuante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4389120" y="1158240"/>
            <a:ext cx="365760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7"/>
          <p:cNvSpPr/>
          <p:nvPr/>
        </p:nvSpPr>
        <p:spPr>
          <a:xfrm>
            <a:off x="4389120" y="11582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Textuais</a:t>
            </a:r>
            <a:endParaRPr lang="en-US" sz="1867" dirty="0"/>
          </a:p>
        </p:txBody>
      </p:sp>
      <p:sp>
        <p:nvSpPr>
          <p:cNvPr id="20" name="Shape 18"/>
          <p:cNvSpPr/>
          <p:nvPr/>
        </p:nvSpPr>
        <p:spPr>
          <a:xfrm>
            <a:off x="4389120" y="1731264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Text 19"/>
          <p:cNvSpPr/>
          <p:nvPr/>
        </p:nvSpPr>
        <p:spPr>
          <a:xfrm>
            <a:off x="4511040" y="173126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11040" y="2072640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fixo — ex: CEP, UF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4389120" y="2487168"/>
            <a:ext cx="3657600" cy="69494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4" name="Text 22"/>
          <p:cNvSpPr/>
          <p:nvPr/>
        </p:nvSpPr>
        <p:spPr>
          <a:xfrm>
            <a:off x="4511040" y="2487168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1040" y="2828544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variável até n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389120" y="3243072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7" name="Text 25"/>
          <p:cNvSpPr/>
          <p:nvPr/>
        </p:nvSpPr>
        <p:spPr>
          <a:xfrm>
            <a:off x="4511040" y="3243072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11040" y="3584448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longos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8351520" y="1158240"/>
            <a:ext cx="3657600" cy="51206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0" name="Text 28"/>
          <p:cNvSpPr/>
          <p:nvPr/>
        </p:nvSpPr>
        <p:spPr>
          <a:xfrm>
            <a:off x="8351520" y="11582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Temporais</a:t>
            </a:r>
            <a:endParaRPr lang="en-US" sz="1867" dirty="0"/>
          </a:p>
        </p:txBody>
      </p:sp>
      <p:sp>
        <p:nvSpPr>
          <p:cNvPr id="31" name="Shape 29"/>
          <p:cNvSpPr/>
          <p:nvPr/>
        </p:nvSpPr>
        <p:spPr>
          <a:xfrm>
            <a:off x="8351520" y="1731264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2" name="Text 30"/>
          <p:cNvSpPr/>
          <p:nvPr/>
        </p:nvSpPr>
        <p:spPr>
          <a:xfrm>
            <a:off x="8473440" y="1731264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73440" y="2072640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data: YYYY-MM-DD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8351520" y="2487168"/>
            <a:ext cx="3657600" cy="69494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3"/>
          <p:cNvSpPr/>
          <p:nvPr/>
        </p:nvSpPr>
        <p:spPr>
          <a:xfrm>
            <a:off x="8473440" y="2487168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73440" y="2828544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hora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8351520" y="3243072"/>
            <a:ext cx="3657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8" name="Text 36"/>
          <p:cNvSpPr/>
          <p:nvPr/>
        </p:nvSpPr>
        <p:spPr>
          <a:xfrm>
            <a:off x="8473440" y="3243072"/>
            <a:ext cx="3413760" cy="341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16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73440" y="3584448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hora (com fuso UTC)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426720" y="5791200"/>
            <a:ext cx="11338560" cy="670560"/>
          </a:xfrm>
          <a:prstGeom prst="rect">
            <a:avLst/>
          </a:prstGeom>
          <a:solidFill>
            <a:srgbClr val="FFF8E1"/>
          </a:solidFill>
          <a:ln w="63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41" name="Text 39"/>
          <p:cNvSpPr/>
          <p:nvPr/>
        </p:nvSpPr>
        <p:spPr>
          <a:xfrm>
            <a:off x="609600" y="5791200"/>
            <a:ext cx="1109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DECIMAL para valores monetários — nunca FLOAT (erros de arredondamento!)</a:t>
            </a:r>
            <a:endParaRPr lang="en-US" sz="1600" dirty="0"/>
          </a:p>
        </p:txBody>
      </p:sp>
      <p:sp>
        <p:nvSpPr>
          <p:cNvPr id="44" name="Text 1"/>
          <p:cNvSpPr>
            <a:spLocks noGrp="1"/>
          </p:cNvSpPr>
          <p:nvPr>
            <p:ph type="title"/>
          </p:nvPr>
        </p:nvSpPr>
        <p:spPr>
          <a:xfrm>
            <a:off x="311150" y="274638"/>
            <a:ext cx="10900189" cy="700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 no MySQL</a:t>
            </a:r>
            <a:endParaRPr lang="en-US" sz="34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CREATE TABLE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609600" y="1097280"/>
            <a:ext cx="6705600" cy="5242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792480" y="119481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</a:t>
            </a:r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livraria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792480" y="162153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CHARACTER SET </a:t>
            </a:r>
            <a:r>
              <a:rPr lang="en-US" sz="1467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utf8mb4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92480" y="247497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livraria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92480" y="332841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792480" y="375513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id_autor   </a:t>
            </a:r>
            <a:r>
              <a:rPr lang="en-US" sz="1467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NULL  AUTO_INCREMENT,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792480" y="418185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      </a:t>
            </a:r>
            <a:r>
              <a:rPr lang="en-US" sz="1467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NOT NULL,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792480" y="460857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</a:t>
            </a:r>
            <a:r>
              <a:rPr lang="en-US" sz="1467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(150) UNIQUE,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92480" y="503529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(id_autor)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92480" y="5462016"/>
            <a:ext cx="6339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7376160" y="134112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5" name="Text 13"/>
          <p:cNvSpPr/>
          <p:nvPr/>
        </p:nvSpPr>
        <p:spPr>
          <a:xfrm>
            <a:off x="7802880" y="119481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banco de dados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7376160" y="176784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7" name="Text 15"/>
          <p:cNvSpPr/>
          <p:nvPr/>
        </p:nvSpPr>
        <p:spPr>
          <a:xfrm>
            <a:off x="7802880" y="162153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codificação de caracteres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7376160" y="249936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7"/>
          <p:cNvSpPr/>
          <p:nvPr/>
        </p:nvSpPr>
        <p:spPr>
          <a:xfrm>
            <a:off x="7802880" y="235305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o banco ativo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7376160" y="292608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Text 19"/>
          <p:cNvSpPr/>
          <p:nvPr/>
        </p:nvSpPr>
        <p:spPr>
          <a:xfrm>
            <a:off x="7802880" y="277977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criação da tabela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7376160" y="377952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3" name="Text 21"/>
          <p:cNvSpPr/>
          <p:nvPr/>
        </p:nvSpPr>
        <p:spPr>
          <a:xfrm>
            <a:off x="7802880" y="363321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 + auto incremento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7376160" y="420624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5" name="Text 23"/>
          <p:cNvSpPr/>
          <p:nvPr/>
        </p:nvSpPr>
        <p:spPr>
          <a:xfrm>
            <a:off x="7802880" y="405993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7376160" y="4632960"/>
            <a:ext cx="36576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7" name="Text 25"/>
          <p:cNvSpPr/>
          <p:nvPr/>
        </p:nvSpPr>
        <p:spPr>
          <a:xfrm>
            <a:off x="7802880" y="4486656"/>
            <a:ext cx="402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único (sem duplicatas)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garantindo a integridade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20" y="6217920"/>
            <a:ext cx="5608320" cy="73152"/>
          </a:xfrm>
          <a:prstGeom prst="rect">
            <a:avLst/>
          </a:prstGeom>
          <a:solidFill>
            <a:srgbClr val="8D7B68"/>
          </a:solidFill>
          <a:ln w="12700">
            <a:solidFill>
              <a:srgbClr val="8D7B68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6400800" y="6217920"/>
            <a:ext cx="5608320" cy="73152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Shape 4"/>
          <p:cNvSpPr/>
          <p:nvPr/>
        </p:nvSpPr>
        <p:spPr>
          <a:xfrm>
            <a:off x="426720" y="1280160"/>
            <a:ext cx="11338560" cy="1560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Shape 5"/>
          <p:cNvSpPr/>
          <p:nvPr/>
        </p:nvSpPr>
        <p:spPr>
          <a:xfrm>
            <a:off x="426720" y="1280160"/>
            <a:ext cx="97536" cy="1560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670560" y="1377696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670560" y="1865376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unicamente cada linha. Implica NOT NULL + UNIQUE. Toda tabela deve ter uma.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0" y="1426464"/>
            <a:ext cx="4145280" cy="1158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1" name="Text 9"/>
          <p:cNvSpPr/>
          <p:nvPr/>
        </p:nvSpPr>
        <p:spPr>
          <a:xfrm>
            <a:off x="7559040" y="1426464"/>
            <a:ext cx="40233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id_livro INT PRIMARY KEY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26720" y="3011424"/>
            <a:ext cx="11338560" cy="1560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Shape 11"/>
          <p:cNvSpPr/>
          <p:nvPr/>
        </p:nvSpPr>
        <p:spPr>
          <a:xfrm>
            <a:off x="426720" y="3011424"/>
            <a:ext cx="97536" cy="1560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670560" y="310896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70560" y="359664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duas tabelas. Garante que o valor referenciado existe na tabela pai (integridade referencial).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3157728"/>
            <a:ext cx="4145280" cy="1158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7" name="Text 15"/>
          <p:cNvSpPr/>
          <p:nvPr/>
        </p:nvSpPr>
        <p:spPr>
          <a:xfrm>
            <a:off x="7559040" y="3157728"/>
            <a:ext cx="40233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 (id_autor) REFERENCES autor(id_autor)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426720" y="4742688"/>
            <a:ext cx="11338560" cy="1560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Shape 17"/>
          <p:cNvSpPr/>
          <p:nvPr/>
        </p:nvSpPr>
        <p:spPr>
          <a:xfrm>
            <a:off x="426720" y="4742688"/>
            <a:ext cx="97536" cy="1560576"/>
          </a:xfrm>
          <a:prstGeom prst="rect">
            <a:avLst/>
          </a:prstGeom>
          <a:solidFill>
            <a:srgbClr val="5E7C8B"/>
          </a:solidFill>
          <a:ln w="12700">
            <a:solidFill>
              <a:srgbClr val="5E7C8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0" name="Text 18"/>
          <p:cNvSpPr/>
          <p:nvPr/>
        </p:nvSpPr>
        <p:spPr>
          <a:xfrm>
            <a:off x="670560" y="4840224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5E7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670560" y="5327904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é obrigatório — não aceita valor vazio.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4888992"/>
            <a:ext cx="4145280" cy="1158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3" name="Text 21"/>
          <p:cNvSpPr/>
          <p:nvPr/>
        </p:nvSpPr>
        <p:spPr>
          <a:xfrm>
            <a:off x="7559040" y="4888992"/>
            <a:ext cx="40233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VARCHAR(100) NOT NULL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426720" y="64008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UNIQUE e DEFAULT  →  próximo slide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constraints + ALTER TABLE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26720" y="1158240"/>
            <a:ext cx="560832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426720" y="1158240"/>
            <a:ext cx="5608320" cy="853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09600" y="1280160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174345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duplicatas. NULL é permitido.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218944"/>
            <a:ext cx="51816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670560" y="221894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VARCHAR(150) UNIQUE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400800" y="1158240"/>
            <a:ext cx="560832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1" name="Shape 9"/>
          <p:cNvSpPr/>
          <p:nvPr/>
        </p:nvSpPr>
        <p:spPr>
          <a:xfrm>
            <a:off x="6400800" y="1158240"/>
            <a:ext cx="5608320" cy="853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6583680" y="1280160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174345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padrão no INSERT omitido.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218944"/>
            <a:ext cx="518160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5" name="Text 13"/>
          <p:cNvSpPr/>
          <p:nvPr/>
        </p:nvSpPr>
        <p:spPr>
          <a:xfrm>
            <a:off x="6644640" y="2218944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 BOOLEAN DEFAULT TRUE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426720" y="310896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— modificando estruturas existentes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426720" y="3718560"/>
            <a:ext cx="11338560" cy="298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609600" y="3803904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Adicionar coluna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09600" y="41452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livro ADD COLUMN paginas INT;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09600" y="482803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Modificar tipo de uma coluna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09600" y="516940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livro MODIFY COLUMN titulo VARCHAR(200) NOT NULL;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09600" y="585216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Remover coluna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09600" y="619353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livro DROP COLUMN paginas;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— integridade referencial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4267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487680" y="1219200"/>
            <a:ext cx="426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487680" y="1767840"/>
            <a:ext cx="4267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Text 5"/>
          <p:cNvSpPr/>
          <p:nvPr/>
        </p:nvSpPr>
        <p:spPr>
          <a:xfrm>
            <a:off x="609600" y="1767840"/>
            <a:ext cx="1828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id_autor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38400" y="1767840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🔑 PK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" y="2279904"/>
            <a:ext cx="4267200" cy="487680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609600" y="2279904"/>
            <a:ext cx="1828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38400" y="2279904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87680" y="2791968"/>
            <a:ext cx="42672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Text 11"/>
          <p:cNvSpPr/>
          <p:nvPr/>
        </p:nvSpPr>
        <p:spPr>
          <a:xfrm>
            <a:off x="609600" y="2791968"/>
            <a:ext cx="1828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38400" y="2791968"/>
            <a:ext cx="2194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998720" y="2194560"/>
            <a:ext cx="207264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6" name="Text 14"/>
          <p:cNvSpPr/>
          <p:nvPr/>
        </p:nvSpPr>
        <p:spPr>
          <a:xfrm>
            <a:off x="4998720" y="1767840"/>
            <a:ext cx="487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6705600" y="1767840"/>
            <a:ext cx="487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67" dirty="0"/>
          </a:p>
        </p:txBody>
      </p:sp>
      <p:sp>
        <p:nvSpPr>
          <p:cNvPr id="18" name="Shape 16"/>
          <p:cNvSpPr/>
          <p:nvPr/>
        </p:nvSpPr>
        <p:spPr>
          <a:xfrm>
            <a:off x="7193280" y="1219200"/>
            <a:ext cx="463296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7"/>
          <p:cNvSpPr/>
          <p:nvPr/>
        </p:nvSpPr>
        <p:spPr>
          <a:xfrm>
            <a:off x="7193280" y="1219200"/>
            <a:ext cx="463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867" dirty="0"/>
          </a:p>
        </p:txBody>
      </p:sp>
      <p:sp>
        <p:nvSpPr>
          <p:cNvPr id="20" name="Shape 18"/>
          <p:cNvSpPr/>
          <p:nvPr/>
        </p:nvSpPr>
        <p:spPr>
          <a:xfrm>
            <a:off x="7193280" y="1767840"/>
            <a:ext cx="463296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Text 19"/>
          <p:cNvSpPr/>
          <p:nvPr/>
        </p:nvSpPr>
        <p:spPr>
          <a:xfrm>
            <a:off x="7315200" y="1767840"/>
            <a:ext cx="1950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id_livro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5920" y="1767840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🔑 PK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7193280" y="2279904"/>
            <a:ext cx="4632960" cy="487680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4" name="Text 22"/>
          <p:cNvSpPr/>
          <p:nvPr/>
        </p:nvSpPr>
        <p:spPr>
          <a:xfrm>
            <a:off x="7315200" y="2279904"/>
            <a:ext cx="1950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65920" y="2279904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VARCHAR(200)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7193280" y="2791968"/>
            <a:ext cx="4632960" cy="487680"/>
          </a:xfrm>
          <a:prstGeom prst="rect">
            <a:avLst/>
          </a:prstGeom>
          <a:solidFill>
            <a:srgbClr val="E8F4F8"/>
          </a:solidFill>
          <a:ln w="635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7" name="Text 25"/>
          <p:cNvSpPr/>
          <p:nvPr/>
        </p:nvSpPr>
        <p:spPr>
          <a:xfrm>
            <a:off x="7315200" y="2791968"/>
            <a:ext cx="1950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id_autor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65920" y="2791968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🔗 FK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7193280" y="3304032"/>
            <a:ext cx="4632960" cy="487680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0" name="Text 28"/>
          <p:cNvSpPr/>
          <p:nvPr/>
        </p:nvSpPr>
        <p:spPr>
          <a:xfrm>
            <a:off x="7315200" y="3304032"/>
            <a:ext cx="1950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65920" y="3304032"/>
            <a:ext cx="2316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487680" y="3962400"/>
            <a:ext cx="1133856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3" name="Text 31"/>
          <p:cNvSpPr/>
          <p:nvPr/>
        </p:nvSpPr>
        <p:spPr>
          <a:xfrm>
            <a:off x="670560" y="4047744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670560" y="4328160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id_livro  INT     AUTO_INCREMENT,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670560" y="4608576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titulo    VARCHAR(200) NOT NULL,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670560" y="4888992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id_autor  INT     NOT NULL,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70560" y="5169408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(id_livro),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670560" y="5449824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</a:t>
            </a:r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(id_autor) </a:t>
            </a:r>
            <a:r>
              <a:rPr lang="en-US" sz="1467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</a:t>
            </a:r>
            <a:r>
              <a:rPr lang="en-US" sz="14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autor(id_autor)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70560" y="5730240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  ON UPDATE CASCADE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670560" y="6010656"/>
            <a:ext cx="10972800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/ ON UPDATE — o que acontece?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20" y="1341120"/>
            <a:ext cx="542544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426720" y="1341120"/>
            <a:ext cx="5425440" cy="853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09600" y="14874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609600" y="2011680"/>
            <a:ext cx="49987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 operação. Não deixa deletar/atualizar o registro pai se houver filhos. Mais seguro.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9840" y="3413760"/>
            <a:ext cx="542544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9" name="Shape 7"/>
          <p:cNvSpPr/>
          <p:nvPr/>
        </p:nvSpPr>
        <p:spPr>
          <a:xfrm>
            <a:off x="6339840" y="3413760"/>
            <a:ext cx="5425440" cy="853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6522720" y="356006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522720" y="4084320"/>
            <a:ext cx="49987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 a operação. Se deletar o autor, deleta também todos os seus livros.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" y="1341120"/>
            <a:ext cx="542544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3" name="Shape 11"/>
          <p:cNvSpPr/>
          <p:nvPr/>
        </p:nvSpPr>
        <p:spPr>
          <a:xfrm>
            <a:off x="426720" y="1341120"/>
            <a:ext cx="5425440" cy="85344"/>
          </a:xfrm>
          <a:prstGeom prst="rect">
            <a:avLst/>
          </a:prstGeom>
          <a:solidFill>
            <a:srgbClr val="8D7B68"/>
          </a:solidFill>
          <a:ln w="12700">
            <a:solidFill>
              <a:srgbClr val="8D7B68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609600" y="14874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8D7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NULL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09600" y="2011680"/>
            <a:ext cx="49987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FK como NULL nos filhos. Útil quando o filho pode existir sem o pai.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39840" y="3413760"/>
            <a:ext cx="542544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7" name="Shape 15"/>
          <p:cNvSpPr/>
          <p:nvPr/>
        </p:nvSpPr>
        <p:spPr>
          <a:xfrm>
            <a:off x="6339840" y="3413760"/>
            <a:ext cx="5425440" cy="853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6522720" y="356006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ACTION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6522720" y="4084320"/>
            <a:ext cx="49987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ao RESTRICT no MySQL. Comportamento padrão se não declarado.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720" y="6156960"/>
            <a:ext cx="11338560" cy="512064"/>
          </a:xfrm>
          <a:prstGeom prst="rect">
            <a:avLst/>
          </a:prstGeom>
          <a:solidFill>
            <a:srgbClr val="E8F4F8"/>
          </a:solidFill>
          <a:ln w="635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1" name="Text 19"/>
          <p:cNvSpPr/>
          <p:nvPr/>
        </p:nvSpPr>
        <p:spPr>
          <a:xfrm>
            <a:off x="609600" y="6156960"/>
            <a:ext cx="1109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para iniciantes: use RESTRICT no ON DELETE e CASCADE no ON UPDATE.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e boas práticas de DDL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20" y="1097280"/>
            <a:ext cx="11338560" cy="1158240"/>
          </a:xfrm>
          <a:prstGeom prst="rect">
            <a:avLst/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82624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1120" y="1097280"/>
            <a:ext cx="102412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e DROP DATABASE são irreversíveis — sem lixeira, sem desfazer. Use com cuidado.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426720" y="2438400"/>
            <a:ext cx="670560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5"/>
          <p:cNvSpPr/>
          <p:nvPr/>
        </p:nvSpPr>
        <p:spPr>
          <a:xfrm>
            <a:off x="609600" y="2535936"/>
            <a:ext cx="6339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 verificação (recomendado)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609600" y="2877312"/>
            <a:ext cx="6339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livro;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609600" y="3560064"/>
            <a:ext cx="6339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Ordem importa: filho antes do pai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609600" y="3901440"/>
            <a:ext cx="6339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livro;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609600" y="4242816"/>
            <a:ext cx="6339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autor;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7315200" y="2438400"/>
            <a:ext cx="451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867" dirty="0"/>
          </a:p>
        </p:txBody>
      </p:sp>
      <p:sp>
        <p:nvSpPr>
          <p:cNvPr id="14" name="Shape 11"/>
          <p:cNvSpPr/>
          <p:nvPr/>
        </p:nvSpPr>
        <p:spPr>
          <a:xfrm>
            <a:off x="7315200" y="3048000"/>
            <a:ext cx="4511040" cy="56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36" y="312115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0" y="3048000"/>
            <a:ext cx="39014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EXISTS para evitar erros de script</a:t>
            </a:r>
            <a:endParaRPr lang="en-US" sz="1467" dirty="0"/>
          </a:p>
        </p:txBody>
      </p:sp>
      <p:sp>
        <p:nvSpPr>
          <p:cNvPr id="17" name="Shape 13"/>
          <p:cNvSpPr/>
          <p:nvPr/>
        </p:nvSpPr>
        <p:spPr>
          <a:xfrm>
            <a:off x="7315200" y="3681984"/>
            <a:ext cx="4511040" cy="56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36" y="375513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3681984"/>
            <a:ext cx="39014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tabelas e colunas em snake_case</a:t>
            </a:r>
            <a:endParaRPr lang="en-US" sz="1467" dirty="0"/>
          </a:p>
        </p:txBody>
      </p:sp>
      <p:sp>
        <p:nvSpPr>
          <p:cNvPr id="20" name="Shape 15"/>
          <p:cNvSpPr/>
          <p:nvPr/>
        </p:nvSpPr>
        <p:spPr>
          <a:xfrm>
            <a:off x="7315200" y="4315968"/>
            <a:ext cx="4511040" cy="56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36" y="4389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63840" y="4315968"/>
            <a:ext cx="39014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tabela deve ter PRIMARY KEY</a:t>
            </a:r>
            <a:endParaRPr lang="en-US" sz="1467" dirty="0"/>
          </a:p>
        </p:txBody>
      </p:sp>
      <p:sp>
        <p:nvSpPr>
          <p:cNvPr id="23" name="Shape 17"/>
          <p:cNvSpPr/>
          <p:nvPr/>
        </p:nvSpPr>
        <p:spPr>
          <a:xfrm>
            <a:off x="7315200" y="4949952"/>
            <a:ext cx="4511040" cy="56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36" y="5023104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63840" y="4949952"/>
            <a:ext cx="39014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charset UTF8MB4 no banco</a:t>
            </a:r>
            <a:endParaRPr lang="en-US" sz="1467" dirty="0"/>
          </a:p>
        </p:txBody>
      </p:sp>
      <p:sp>
        <p:nvSpPr>
          <p:cNvPr id="26" name="Shape 19"/>
          <p:cNvSpPr/>
          <p:nvPr/>
        </p:nvSpPr>
        <p:spPr>
          <a:xfrm>
            <a:off x="7315200" y="5583936"/>
            <a:ext cx="4511040" cy="56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736" y="565708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863840" y="5583936"/>
            <a:ext cx="39014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DECIMAL ao FLOAT para valores monetários</a:t>
            </a:r>
            <a:endParaRPr lang="en-US" sz="1467" dirty="0"/>
          </a:p>
        </p:txBody>
      </p:sp>
      <p:sp>
        <p:nvSpPr>
          <p:cNvPr id="29" name="Shape 21"/>
          <p:cNvSpPr/>
          <p:nvPr/>
        </p:nvSpPr>
        <p:spPr>
          <a:xfrm>
            <a:off x="426720" y="4754880"/>
            <a:ext cx="11338560" cy="1889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0" name="Text 22"/>
          <p:cNvSpPr/>
          <p:nvPr/>
        </p:nvSpPr>
        <p:spPr>
          <a:xfrm>
            <a:off x="609600" y="48158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dos comandos DDL vistos</a:t>
            </a:r>
            <a:endParaRPr lang="en-US" sz="1733" dirty="0"/>
          </a:p>
        </p:txBody>
      </p:sp>
      <p:sp>
        <p:nvSpPr>
          <p:cNvPr id="31" name="Shape 23"/>
          <p:cNvSpPr/>
          <p:nvPr/>
        </p:nvSpPr>
        <p:spPr>
          <a:xfrm>
            <a:off x="609600" y="530352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2" name="Text 24"/>
          <p:cNvSpPr/>
          <p:nvPr/>
        </p:nvSpPr>
        <p:spPr>
          <a:xfrm>
            <a:off x="609600" y="530352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4328160" y="530352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4" name="Text 26"/>
          <p:cNvSpPr/>
          <p:nvPr/>
        </p:nvSpPr>
        <p:spPr>
          <a:xfrm>
            <a:off x="4328160" y="530352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8046720" y="530352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6" name="Text 28"/>
          <p:cNvSpPr/>
          <p:nvPr/>
        </p:nvSpPr>
        <p:spPr>
          <a:xfrm>
            <a:off x="8046720" y="530352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09600" y="585216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8" name="Text 30"/>
          <p:cNvSpPr/>
          <p:nvPr/>
        </p:nvSpPr>
        <p:spPr>
          <a:xfrm>
            <a:off x="609600" y="585216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4328160" y="585216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40" name="Text 32"/>
          <p:cNvSpPr/>
          <p:nvPr/>
        </p:nvSpPr>
        <p:spPr>
          <a:xfrm>
            <a:off x="4328160" y="585216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8046720" y="5852160"/>
            <a:ext cx="347472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42" name="Text 34"/>
          <p:cNvSpPr/>
          <p:nvPr/>
        </p:nvSpPr>
        <p:spPr>
          <a:xfrm>
            <a:off x="8046720" y="5852160"/>
            <a:ext cx="3474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DATABASE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CA2BF-F87C-01D9-52BF-2B8AAEBF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D76566-9AD9-F987-7C17-C31166FB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11546203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Abra o Maria DB e crie o banco de dados “sistemas”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Crie a tabela Aluno com </a:t>
            </a:r>
            <a:r>
              <a:rPr lang="pt-BR" dirty="0" err="1"/>
              <a:t>cpf</a:t>
            </a:r>
            <a:r>
              <a:rPr lang="pt-BR" dirty="0"/>
              <a:t>, nome, data de nascimento, telefone, e-mail, e endereço completo.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Altere a tabela Aluno adicionando o atributo sexo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Exclua a tabela aluno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Crie a tabela cidade com Nome, UF e código </a:t>
            </a:r>
            <a:r>
              <a:rPr lang="pt-BR" dirty="0" err="1"/>
              <a:t>ibge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Crie a tabela aluno com a relação Aluno </a:t>
            </a:r>
            <a:r>
              <a:rPr lang="pt-BR"/>
              <a:t>(0,N</a:t>
            </a:r>
            <a:r>
              <a:rPr lang="pt-BR" dirty="0"/>
              <a:t>) </a:t>
            </a:r>
            <a:r>
              <a:rPr lang="pt-BR" dirty="0">
                <a:sym typeface="Wingdings" panose="05000000000000000000" pitchFamily="2" charset="2"/>
              </a:rPr>
              <a:t>– (1,1) cidade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986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0DEC3-3A4E-4475-BDB7-A74090A2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701A6-BCC0-270E-2F4A-9D5918FC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11421803" cy="4123705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Uma clínica veterinária deseja controlar o atendimento de seus animais. Cada animal possui nome, espécie, raça e data de nascimento, e pertence a um único tutor. O tutor é identificado por CPF e possui nome e telefone. Um tutor pode ter vários animais cadastrados. A clínica possui veterinários, cada um com CRM, nome e especialidade. Os atendimentos são registrados com data, descrição do problema e diagnóstico, sendo que cada atendimento envolve um único animal e é conduzido por um único veterinário. Um animal pode ter vários atendimentos ao longo do tempo, e um veterinário pode realizar vários atendimentos.</a:t>
            </a:r>
          </a:p>
          <a:p>
            <a:pPr lvl="1"/>
            <a:r>
              <a:rPr lang="pt-BR" dirty="0"/>
              <a:t>Crie o banco de dados “clinica”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5040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4642</TotalTime>
  <Words>1064</Words>
  <Application>Microsoft Office PowerPoint</Application>
  <PresentationFormat>Widescreen</PresentationFormat>
  <Paragraphs>203</Paragraphs>
  <Slides>16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Consolas</vt:lpstr>
      <vt:lpstr>Montserrat</vt:lpstr>
      <vt:lpstr>Open Sans</vt:lpstr>
      <vt:lpstr>Wingdings</vt:lpstr>
      <vt:lpstr>Tema do Office</vt:lpstr>
      <vt:lpstr>Apresentação do PowerPoint</vt:lpstr>
      <vt:lpstr>Objetivos do encontro</vt:lpstr>
      <vt:lpstr>Apresentação do PowerPoint</vt:lpstr>
      <vt:lpstr>Apresentação do PowerPoint</vt:lpstr>
      <vt:lpstr>O Que é SQL</vt:lpstr>
      <vt:lpstr>Apresentação do PowerPoint</vt:lpstr>
      <vt:lpstr>Tipos de dados no MySQL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Exercícios</vt:lpstr>
      <vt:lpstr>Exercícios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41</cp:revision>
  <dcterms:created xsi:type="dcterms:W3CDTF">2026-02-08T00:22:46Z</dcterms:created>
  <dcterms:modified xsi:type="dcterms:W3CDTF">2026-05-06T22:03:49Z</dcterms:modified>
  <cp:category/>
</cp:coreProperties>
</file>