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54B9F4-8B76-4C81-B9ED-9C606461265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F546C3-58FC-4404-84F3-BB4BCEEB05F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EB42BA-ADB3-4BAE-86CC-4B681E8F2A0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6621A4-3C3F-4085-BC9D-A74F2D84669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41E33-02E5-4ACD-8D17-1680FA172AD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4AB088-2BC0-4CA5-83C8-0749189656F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7E2A26-E9E3-4232-9E79-BA460905CA7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D070A7-C403-4CAF-8360-0B620BB2C8B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78EA3C-C13E-45C5-B607-80A1D9F336C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F52FFE-E09D-4094-B8E7-F51856C233A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19ED3A-5F9B-4E13-B1B0-2ED5FFD8C0D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E43A2A-9FBE-4936-A524-4D535A0F12B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87F27E-43A0-4E3E-AD3B-32D276DC5AD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C5C2E2-6B3D-4684-8A03-3DB92B23369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;p1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17;p1"/>
          <p:cNvSpPr/>
          <p:nvPr/>
        </p:nvSpPr>
        <p:spPr>
          <a:xfrm>
            <a:off x="0" y="73080"/>
            <a:ext cx="411120" cy="5069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Google Shape;18;p1" descr="preencoded.png"/>
          <p:cNvPicPr/>
          <p:nvPr/>
        </p:nvPicPr>
        <p:blipFill>
          <a:blip r:embed="rId1"/>
          <a:stretch/>
        </p:blipFill>
        <p:spPr>
          <a:xfrm>
            <a:off x="685800" y="77724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19;p1"/>
          <p:cNvSpPr/>
          <p:nvPr/>
        </p:nvSpPr>
        <p:spPr>
          <a:xfrm>
            <a:off x="1463040" y="7315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Banco de Dados I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20;p1"/>
          <p:cNvSpPr/>
          <p:nvPr/>
        </p:nvSpPr>
        <p:spPr>
          <a:xfrm>
            <a:off x="685800" y="1417320"/>
            <a:ext cx="7772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DML — Manipulação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Dados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21;p1"/>
          <p:cNvSpPr/>
          <p:nvPr/>
        </p:nvSpPr>
        <p:spPr>
          <a:xfrm>
            <a:off x="685800" y="3246120"/>
            <a:ext cx="2011320" cy="45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22;p1"/>
          <p:cNvSpPr/>
          <p:nvPr/>
        </p:nvSpPr>
        <p:spPr>
          <a:xfrm>
            <a:off x="685800" y="34290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Aula 2 — INSERT · UPDATE · DELETE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3;p1"/>
          <p:cNvSpPr/>
          <p:nvPr/>
        </p:nvSpPr>
        <p:spPr>
          <a:xfrm>
            <a:off x="685800" y="39776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Contexto: Biblioteca  ·  MySQL/MariaDB  ·  3 horas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9;p2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30;p2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O que veremos hoje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31;p2"/>
          <p:cNvSpPr/>
          <p:nvPr/>
        </p:nvSpPr>
        <p:spPr>
          <a:xfrm>
            <a:off x="457200" y="1005840"/>
            <a:ext cx="4114440" cy="1554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32;p2"/>
          <p:cNvSpPr/>
          <p:nvPr/>
        </p:nvSpPr>
        <p:spPr>
          <a:xfrm>
            <a:off x="457200" y="1005840"/>
            <a:ext cx="72720" cy="1554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33;p2"/>
          <p:cNvSpPr/>
          <p:nvPr/>
        </p:nvSpPr>
        <p:spPr>
          <a:xfrm>
            <a:off x="621720" y="114300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34;p2"/>
          <p:cNvSpPr/>
          <p:nvPr/>
        </p:nvSpPr>
        <p:spPr>
          <a:xfrm>
            <a:off x="621720" y="15087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Revisão DDL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35;p2"/>
          <p:cNvSpPr/>
          <p:nvPr/>
        </p:nvSpPr>
        <p:spPr>
          <a:xfrm>
            <a:off x="621720" y="187452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Corrigir exercício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6;p2"/>
          <p:cNvSpPr/>
          <p:nvPr/>
        </p:nvSpPr>
        <p:spPr>
          <a:xfrm>
            <a:off x="4800600" y="1005840"/>
            <a:ext cx="4114440" cy="1554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7;p2"/>
          <p:cNvSpPr/>
          <p:nvPr/>
        </p:nvSpPr>
        <p:spPr>
          <a:xfrm>
            <a:off x="4800600" y="1005840"/>
            <a:ext cx="72720" cy="1554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8;p2"/>
          <p:cNvSpPr/>
          <p:nvPr/>
        </p:nvSpPr>
        <p:spPr>
          <a:xfrm>
            <a:off x="4965120" y="114300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9;p2"/>
          <p:cNvSpPr/>
          <p:nvPr/>
        </p:nvSpPr>
        <p:spPr>
          <a:xfrm>
            <a:off x="4965120" y="15087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INSERT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40;p2"/>
          <p:cNvSpPr/>
          <p:nvPr/>
        </p:nvSpPr>
        <p:spPr>
          <a:xfrm>
            <a:off x="4965120" y="187452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Inserir dados respeitando tipos, constraints e ordem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41;p2"/>
          <p:cNvSpPr/>
          <p:nvPr/>
        </p:nvSpPr>
        <p:spPr>
          <a:xfrm>
            <a:off x="457200" y="2743200"/>
            <a:ext cx="4114440" cy="1554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42;p2"/>
          <p:cNvSpPr/>
          <p:nvPr/>
        </p:nvSpPr>
        <p:spPr>
          <a:xfrm>
            <a:off x="457200" y="2743200"/>
            <a:ext cx="72720" cy="1554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43;p2"/>
          <p:cNvSpPr/>
          <p:nvPr/>
        </p:nvSpPr>
        <p:spPr>
          <a:xfrm>
            <a:off x="621720" y="28803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44;p2"/>
          <p:cNvSpPr/>
          <p:nvPr/>
        </p:nvSpPr>
        <p:spPr>
          <a:xfrm>
            <a:off x="621720" y="32461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UPDATE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45;p2"/>
          <p:cNvSpPr/>
          <p:nvPr/>
        </p:nvSpPr>
        <p:spPr>
          <a:xfrm>
            <a:off x="621720" y="361188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Alterar dados existentes — a armadilha do WHERE ausente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6;p2"/>
          <p:cNvSpPr/>
          <p:nvPr/>
        </p:nvSpPr>
        <p:spPr>
          <a:xfrm>
            <a:off x="4800600" y="2743200"/>
            <a:ext cx="4114440" cy="1554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7;p2"/>
          <p:cNvSpPr/>
          <p:nvPr/>
        </p:nvSpPr>
        <p:spPr>
          <a:xfrm>
            <a:off x="4800600" y="2743200"/>
            <a:ext cx="72720" cy="1554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48;p2"/>
          <p:cNvSpPr/>
          <p:nvPr/>
        </p:nvSpPr>
        <p:spPr>
          <a:xfrm>
            <a:off x="4965120" y="28803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9;p2"/>
          <p:cNvSpPr/>
          <p:nvPr/>
        </p:nvSpPr>
        <p:spPr>
          <a:xfrm>
            <a:off x="4965120" y="32461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DELETE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50;p2"/>
          <p:cNvSpPr/>
          <p:nvPr/>
        </p:nvSpPr>
        <p:spPr>
          <a:xfrm>
            <a:off x="4965120" y="361188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Remover dados — TRUNCATE, soft delete e integridade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6;p3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7;p3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Ponto de partida — banco da biblioteca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abela 100"/>
          <p:cNvSpPr/>
          <p:nvPr/>
        </p:nvSpPr>
        <p:spPr>
          <a:xfrm>
            <a:off x="320040" y="800000"/>
            <a:ext cx="2023020" cy="265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abela 101"/>
          <p:cNvSpPr/>
          <p:nvPr/>
        </p:nvSpPr>
        <p:spPr>
          <a:xfrm>
            <a:off x="320040" y="800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editora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abela 102"/>
          <p:cNvSpPr/>
          <p:nvPr/>
        </p:nvSpPr>
        <p:spPr>
          <a:xfrm>
            <a:off x="320040" y="106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abela 103"/>
          <p:cNvSpPr/>
          <p:nvPr/>
        </p:nvSpPr>
        <p:spPr>
          <a:xfrm>
            <a:off x="388620" y="106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codEditora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abela 104"/>
          <p:cNvSpPr/>
          <p:nvPr/>
        </p:nvSpPr>
        <p:spPr>
          <a:xfrm>
            <a:off x="320040" y="1355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abela 105"/>
          <p:cNvSpPr/>
          <p:nvPr/>
        </p:nvSpPr>
        <p:spPr>
          <a:xfrm>
            <a:off x="388620" y="135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nomeEditora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abela 106"/>
          <p:cNvSpPr/>
          <p:nvPr/>
        </p:nvSpPr>
        <p:spPr>
          <a:xfrm>
            <a:off x="2480220" y="800000"/>
            <a:ext cx="2023020" cy="265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abela 107"/>
          <p:cNvSpPr/>
          <p:nvPr/>
        </p:nvSpPr>
        <p:spPr>
          <a:xfrm>
            <a:off x="2480220" y="800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livro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abela 108"/>
          <p:cNvSpPr/>
          <p:nvPr/>
        </p:nvSpPr>
        <p:spPr>
          <a:xfrm>
            <a:off x="2480220" y="106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abela 109"/>
          <p:cNvSpPr/>
          <p:nvPr/>
        </p:nvSpPr>
        <p:spPr>
          <a:xfrm>
            <a:off x="2548800" y="106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codigo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abela 110"/>
          <p:cNvSpPr/>
          <p:nvPr/>
        </p:nvSpPr>
        <p:spPr>
          <a:xfrm>
            <a:off x="2480220" y="1355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abela 111"/>
          <p:cNvSpPr/>
          <p:nvPr/>
        </p:nvSpPr>
        <p:spPr>
          <a:xfrm>
            <a:off x="2548800" y="135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ISBN (opt)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abela 112"/>
          <p:cNvSpPr/>
          <p:nvPr/>
        </p:nvSpPr>
        <p:spPr>
          <a:xfrm>
            <a:off x="2480220" y="164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abela 113"/>
          <p:cNvSpPr/>
          <p:nvPr/>
        </p:nvSpPr>
        <p:spPr>
          <a:xfrm>
            <a:off x="2548800" y="164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titulo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abela 114"/>
          <p:cNvSpPr/>
          <p:nvPr/>
        </p:nvSpPr>
        <p:spPr>
          <a:xfrm>
            <a:off x="2480220" y="1935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abela 115"/>
          <p:cNvSpPr/>
          <p:nvPr/>
        </p:nvSpPr>
        <p:spPr>
          <a:xfrm>
            <a:off x="2548800" y="193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ano (opt)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abela 116"/>
          <p:cNvSpPr/>
          <p:nvPr/>
        </p:nvSpPr>
        <p:spPr>
          <a:xfrm>
            <a:off x="2480220" y="222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abela 117"/>
          <p:cNvSpPr/>
          <p:nvPr/>
        </p:nvSpPr>
        <p:spPr>
          <a:xfrm>
            <a:off x="2548800" y="222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fkEditora 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abela 118"/>
          <p:cNvSpPr/>
          <p:nvPr/>
        </p:nvSpPr>
        <p:spPr>
          <a:xfrm>
            <a:off x="4640400" y="800000"/>
            <a:ext cx="2023020" cy="265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abela 119"/>
          <p:cNvSpPr/>
          <p:nvPr/>
        </p:nvSpPr>
        <p:spPr>
          <a:xfrm>
            <a:off x="4640400" y="800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autoria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abela 120"/>
          <p:cNvSpPr/>
          <p:nvPr/>
        </p:nvSpPr>
        <p:spPr>
          <a:xfrm>
            <a:off x="4640400" y="106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abela 121"/>
          <p:cNvSpPr/>
          <p:nvPr/>
        </p:nvSpPr>
        <p:spPr>
          <a:xfrm>
            <a:off x="4708980" y="106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fkAutor PK/FK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abela 122"/>
          <p:cNvSpPr/>
          <p:nvPr/>
        </p:nvSpPr>
        <p:spPr>
          <a:xfrm>
            <a:off x="4640400" y="1355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abela 123"/>
          <p:cNvSpPr/>
          <p:nvPr/>
        </p:nvSpPr>
        <p:spPr>
          <a:xfrm>
            <a:off x="4708980" y="135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fkLivro PK/FK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abela 124"/>
          <p:cNvSpPr/>
          <p:nvPr/>
        </p:nvSpPr>
        <p:spPr>
          <a:xfrm>
            <a:off x="4640400" y="164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abela 125"/>
          <p:cNvSpPr/>
          <p:nvPr/>
        </p:nvSpPr>
        <p:spPr>
          <a:xfrm>
            <a:off x="4708980" y="164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ordem (opt)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abela 126"/>
          <p:cNvSpPr/>
          <p:nvPr/>
        </p:nvSpPr>
        <p:spPr>
          <a:xfrm>
            <a:off x="6800580" y="800000"/>
            <a:ext cx="2023020" cy="265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abela 127"/>
          <p:cNvSpPr/>
          <p:nvPr/>
        </p:nvSpPr>
        <p:spPr>
          <a:xfrm>
            <a:off x="6800580" y="800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abela 128"/>
          <p:cNvSpPr/>
          <p:nvPr/>
        </p:nvSpPr>
        <p:spPr>
          <a:xfrm>
            <a:off x="6800580" y="106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abela 129"/>
          <p:cNvSpPr/>
          <p:nvPr/>
        </p:nvSpPr>
        <p:spPr>
          <a:xfrm>
            <a:off x="6869160" y="106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codigo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abela 130"/>
          <p:cNvSpPr/>
          <p:nvPr/>
        </p:nvSpPr>
        <p:spPr>
          <a:xfrm>
            <a:off x="6800580" y="1355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abela 131"/>
          <p:cNvSpPr/>
          <p:nvPr/>
        </p:nvSpPr>
        <p:spPr>
          <a:xfrm>
            <a:off x="6869160" y="135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abela 132"/>
          <p:cNvSpPr/>
          <p:nvPr/>
        </p:nvSpPr>
        <p:spPr>
          <a:xfrm>
            <a:off x="6800580" y="1645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abela 133"/>
          <p:cNvSpPr/>
          <p:nvPr/>
        </p:nvSpPr>
        <p:spPr>
          <a:xfrm>
            <a:off x="6869160" y="1645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nacionalidade (opt)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abela 134"/>
          <p:cNvSpPr/>
          <p:nvPr/>
        </p:nvSpPr>
        <p:spPr>
          <a:xfrm>
            <a:off x="320040" y="2685000"/>
            <a:ext cx="2023020" cy="265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abela 135"/>
          <p:cNvSpPr/>
          <p:nvPr/>
        </p:nvSpPr>
        <p:spPr>
          <a:xfrm>
            <a:off x="320040" y="2685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exemplar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abela 136"/>
          <p:cNvSpPr/>
          <p:nvPr/>
        </p:nvSpPr>
        <p:spPr>
          <a:xfrm>
            <a:off x="320040" y="295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abela 137"/>
          <p:cNvSpPr/>
          <p:nvPr/>
        </p:nvSpPr>
        <p:spPr>
          <a:xfrm>
            <a:off x="388620" y="295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codigo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abela 138"/>
          <p:cNvSpPr/>
          <p:nvPr/>
        </p:nvSpPr>
        <p:spPr>
          <a:xfrm>
            <a:off x="320040" y="3240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abela 139"/>
          <p:cNvSpPr/>
          <p:nvPr/>
        </p:nvSpPr>
        <p:spPr>
          <a:xfrm>
            <a:off x="388620" y="324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fkLivro 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abela 140"/>
          <p:cNvSpPr/>
          <p:nvPr/>
        </p:nvSpPr>
        <p:spPr>
          <a:xfrm>
            <a:off x="320040" y="353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abela 141"/>
          <p:cNvSpPr/>
          <p:nvPr/>
        </p:nvSpPr>
        <p:spPr>
          <a:xfrm>
            <a:off x="388620" y="353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numTombo UNIQUE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abela 142"/>
          <p:cNvSpPr/>
          <p:nvPr/>
        </p:nvSpPr>
        <p:spPr>
          <a:xfrm>
            <a:off x="320040" y="3820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abela 143"/>
          <p:cNvSpPr/>
          <p:nvPr/>
        </p:nvSpPr>
        <p:spPr>
          <a:xfrm>
            <a:off x="388620" y="382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disponivel DEFAULT 1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abela 144"/>
          <p:cNvSpPr/>
          <p:nvPr/>
        </p:nvSpPr>
        <p:spPr>
          <a:xfrm>
            <a:off x="2480220" y="2685000"/>
            <a:ext cx="2023020" cy="265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abela 145"/>
          <p:cNvSpPr/>
          <p:nvPr/>
        </p:nvSpPr>
        <p:spPr>
          <a:xfrm>
            <a:off x="2480220" y="2685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emprestimo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abela 146"/>
          <p:cNvSpPr/>
          <p:nvPr/>
        </p:nvSpPr>
        <p:spPr>
          <a:xfrm>
            <a:off x="2480220" y="295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abela 147"/>
          <p:cNvSpPr/>
          <p:nvPr/>
        </p:nvSpPr>
        <p:spPr>
          <a:xfrm>
            <a:off x="2548800" y="295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numero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abela 148"/>
          <p:cNvSpPr/>
          <p:nvPr/>
        </p:nvSpPr>
        <p:spPr>
          <a:xfrm>
            <a:off x="2480220" y="3240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abela 149"/>
          <p:cNvSpPr/>
          <p:nvPr/>
        </p:nvSpPr>
        <p:spPr>
          <a:xfrm>
            <a:off x="2548800" y="324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fkExemplar 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abela 150"/>
          <p:cNvSpPr/>
          <p:nvPr/>
        </p:nvSpPr>
        <p:spPr>
          <a:xfrm>
            <a:off x="2480220" y="353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abela 151"/>
          <p:cNvSpPr/>
          <p:nvPr/>
        </p:nvSpPr>
        <p:spPr>
          <a:xfrm>
            <a:off x="2548800" y="353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fkMembro 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abela 152"/>
          <p:cNvSpPr/>
          <p:nvPr/>
        </p:nvSpPr>
        <p:spPr>
          <a:xfrm>
            <a:off x="2480220" y="3820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abela 153"/>
          <p:cNvSpPr/>
          <p:nvPr/>
        </p:nvSpPr>
        <p:spPr>
          <a:xfrm>
            <a:off x="2548800" y="382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data_retirada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abela 154"/>
          <p:cNvSpPr/>
          <p:nvPr/>
        </p:nvSpPr>
        <p:spPr>
          <a:xfrm>
            <a:off x="2480220" y="411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abela 155"/>
          <p:cNvSpPr/>
          <p:nvPr/>
        </p:nvSpPr>
        <p:spPr>
          <a:xfrm>
            <a:off x="2548800" y="411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data_devolucao (opt)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abela 156"/>
          <p:cNvSpPr/>
          <p:nvPr/>
        </p:nvSpPr>
        <p:spPr>
          <a:xfrm>
            <a:off x="4640400" y="2685000"/>
            <a:ext cx="2023020" cy="265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abela 157"/>
          <p:cNvSpPr/>
          <p:nvPr/>
        </p:nvSpPr>
        <p:spPr>
          <a:xfrm>
            <a:off x="4640400" y="2685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membro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abela 158"/>
          <p:cNvSpPr/>
          <p:nvPr/>
        </p:nvSpPr>
        <p:spPr>
          <a:xfrm>
            <a:off x="4640400" y="295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abela 159"/>
          <p:cNvSpPr/>
          <p:nvPr/>
        </p:nvSpPr>
        <p:spPr>
          <a:xfrm>
            <a:off x="4708980" y="295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codigo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abela 160"/>
          <p:cNvSpPr/>
          <p:nvPr/>
        </p:nvSpPr>
        <p:spPr>
          <a:xfrm>
            <a:off x="4640400" y="3240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abela 161"/>
          <p:cNvSpPr/>
          <p:nvPr/>
        </p:nvSpPr>
        <p:spPr>
          <a:xfrm>
            <a:off x="4708980" y="324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matricula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abela 162"/>
          <p:cNvSpPr/>
          <p:nvPr/>
        </p:nvSpPr>
        <p:spPr>
          <a:xfrm>
            <a:off x="4640400" y="353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abela 163"/>
          <p:cNvSpPr/>
          <p:nvPr/>
        </p:nvSpPr>
        <p:spPr>
          <a:xfrm>
            <a:off x="4708980" y="353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fkTipoMembro FK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abela 164"/>
          <p:cNvSpPr/>
          <p:nvPr/>
        </p:nvSpPr>
        <p:spPr>
          <a:xfrm>
            <a:off x="6800580" y="2685000"/>
            <a:ext cx="2023020" cy="265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abela 165"/>
          <p:cNvSpPr/>
          <p:nvPr/>
        </p:nvSpPr>
        <p:spPr>
          <a:xfrm>
            <a:off x="6800580" y="2685000"/>
            <a:ext cx="2023020" cy="2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tipo_membro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abela 166"/>
          <p:cNvSpPr/>
          <p:nvPr/>
        </p:nvSpPr>
        <p:spPr>
          <a:xfrm>
            <a:off x="6800580" y="2950000"/>
            <a:ext cx="2023020" cy="2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abela 167"/>
          <p:cNvSpPr/>
          <p:nvPr/>
        </p:nvSpPr>
        <p:spPr>
          <a:xfrm>
            <a:off x="6869160" y="295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codigo PK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abela 168"/>
          <p:cNvSpPr/>
          <p:nvPr/>
        </p:nvSpPr>
        <p:spPr>
          <a:xfrm>
            <a:off x="6800580" y="3240000"/>
            <a:ext cx="2023020" cy="2900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abela 169"/>
          <p:cNvSpPr/>
          <p:nvPr/>
        </p:nvSpPr>
        <p:spPr>
          <a:xfrm>
            <a:off x="6869160" y="3240000"/>
            <a:ext cx="1931580" cy="2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descricao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0;p3"/>
          <p:cNvSpPr/>
          <p:nvPr/>
        </p:nvSpPr>
        <p:spPr>
          <a:xfrm>
            <a:off x="320040" y="4663440"/>
            <a:ext cx="8503560" cy="347040"/>
          </a:xfrm>
          <a:prstGeom prst="rect">
            <a:avLst/>
          </a:prstGeom>
          <a:solidFill>
            <a:srgbClr val="eaf3de"/>
          </a:solidFill>
          <a:ln w="9525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1;p3"/>
          <p:cNvSpPr/>
          <p:nvPr/>
        </p:nvSpPr>
        <p:spPr>
          <a:xfrm>
            <a:off x="457200" y="466344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Todos partem deste banco já criado. Script DDL disponível no Classroom.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7;p4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8;p4"/>
          <p:cNvSpPr/>
          <p:nvPr/>
        </p:nvSpPr>
        <p:spPr>
          <a:xfrm>
            <a:off x="54864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DML — Data Manipulation Language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9;p4"/>
          <p:cNvSpPr/>
          <p:nvPr/>
        </p:nvSpPr>
        <p:spPr>
          <a:xfrm>
            <a:off x="457200" y="1005840"/>
            <a:ext cx="2605680" cy="347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0;p4"/>
          <p:cNvSpPr/>
          <p:nvPr/>
        </p:nvSpPr>
        <p:spPr>
          <a:xfrm>
            <a:off x="457200" y="1005840"/>
            <a:ext cx="2605680" cy="637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111;p4" descr="preencoded.png"/>
          <p:cNvPicPr/>
          <p:nvPr/>
        </p:nvPicPr>
        <p:blipFill>
          <a:blip r:embed="rId1"/>
          <a:stretch/>
        </p:blipFill>
        <p:spPr>
          <a:xfrm>
            <a:off x="1463040" y="118872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Google Shape;112;p4"/>
          <p:cNvSpPr/>
          <p:nvPr/>
        </p:nvSpPr>
        <p:spPr>
          <a:xfrm>
            <a:off x="594360" y="19202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INSERT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3;p4"/>
          <p:cNvSpPr/>
          <p:nvPr/>
        </p:nvSpPr>
        <p:spPr>
          <a:xfrm>
            <a:off x="594360" y="2468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Adiciona novas linhas a uma tabela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4;p4"/>
          <p:cNvSpPr/>
          <p:nvPr/>
        </p:nvSpPr>
        <p:spPr>
          <a:xfrm>
            <a:off x="594360" y="3291840"/>
            <a:ext cx="233136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5;p4"/>
          <p:cNvSpPr/>
          <p:nvPr/>
        </p:nvSpPr>
        <p:spPr>
          <a:xfrm>
            <a:off x="640080" y="333756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INSERT INTO tabela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VALUES (...);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6;p4"/>
          <p:cNvSpPr/>
          <p:nvPr/>
        </p:nvSpPr>
        <p:spPr>
          <a:xfrm>
            <a:off x="3291840" y="1005840"/>
            <a:ext cx="2605680" cy="347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17;p4"/>
          <p:cNvSpPr/>
          <p:nvPr/>
        </p:nvSpPr>
        <p:spPr>
          <a:xfrm>
            <a:off x="3291840" y="1005840"/>
            <a:ext cx="2605680" cy="63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Google Shape;118;p4" descr="preencoded.png"/>
          <p:cNvPicPr/>
          <p:nvPr/>
        </p:nvPicPr>
        <p:blipFill>
          <a:blip r:embed="rId2"/>
          <a:stretch/>
        </p:blipFill>
        <p:spPr>
          <a:xfrm>
            <a:off x="4297680" y="118872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Google Shape;119;p4"/>
          <p:cNvSpPr/>
          <p:nvPr/>
        </p:nvSpPr>
        <p:spPr>
          <a:xfrm>
            <a:off x="3429000" y="19202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UPDATE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0;p4"/>
          <p:cNvSpPr/>
          <p:nvPr/>
        </p:nvSpPr>
        <p:spPr>
          <a:xfrm>
            <a:off x="3429000" y="2468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Modifica dados de linhas existentes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1;p4"/>
          <p:cNvSpPr/>
          <p:nvPr/>
        </p:nvSpPr>
        <p:spPr>
          <a:xfrm>
            <a:off x="3429000" y="3291840"/>
            <a:ext cx="233136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2;p4"/>
          <p:cNvSpPr/>
          <p:nvPr/>
        </p:nvSpPr>
        <p:spPr>
          <a:xfrm>
            <a:off x="3474720" y="333756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UPDATE tabela SET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col = val WHERE ...;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3;p4"/>
          <p:cNvSpPr/>
          <p:nvPr/>
        </p:nvSpPr>
        <p:spPr>
          <a:xfrm>
            <a:off x="6126480" y="1005840"/>
            <a:ext cx="2605680" cy="347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4;p4"/>
          <p:cNvSpPr/>
          <p:nvPr/>
        </p:nvSpPr>
        <p:spPr>
          <a:xfrm>
            <a:off x="6126480" y="1005840"/>
            <a:ext cx="2605680" cy="637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25;p4" descr="preencoded.png"/>
          <p:cNvPicPr/>
          <p:nvPr/>
        </p:nvPicPr>
        <p:blipFill>
          <a:blip r:embed="rId3"/>
          <a:stretch/>
        </p:blipFill>
        <p:spPr>
          <a:xfrm>
            <a:off x="7132320" y="118872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26;p4"/>
          <p:cNvSpPr/>
          <p:nvPr/>
        </p:nvSpPr>
        <p:spPr>
          <a:xfrm>
            <a:off x="6263640" y="19202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DELETE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7;p4"/>
          <p:cNvSpPr/>
          <p:nvPr/>
        </p:nvSpPr>
        <p:spPr>
          <a:xfrm>
            <a:off x="6263640" y="2468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Remove linhas de uma tabela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28;p4"/>
          <p:cNvSpPr/>
          <p:nvPr/>
        </p:nvSpPr>
        <p:spPr>
          <a:xfrm>
            <a:off x="6263640" y="3291840"/>
            <a:ext cx="233136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29;p4"/>
          <p:cNvSpPr/>
          <p:nvPr/>
        </p:nvSpPr>
        <p:spPr>
          <a:xfrm>
            <a:off x="6309360" y="333756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DELETE FROM tabela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WHERE ...;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0;p4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DML opera sobre os DADOS — a estrutura (DDL) já deve existir.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36;p5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7;p5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INSERT — adicionando dados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8;p5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Sintaxe completa (recomendada)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9;p5"/>
          <p:cNvSpPr/>
          <p:nvPr/>
        </p:nvSpPr>
        <p:spPr>
          <a:xfrm>
            <a:off x="457200" y="1234440"/>
            <a:ext cx="8320680" cy="86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40;p5"/>
          <p:cNvSpPr/>
          <p:nvPr/>
        </p:nvSpPr>
        <p:spPr>
          <a:xfrm>
            <a:off x="594360" y="129852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INSERT INTO livro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(ISBN, titulo, ano, fkEditora)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1;p5"/>
          <p:cNvSpPr/>
          <p:nvPr/>
        </p:nvSpPr>
        <p:spPr>
          <a:xfrm>
            <a:off x="594360" y="161856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VALUES </a:t>
            </a:r>
            <a:r>
              <a:rPr b="0" lang="en-US" sz="12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('8503012345', 'Poemas dos Becos de Goiás', 1965, 1);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2;p5"/>
          <p:cNvSpPr/>
          <p:nvPr/>
        </p:nvSpPr>
        <p:spPr>
          <a:xfrm>
            <a:off x="457200" y="22860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Colunas explícitas vs. implícitas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3;p5"/>
          <p:cNvSpPr/>
          <p:nvPr/>
        </p:nvSpPr>
        <p:spPr>
          <a:xfrm>
            <a:off x="457200" y="2651760"/>
            <a:ext cx="3931560" cy="3196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4;p5"/>
          <p:cNvSpPr/>
          <p:nvPr/>
        </p:nvSpPr>
        <p:spPr>
          <a:xfrm>
            <a:off x="457200" y="26517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colunas (recomendado)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5;p5"/>
          <p:cNvSpPr/>
          <p:nvPr/>
        </p:nvSpPr>
        <p:spPr>
          <a:xfrm>
            <a:off x="457200" y="2999160"/>
            <a:ext cx="3931560" cy="639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6;p5"/>
          <p:cNvSpPr/>
          <p:nvPr/>
        </p:nvSpPr>
        <p:spPr>
          <a:xfrm>
            <a:off x="548640" y="304488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INSERT INTO autor (nome, nacionalidade)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VALUES ('Cora Coralina', 'Brasileira');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7;p5"/>
          <p:cNvSpPr/>
          <p:nvPr/>
        </p:nvSpPr>
        <p:spPr>
          <a:xfrm>
            <a:off x="4754880" y="2651760"/>
            <a:ext cx="3931560" cy="3196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8;p5"/>
          <p:cNvSpPr/>
          <p:nvPr/>
        </p:nvSpPr>
        <p:spPr>
          <a:xfrm>
            <a:off x="4754880" y="26517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 colunas (arriscado)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9;p5"/>
          <p:cNvSpPr/>
          <p:nvPr/>
        </p:nvSpPr>
        <p:spPr>
          <a:xfrm>
            <a:off x="4754880" y="2999160"/>
            <a:ext cx="3931560" cy="639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50;p5"/>
          <p:cNvSpPr/>
          <p:nvPr/>
        </p:nvSpPr>
        <p:spPr>
          <a:xfrm>
            <a:off x="4846320" y="304488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09595"/>
                </a:solidFill>
                <a:effectLst/>
                <a:uFillTx/>
                <a:latin typeface="Consolas"/>
                <a:ea typeface="Consolas"/>
              </a:rPr>
              <a:t>INSERT INTO autor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09595"/>
                </a:solidFill>
                <a:effectLst/>
                <a:uFillTx/>
                <a:latin typeface="Consolas"/>
                <a:ea typeface="Consolas"/>
              </a:rPr>
              <a:t>VALUES (NULL,'Cora Coralina','Brasileira');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1;p5"/>
          <p:cNvSpPr/>
          <p:nvPr/>
        </p:nvSpPr>
        <p:spPr>
          <a:xfrm>
            <a:off x="4754880" y="367596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Sem colunas explícitas, você depende da ordem exata da criação da tabela — qualquer ALTER TABLE quebra seus INSERTs.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2;p5"/>
          <p:cNvSpPr/>
          <p:nvPr/>
        </p:nvSpPr>
        <p:spPr>
          <a:xfrm>
            <a:off x="457200" y="3675960"/>
            <a:ext cx="3931560" cy="50256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53;p5"/>
          <p:cNvSpPr/>
          <p:nvPr/>
        </p:nvSpPr>
        <p:spPr>
          <a:xfrm>
            <a:off x="594360" y="36759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33806"/>
                </a:solidFill>
                <a:effectLst/>
                <a:uFillTx/>
                <a:latin typeface="Calibri"/>
                <a:ea typeface="Calibri"/>
              </a:rPr>
              <a:t>Com colunas explícitas, só as listadas precisam de valor. As outras usam DEFAULT ou NULL.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4;p5"/>
          <p:cNvSpPr/>
          <p:nvPr/>
        </p:nvSpPr>
        <p:spPr>
          <a:xfrm>
            <a:off x="457200" y="4279320"/>
            <a:ext cx="8320680" cy="38376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5;p5"/>
          <p:cNvSpPr/>
          <p:nvPr/>
        </p:nvSpPr>
        <p:spPr>
          <a:xfrm>
            <a:off x="594360" y="4279320"/>
            <a:ext cx="8137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Ordem de inserção importa: insira o pai antes do filho. Editora antes do livro; livro antes do exemplar!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61;p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2;p6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INSERT — múltiplas linhas e AUTO_INCREMENT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3;p6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Inserindo várias linhas de uma vez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4;p6"/>
          <p:cNvSpPr/>
          <p:nvPr/>
        </p:nvSpPr>
        <p:spPr>
          <a:xfrm>
            <a:off x="457200" y="1207080"/>
            <a:ext cx="8320680" cy="1371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5;p6"/>
          <p:cNvSpPr/>
          <p:nvPr/>
        </p:nvSpPr>
        <p:spPr>
          <a:xfrm>
            <a:off x="594360" y="1261800"/>
            <a:ext cx="8046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INSERT INTO </a:t>
            </a:r>
            <a:r>
              <a:rPr b="0" lang="en-US" sz="11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autor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(nome, nacionalidade)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6;p6"/>
          <p:cNvSpPr/>
          <p:nvPr/>
        </p:nvSpPr>
        <p:spPr>
          <a:xfrm>
            <a:off x="594360" y="1508760"/>
            <a:ext cx="8046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VALUES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7;p6"/>
          <p:cNvSpPr/>
          <p:nvPr/>
        </p:nvSpPr>
        <p:spPr>
          <a:xfrm>
            <a:off x="594360" y="1755720"/>
            <a:ext cx="8046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  ('Cora Coralina', 'Brasileira'),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8;p6"/>
          <p:cNvSpPr/>
          <p:nvPr/>
        </p:nvSpPr>
        <p:spPr>
          <a:xfrm>
            <a:off x="594360" y="2002680"/>
            <a:ext cx="8046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  ('Bernardo Élis',  'Brasileira'),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9;p6"/>
          <p:cNvSpPr/>
          <p:nvPr/>
        </p:nvSpPr>
        <p:spPr>
          <a:xfrm>
            <a:off x="594360" y="2249280"/>
            <a:ext cx="8046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  ('José Saramago',  'Portuguesa');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70;p6"/>
          <p:cNvSpPr/>
          <p:nvPr/>
        </p:nvSpPr>
        <p:spPr>
          <a:xfrm>
            <a:off x="457200" y="2651760"/>
            <a:ext cx="8320680" cy="347040"/>
          </a:xfrm>
          <a:prstGeom prst="rect">
            <a:avLst/>
          </a:prstGeom>
          <a:solidFill>
            <a:srgbClr val="eaf3de"/>
          </a:solidFill>
          <a:ln w="9525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71;p6"/>
          <p:cNvSpPr/>
          <p:nvPr/>
        </p:nvSpPr>
        <p:spPr>
          <a:xfrm>
            <a:off x="594360" y="2651760"/>
            <a:ext cx="8137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Uma única instrução INSERT com múltiplos VALUES é mais eficiente do que vários INSERTs separados.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2;p6"/>
          <p:cNvSpPr/>
          <p:nvPr/>
        </p:nvSpPr>
        <p:spPr>
          <a:xfrm>
            <a:off x="457200" y="3154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AUTO_INCREMENT e DEFAULT em ação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3;p6"/>
          <p:cNvSpPr/>
          <p:nvPr/>
        </p:nvSpPr>
        <p:spPr>
          <a:xfrm>
            <a:off x="457200" y="3520440"/>
            <a:ext cx="4114440" cy="1554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4;p6"/>
          <p:cNvSpPr/>
          <p:nvPr/>
        </p:nvSpPr>
        <p:spPr>
          <a:xfrm>
            <a:off x="457200" y="3520440"/>
            <a:ext cx="4114440" cy="63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5;p6"/>
          <p:cNvSpPr/>
          <p:nvPr/>
        </p:nvSpPr>
        <p:spPr>
          <a:xfrm>
            <a:off x="594360" y="36118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AUTO_INCREMENT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6;p6"/>
          <p:cNvSpPr/>
          <p:nvPr/>
        </p:nvSpPr>
        <p:spPr>
          <a:xfrm>
            <a:off x="594360" y="400500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 MySQL gera o id automaticamente. Nunca inclua a PK no INSERT — deixe o banco cuidar.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7;p6"/>
          <p:cNvSpPr/>
          <p:nvPr/>
        </p:nvSpPr>
        <p:spPr>
          <a:xfrm>
            <a:off x="594360" y="4617720"/>
            <a:ext cx="384012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8;p6"/>
          <p:cNvSpPr/>
          <p:nvPr/>
        </p:nvSpPr>
        <p:spPr>
          <a:xfrm>
            <a:off x="640080" y="461772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codigo não precisa ser informado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9;p6"/>
          <p:cNvSpPr/>
          <p:nvPr/>
        </p:nvSpPr>
        <p:spPr>
          <a:xfrm>
            <a:off x="4846320" y="3520440"/>
            <a:ext cx="4114440" cy="1554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80;p6"/>
          <p:cNvSpPr/>
          <p:nvPr/>
        </p:nvSpPr>
        <p:spPr>
          <a:xfrm>
            <a:off x="4846320" y="3520440"/>
            <a:ext cx="4114440" cy="63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1;p6"/>
          <p:cNvSpPr/>
          <p:nvPr/>
        </p:nvSpPr>
        <p:spPr>
          <a:xfrm>
            <a:off x="4983480" y="36118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c7293"/>
                </a:solidFill>
                <a:effectLst/>
                <a:uFillTx/>
                <a:latin typeface="Consolas"/>
                <a:ea typeface="Consolas"/>
              </a:rPr>
              <a:t>DEFAULT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2;p6"/>
          <p:cNvSpPr/>
          <p:nvPr/>
        </p:nvSpPr>
        <p:spPr>
          <a:xfrm>
            <a:off x="4983480" y="400500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Campos com DEFAULT (ex: disponivel = 1 em exemplar) não precisam ser listados no INSERT.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83;p6"/>
          <p:cNvSpPr/>
          <p:nvPr/>
        </p:nvSpPr>
        <p:spPr>
          <a:xfrm>
            <a:off x="4983480" y="4617720"/>
            <a:ext cx="384012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84;p6"/>
          <p:cNvSpPr/>
          <p:nvPr/>
        </p:nvSpPr>
        <p:spPr>
          <a:xfrm>
            <a:off x="5029200" y="461772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disponivel será 1 automaticamente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90;p7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91;p7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INSERT — erros comuns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2;p7"/>
          <p:cNvSpPr/>
          <p:nvPr/>
        </p:nvSpPr>
        <p:spPr>
          <a:xfrm>
            <a:off x="365760" y="914400"/>
            <a:ext cx="8412120" cy="127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3;p7"/>
          <p:cNvSpPr/>
          <p:nvPr/>
        </p:nvSpPr>
        <p:spPr>
          <a:xfrm>
            <a:off x="365760" y="914400"/>
            <a:ext cx="72720" cy="12798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4;p7"/>
          <p:cNvSpPr/>
          <p:nvPr/>
        </p:nvSpPr>
        <p:spPr>
          <a:xfrm>
            <a:off x="548640" y="978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FK inválida — pai não existe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5;p7"/>
          <p:cNvSpPr/>
          <p:nvPr/>
        </p:nvSpPr>
        <p:spPr>
          <a:xfrm>
            <a:off x="548640" y="1280160"/>
            <a:ext cx="438876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6;p7"/>
          <p:cNvSpPr/>
          <p:nvPr/>
        </p:nvSpPr>
        <p:spPr>
          <a:xfrm>
            <a:off x="640080" y="13075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INSERT INTO livro (titulo, fkEditora)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VALUES ('Tropas e Boiadas', 99);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7;p7"/>
          <p:cNvSpPr/>
          <p:nvPr/>
        </p:nvSpPr>
        <p:spPr>
          <a:xfrm>
            <a:off x="5029200" y="1280160"/>
            <a:ext cx="3657240" cy="25560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8;p7"/>
          <p:cNvSpPr/>
          <p:nvPr/>
        </p:nvSpPr>
        <p:spPr>
          <a:xfrm>
            <a:off x="5074920" y="12801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a32d2d"/>
                </a:solidFill>
                <a:effectLst/>
                <a:uFillTx/>
                <a:latin typeface="Consolas"/>
                <a:ea typeface="Consolas"/>
              </a:rPr>
              <a:t>ERROR 1452: Cannot add or update a child row: a foreign key constraint fails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9;p7"/>
          <p:cNvSpPr/>
          <p:nvPr/>
        </p:nvSpPr>
        <p:spPr>
          <a:xfrm>
            <a:off x="5029200" y="157284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Correção: Verifique se a editora 99 existe na tabela editora antes de inserir.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00;p7"/>
          <p:cNvSpPr/>
          <p:nvPr/>
        </p:nvSpPr>
        <p:spPr>
          <a:xfrm>
            <a:off x="365760" y="2331720"/>
            <a:ext cx="8412120" cy="127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01;p7"/>
          <p:cNvSpPr/>
          <p:nvPr/>
        </p:nvSpPr>
        <p:spPr>
          <a:xfrm>
            <a:off x="365760" y="2331720"/>
            <a:ext cx="72720" cy="12798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02;p7"/>
          <p:cNvSpPr/>
          <p:nvPr/>
        </p:nvSpPr>
        <p:spPr>
          <a:xfrm>
            <a:off x="548640" y="23958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NOT NULL violado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3;p7"/>
          <p:cNvSpPr/>
          <p:nvPr/>
        </p:nvSpPr>
        <p:spPr>
          <a:xfrm>
            <a:off x="548640" y="2697480"/>
            <a:ext cx="438876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4;p7"/>
          <p:cNvSpPr/>
          <p:nvPr/>
        </p:nvSpPr>
        <p:spPr>
          <a:xfrm>
            <a:off x="640080" y="272484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INSERT INTO livro (ISBN, ano, fkEditora)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VALUES ('8503012345', 1965, 1);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5;p7"/>
          <p:cNvSpPr/>
          <p:nvPr/>
        </p:nvSpPr>
        <p:spPr>
          <a:xfrm>
            <a:off x="5029200" y="2697480"/>
            <a:ext cx="3657240" cy="25560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6;p7"/>
          <p:cNvSpPr/>
          <p:nvPr/>
        </p:nvSpPr>
        <p:spPr>
          <a:xfrm>
            <a:off x="5074920" y="26974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a32d2d"/>
                </a:solidFill>
                <a:effectLst/>
                <a:uFillTx/>
                <a:latin typeface="Consolas"/>
                <a:ea typeface="Consolas"/>
              </a:rPr>
              <a:t>ERROR 1364: Field 'titulo' doesn't have a default value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7;p7"/>
          <p:cNvSpPr/>
          <p:nvPr/>
        </p:nvSpPr>
        <p:spPr>
          <a:xfrm>
            <a:off x="5029200" y="29901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Correção: O campo titulo é NOT NULL — deve ser fornecido no INSERT.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8;p7"/>
          <p:cNvSpPr/>
          <p:nvPr/>
        </p:nvSpPr>
        <p:spPr>
          <a:xfrm>
            <a:off x="365760" y="3749040"/>
            <a:ext cx="8412120" cy="127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9;p7"/>
          <p:cNvSpPr/>
          <p:nvPr/>
        </p:nvSpPr>
        <p:spPr>
          <a:xfrm>
            <a:off x="365760" y="3749040"/>
            <a:ext cx="72720" cy="1279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10;p7"/>
          <p:cNvSpPr/>
          <p:nvPr/>
        </p:nvSpPr>
        <p:spPr>
          <a:xfrm>
            <a:off x="548640" y="3813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UNIQUE duplicado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11;p7"/>
          <p:cNvSpPr/>
          <p:nvPr/>
        </p:nvSpPr>
        <p:spPr>
          <a:xfrm>
            <a:off x="548640" y="4114800"/>
            <a:ext cx="438876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2;p7"/>
          <p:cNvSpPr/>
          <p:nvPr/>
        </p:nvSpPr>
        <p:spPr>
          <a:xfrm>
            <a:off x="640080" y="414216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INSERT INTO exemplar (fkLivro, numTombo)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VALUES (1, 'T-0001');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3;p7"/>
          <p:cNvSpPr/>
          <p:nvPr/>
        </p:nvSpPr>
        <p:spPr>
          <a:xfrm>
            <a:off x="5029200" y="4114800"/>
            <a:ext cx="3657240" cy="25560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4;p7"/>
          <p:cNvSpPr/>
          <p:nvPr/>
        </p:nvSpPr>
        <p:spPr>
          <a:xfrm>
            <a:off x="5074920" y="41148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a32d2d"/>
                </a:solidFill>
                <a:effectLst/>
                <a:uFillTx/>
                <a:latin typeface="Consolas"/>
                <a:ea typeface="Consolas"/>
              </a:rPr>
              <a:t>ERROR 1062: Duplicate entry 'T-0001' for key 'numTombo'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5;p7"/>
          <p:cNvSpPr/>
          <p:nvPr/>
        </p:nvSpPr>
        <p:spPr>
          <a:xfrm>
            <a:off x="5029200" y="44074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Correção: O tombo já foi cadastrado. Cada exemplar tem um número de tombo único.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221;p8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22;p8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UPDATE — alterando dados existentes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23;p8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Sintaxe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24;p8"/>
          <p:cNvSpPr/>
          <p:nvPr/>
        </p:nvSpPr>
        <p:spPr>
          <a:xfrm>
            <a:off x="457200" y="1207080"/>
            <a:ext cx="8320680" cy="1188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25;p8"/>
          <p:cNvSpPr/>
          <p:nvPr/>
        </p:nvSpPr>
        <p:spPr>
          <a:xfrm>
            <a:off x="594360" y="12801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UPDATE 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livro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6;p8"/>
          <p:cNvSpPr/>
          <p:nvPr/>
        </p:nvSpPr>
        <p:spPr>
          <a:xfrm>
            <a:off x="594360" y="16275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SET   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titulo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'Poemas dos Becos de Goiás'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ano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1965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7;p8"/>
          <p:cNvSpPr/>
          <p:nvPr/>
        </p:nvSpPr>
        <p:spPr>
          <a:xfrm>
            <a:off x="594360" y="19749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WHERE 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codigo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b5cea8"/>
                </a:solidFill>
                <a:effectLst/>
                <a:uFillTx/>
                <a:latin typeface="Consolas"/>
                <a:ea typeface="Consolas"/>
              </a:rPr>
              <a:t>3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8;p8"/>
          <p:cNvSpPr/>
          <p:nvPr/>
        </p:nvSpPr>
        <p:spPr>
          <a:xfrm>
            <a:off x="457200" y="251460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UPDATE: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9;p8"/>
          <p:cNvSpPr/>
          <p:nvPr/>
        </p:nvSpPr>
        <p:spPr>
          <a:xfrm>
            <a:off x="1371600" y="25146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Indica a tabela a modificar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30;p8"/>
          <p:cNvSpPr/>
          <p:nvPr/>
        </p:nvSpPr>
        <p:spPr>
          <a:xfrm>
            <a:off x="457200" y="286200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SET: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31;p8"/>
          <p:cNvSpPr/>
          <p:nvPr/>
        </p:nvSpPr>
        <p:spPr>
          <a:xfrm>
            <a:off x="1371600" y="2862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Lista col = novo_valor (separados por vírgula)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32;p8"/>
          <p:cNvSpPr/>
          <p:nvPr/>
        </p:nvSpPr>
        <p:spPr>
          <a:xfrm>
            <a:off x="457200" y="320940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WHERE: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3;p8"/>
          <p:cNvSpPr/>
          <p:nvPr/>
        </p:nvSpPr>
        <p:spPr>
          <a:xfrm>
            <a:off x="1371600" y="32094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Filtra quais linhas serão afetadas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34;p8"/>
          <p:cNvSpPr/>
          <p:nvPr/>
        </p:nvSpPr>
        <p:spPr>
          <a:xfrm>
            <a:off x="457200" y="3566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UPDATE com função — registrando a devolução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35;p8"/>
          <p:cNvSpPr/>
          <p:nvPr/>
        </p:nvSpPr>
        <p:spPr>
          <a:xfrm>
            <a:off x="457200" y="3913560"/>
            <a:ext cx="8320680" cy="594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6;p8"/>
          <p:cNvSpPr/>
          <p:nvPr/>
        </p:nvSpPr>
        <p:spPr>
          <a:xfrm>
            <a:off x="594360" y="39960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UPDATE 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emprestimo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SET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data_devolucao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CURDATE()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WHERE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numero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7;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7;p8"/>
          <p:cNvSpPr/>
          <p:nvPr/>
        </p:nvSpPr>
        <p:spPr>
          <a:xfrm>
            <a:off x="594360" y="43160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08b4e"/>
                </a:solidFill>
                <a:effectLst/>
                <a:uFillTx/>
                <a:latin typeface="Consolas"/>
                <a:ea typeface="Consolas"/>
              </a:rPr>
              <a:t>-- Registra a devolução do empréstimo nº 7 com a data de hoje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243;p9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44;p9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 armadilha — UPDATE sem WHERE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45;p9"/>
          <p:cNvSpPr/>
          <p:nvPr/>
        </p:nvSpPr>
        <p:spPr>
          <a:xfrm>
            <a:off x="365760" y="868680"/>
            <a:ext cx="8412120" cy="3196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46;p9"/>
          <p:cNvSpPr/>
          <p:nvPr/>
        </p:nvSpPr>
        <p:spPr>
          <a:xfrm>
            <a:off x="365760" y="8686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 WHERE — afeta TODAS as linhas!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7;p9"/>
          <p:cNvSpPr/>
          <p:nvPr/>
        </p:nvSpPr>
        <p:spPr>
          <a:xfrm>
            <a:off x="365760" y="1216080"/>
            <a:ext cx="841212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8;p9"/>
          <p:cNvSpPr/>
          <p:nvPr/>
        </p:nvSpPr>
        <p:spPr>
          <a:xfrm>
            <a:off x="502920" y="129852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UPDATE 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livro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SET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ano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2000;</a:t>
            </a:r>
            <a:r>
              <a:rPr b="0" i="1" lang="en-US" sz="1200" strike="noStrike" u="none">
                <a:solidFill>
                  <a:srgbClr val="f09595"/>
                </a:solidFill>
                <a:effectLst/>
                <a:uFillTx/>
                <a:latin typeface="Calibri"/>
                <a:ea typeface="Calibri"/>
              </a:rPr>
              <a:t>  ← TODOS os livros!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9;p9"/>
          <p:cNvSpPr/>
          <p:nvPr/>
        </p:nvSpPr>
        <p:spPr>
          <a:xfrm>
            <a:off x="365760" y="1874520"/>
            <a:ext cx="8412120" cy="3196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50;p9"/>
          <p:cNvSpPr/>
          <p:nvPr/>
        </p:nvSpPr>
        <p:spPr>
          <a:xfrm>
            <a:off x="365760" y="18745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WHERE — afeta somente as linhas desejadas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51;p9"/>
          <p:cNvSpPr/>
          <p:nvPr/>
        </p:nvSpPr>
        <p:spPr>
          <a:xfrm>
            <a:off x="365760" y="2221920"/>
            <a:ext cx="841212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52;p9"/>
          <p:cNvSpPr/>
          <p:nvPr/>
        </p:nvSpPr>
        <p:spPr>
          <a:xfrm>
            <a:off x="502920" y="230436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UPDATE 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livro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SET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ano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b="0" lang="en-US" sz="1200" strike="noStrike" u="none">
                <a:solidFill>
                  <a:srgbClr val="ce9178"/>
                </a:solidFill>
                <a:effectLst/>
                <a:uFillTx/>
                <a:latin typeface="Consolas"/>
                <a:ea typeface="Consolas"/>
              </a:rPr>
              <a:t>2000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WHERE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codigo</a:t>
            </a:r>
            <a:r>
              <a:rPr b="0" lang="en-US" sz="1200" strike="noStrike" u="none">
                <a:solidFill>
                  <a:srgbClr val="b5cea8"/>
                </a:solidFill>
                <a:effectLst/>
                <a:uFillTx/>
                <a:latin typeface="Consolas"/>
                <a:ea typeface="Consolas"/>
              </a:rPr>
              <a:t> = 3;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53;p9"/>
          <p:cNvSpPr/>
          <p:nvPr/>
        </p:nvSpPr>
        <p:spPr>
          <a:xfrm>
            <a:off x="365760" y="2880360"/>
            <a:ext cx="841212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54;p9"/>
          <p:cNvSpPr/>
          <p:nvPr/>
        </p:nvSpPr>
        <p:spPr>
          <a:xfrm>
            <a:off x="365760" y="28803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Safe Mode no MySQL Workbench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55;p9"/>
          <p:cNvSpPr/>
          <p:nvPr/>
        </p:nvSpPr>
        <p:spPr>
          <a:xfrm>
            <a:off x="365760" y="3255120"/>
            <a:ext cx="8412120" cy="1691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56;p9"/>
          <p:cNvSpPr/>
          <p:nvPr/>
        </p:nvSpPr>
        <p:spPr>
          <a:xfrm>
            <a:off x="548640" y="33375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• O Safe Mode do Workbench bloqueia UPDATE e DELETE sem WHERE que envolvam PK.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57;p9"/>
          <p:cNvSpPr/>
          <p:nvPr/>
        </p:nvSpPr>
        <p:spPr>
          <a:xfrm>
            <a:off x="548640" y="372168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• É ativado por padrão em Edit → Preferences → SQL Editor → Safe Updates.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58;p9"/>
          <p:cNvSpPr/>
          <p:nvPr/>
        </p:nvSpPr>
        <p:spPr>
          <a:xfrm>
            <a:off x="548640" y="410580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• Se o WHERE não filtrar pela PK, o Workbench lança erro — mesmo que o comando seja válido.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9;p9"/>
          <p:cNvSpPr/>
          <p:nvPr/>
        </p:nvSpPr>
        <p:spPr>
          <a:xfrm>
            <a:off x="548640" y="44895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• Para estudo: mantenha o Safe Mode ATIVADO. Ele evita acidentes clássicos de iniciantes.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60;p9"/>
          <p:cNvSpPr/>
          <p:nvPr/>
        </p:nvSpPr>
        <p:spPr>
          <a:xfrm>
            <a:off x="365760" y="5029200"/>
            <a:ext cx="8412120" cy="34704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61;p9"/>
          <p:cNvSpPr/>
          <p:nvPr/>
        </p:nvSpPr>
        <p:spPr>
          <a:xfrm>
            <a:off x="502920" y="50292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Regra de ouro: sempre escreva o WHERE antes de executar qualquer UPDATE ou DELETE.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67;p1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8;p10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DELETE — removendo dados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9;p10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Sintaxe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70;p10"/>
          <p:cNvSpPr/>
          <p:nvPr/>
        </p:nvSpPr>
        <p:spPr>
          <a:xfrm>
            <a:off x="457200" y="1207080"/>
            <a:ext cx="8320680" cy="86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71;p10"/>
          <p:cNvSpPr/>
          <p:nvPr/>
        </p:nvSpPr>
        <p:spPr>
          <a:xfrm>
            <a:off x="594360" y="12618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08b4e"/>
                </a:solidFill>
                <a:effectLst/>
                <a:uFillTx/>
                <a:latin typeface="Consolas"/>
                <a:ea typeface="Consolas"/>
              </a:rPr>
              <a:t>-- Deletar um empréstimo específico</a:t>
            </a:r>
            <a:br>
              <a:rPr sz="1100"/>
            </a:b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DELETE FROM 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emprestimo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WHERE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numero</a:t>
            </a:r>
            <a:r>
              <a:rPr b="0" lang="en-US" sz="1200" strike="noStrike" u="none">
                <a:solidFill>
                  <a:srgbClr val="b5cea8"/>
                </a:solidFill>
                <a:effectLst/>
                <a:uFillTx/>
                <a:latin typeface="Consolas"/>
                <a:ea typeface="Consolas"/>
              </a:rPr>
              <a:t> = 5;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72;p10"/>
          <p:cNvSpPr/>
          <p:nvPr/>
        </p:nvSpPr>
        <p:spPr>
          <a:xfrm>
            <a:off x="457200" y="2176200"/>
            <a:ext cx="8320680" cy="34704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73;p10"/>
          <p:cNvSpPr/>
          <p:nvPr/>
        </p:nvSpPr>
        <p:spPr>
          <a:xfrm>
            <a:off x="594360" y="2176200"/>
            <a:ext cx="8137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DELETE sem WHERE apaga TODAS as linhas da tabela — assim como UPDATE sem WHERE!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74;p10"/>
          <p:cNvSpPr/>
          <p:nvPr/>
        </p:nvSpPr>
        <p:spPr>
          <a:xfrm>
            <a:off x="457200" y="2670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DELETE vs. TRUNCATE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75;p10"/>
          <p:cNvSpPr/>
          <p:nvPr/>
        </p:nvSpPr>
        <p:spPr>
          <a:xfrm>
            <a:off x="457200" y="3035880"/>
            <a:ext cx="3200040" cy="255600"/>
          </a:xfrm>
          <a:prstGeom prst="rect">
            <a:avLst/>
          </a:prstGeom>
          <a:solidFill>
            <a:srgbClr val="065a82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76;p10"/>
          <p:cNvSpPr/>
          <p:nvPr/>
        </p:nvSpPr>
        <p:spPr>
          <a:xfrm>
            <a:off x="3703320" y="3035880"/>
            <a:ext cx="2285640" cy="255600"/>
          </a:xfrm>
          <a:prstGeom prst="rect">
            <a:avLst/>
          </a:prstGeom>
          <a:solidFill>
            <a:srgbClr val="065a82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77;p10"/>
          <p:cNvSpPr/>
          <p:nvPr/>
        </p:nvSpPr>
        <p:spPr>
          <a:xfrm>
            <a:off x="6035040" y="3035880"/>
            <a:ext cx="2697120" cy="255600"/>
          </a:xfrm>
          <a:prstGeom prst="rect">
            <a:avLst/>
          </a:prstGeom>
          <a:solidFill>
            <a:srgbClr val="065a82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8;p10"/>
          <p:cNvSpPr/>
          <p:nvPr/>
        </p:nvSpPr>
        <p:spPr>
          <a:xfrm>
            <a:off x="548640" y="30358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9;p10"/>
          <p:cNvSpPr/>
          <p:nvPr/>
        </p:nvSpPr>
        <p:spPr>
          <a:xfrm>
            <a:off x="3749040" y="30358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DELETE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80;p10"/>
          <p:cNvSpPr/>
          <p:nvPr/>
        </p:nvSpPr>
        <p:spPr>
          <a:xfrm>
            <a:off x="6126480" y="303588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TRUNCATE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81;p10"/>
          <p:cNvSpPr/>
          <p:nvPr/>
        </p:nvSpPr>
        <p:spPr>
          <a:xfrm>
            <a:off x="457200" y="3310200"/>
            <a:ext cx="320004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82;p10"/>
          <p:cNvSpPr/>
          <p:nvPr/>
        </p:nvSpPr>
        <p:spPr>
          <a:xfrm>
            <a:off x="3703320" y="3310200"/>
            <a:ext cx="228564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83;p10"/>
          <p:cNvSpPr/>
          <p:nvPr/>
        </p:nvSpPr>
        <p:spPr>
          <a:xfrm>
            <a:off x="6035040" y="3310200"/>
            <a:ext cx="269712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84;p10"/>
          <p:cNvSpPr/>
          <p:nvPr/>
        </p:nvSpPr>
        <p:spPr>
          <a:xfrm>
            <a:off x="548640" y="33102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Remove linhas?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85;p10"/>
          <p:cNvSpPr/>
          <p:nvPr/>
        </p:nvSpPr>
        <p:spPr>
          <a:xfrm>
            <a:off x="3749040" y="3310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Sim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286;p10"/>
          <p:cNvSpPr/>
          <p:nvPr/>
        </p:nvSpPr>
        <p:spPr>
          <a:xfrm>
            <a:off x="6126480" y="33102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Sim (todas)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287;p10"/>
          <p:cNvSpPr/>
          <p:nvPr/>
        </p:nvSpPr>
        <p:spPr>
          <a:xfrm>
            <a:off x="457200" y="3584520"/>
            <a:ext cx="320004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8;p10"/>
          <p:cNvSpPr/>
          <p:nvPr/>
        </p:nvSpPr>
        <p:spPr>
          <a:xfrm>
            <a:off x="3703320" y="3584520"/>
            <a:ext cx="228564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89;p10"/>
          <p:cNvSpPr/>
          <p:nvPr/>
        </p:nvSpPr>
        <p:spPr>
          <a:xfrm>
            <a:off x="6035040" y="3584520"/>
            <a:ext cx="269712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90;p10"/>
          <p:cNvSpPr/>
          <p:nvPr/>
        </p:nvSpPr>
        <p:spPr>
          <a:xfrm>
            <a:off x="548640" y="35845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WHERE possível?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91;p10"/>
          <p:cNvSpPr/>
          <p:nvPr/>
        </p:nvSpPr>
        <p:spPr>
          <a:xfrm>
            <a:off x="3749040" y="35845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Sim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92;p10"/>
          <p:cNvSpPr/>
          <p:nvPr/>
        </p:nvSpPr>
        <p:spPr>
          <a:xfrm>
            <a:off x="6126480" y="35845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Não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93;p10"/>
          <p:cNvSpPr/>
          <p:nvPr/>
        </p:nvSpPr>
        <p:spPr>
          <a:xfrm>
            <a:off x="457200" y="3858840"/>
            <a:ext cx="320004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4;p10"/>
          <p:cNvSpPr/>
          <p:nvPr/>
        </p:nvSpPr>
        <p:spPr>
          <a:xfrm>
            <a:off x="3703320" y="3858840"/>
            <a:ext cx="228564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5;p10"/>
          <p:cNvSpPr/>
          <p:nvPr/>
        </p:nvSpPr>
        <p:spPr>
          <a:xfrm>
            <a:off x="6035040" y="3858840"/>
            <a:ext cx="269712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6;p10"/>
          <p:cNvSpPr/>
          <p:nvPr/>
        </p:nvSpPr>
        <p:spPr>
          <a:xfrm>
            <a:off x="548640" y="385884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Transação?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7;p10"/>
          <p:cNvSpPr/>
          <p:nvPr/>
        </p:nvSpPr>
        <p:spPr>
          <a:xfrm>
            <a:off x="3749040" y="385884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Sim (dá rollback)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98;p10"/>
          <p:cNvSpPr/>
          <p:nvPr/>
        </p:nvSpPr>
        <p:spPr>
          <a:xfrm>
            <a:off x="6126480" y="38588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Não (irreversível)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99;p10"/>
          <p:cNvSpPr/>
          <p:nvPr/>
        </p:nvSpPr>
        <p:spPr>
          <a:xfrm>
            <a:off x="457200" y="4133160"/>
            <a:ext cx="320004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00;p10"/>
          <p:cNvSpPr/>
          <p:nvPr/>
        </p:nvSpPr>
        <p:spPr>
          <a:xfrm>
            <a:off x="3703320" y="4133160"/>
            <a:ext cx="228564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01;p10"/>
          <p:cNvSpPr/>
          <p:nvPr/>
        </p:nvSpPr>
        <p:spPr>
          <a:xfrm>
            <a:off x="6035040" y="4133160"/>
            <a:ext cx="269712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02;p10"/>
          <p:cNvSpPr/>
          <p:nvPr/>
        </p:nvSpPr>
        <p:spPr>
          <a:xfrm>
            <a:off x="548640" y="41331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Reseta AUTO_INC?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3;p10"/>
          <p:cNvSpPr/>
          <p:nvPr/>
        </p:nvSpPr>
        <p:spPr>
          <a:xfrm>
            <a:off x="3749040" y="413316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Não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04;p10"/>
          <p:cNvSpPr/>
          <p:nvPr/>
        </p:nvSpPr>
        <p:spPr>
          <a:xfrm>
            <a:off x="6126480" y="413316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Sim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05;p10"/>
          <p:cNvSpPr/>
          <p:nvPr/>
        </p:nvSpPr>
        <p:spPr>
          <a:xfrm>
            <a:off x="457200" y="4407480"/>
            <a:ext cx="320004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6;p10"/>
          <p:cNvSpPr/>
          <p:nvPr/>
        </p:nvSpPr>
        <p:spPr>
          <a:xfrm>
            <a:off x="3703320" y="4407480"/>
            <a:ext cx="228564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7;p10"/>
          <p:cNvSpPr/>
          <p:nvPr/>
        </p:nvSpPr>
        <p:spPr>
          <a:xfrm>
            <a:off x="6035040" y="4407480"/>
            <a:ext cx="2697120" cy="25560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8;p10"/>
          <p:cNvSpPr/>
          <p:nvPr/>
        </p:nvSpPr>
        <p:spPr>
          <a:xfrm>
            <a:off x="548640" y="44074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Velocidade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09;p10"/>
          <p:cNvSpPr/>
          <p:nvPr/>
        </p:nvSpPr>
        <p:spPr>
          <a:xfrm>
            <a:off x="3749040" y="44074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Mais lento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10;p10"/>
          <p:cNvSpPr/>
          <p:nvPr/>
        </p:nvSpPr>
        <p:spPr>
          <a:xfrm>
            <a:off x="6126480" y="440748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Muito mais rápido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11;p10"/>
          <p:cNvSpPr/>
          <p:nvPr/>
        </p:nvSpPr>
        <p:spPr>
          <a:xfrm>
            <a:off x="457200" y="4681800"/>
            <a:ext cx="320004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12;p10"/>
          <p:cNvSpPr/>
          <p:nvPr/>
        </p:nvSpPr>
        <p:spPr>
          <a:xfrm>
            <a:off x="3703320" y="4681800"/>
            <a:ext cx="228564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13;p10"/>
          <p:cNvSpPr/>
          <p:nvPr/>
        </p:nvSpPr>
        <p:spPr>
          <a:xfrm>
            <a:off x="6035040" y="4681800"/>
            <a:ext cx="2697120" cy="2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4;p10"/>
          <p:cNvSpPr/>
          <p:nvPr/>
        </p:nvSpPr>
        <p:spPr>
          <a:xfrm>
            <a:off x="548640" y="46818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Uso recomendado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15;p10"/>
          <p:cNvSpPr/>
          <p:nvPr/>
        </p:nvSpPr>
        <p:spPr>
          <a:xfrm>
            <a:off x="3749040" y="46818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Remoções pontuais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16;p10"/>
          <p:cNvSpPr/>
          <p:nvPr/>
        </p:nvSpPr>
        <p:spPr>
          <a:xfrm>
            <a:off x="6126480" y="46818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Limpar tabela inteira (ex: testes)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322;p11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23;p11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DELETE e integridade referencial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4;p11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RESTRICT (padrão da FK) — bloqueando remoções indevidas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5;p11"/>
          <p:cNvSpPr/>
          <p:nvPr/>
        </p:nvSpPr>
        <p:spPr>
          <a:xfrm>
            <a:off x="457200" y="1207080"/>
            <a:ext cx="8320680" cy="82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6;p11"/>
          <p:cNvSpPr/>
          <p:nvPr/>
        </p:nvSpPr>
        <p:spPr>
          <a:xfrm>
            <a:off x="594360" y="1261800"/>
            <a:ext cx="8046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08b4e"/>
                </a:solidFill>
                <a:effectLst/>
                <a:uFillTx/>
                <a:latin typeface="Consolas"/>
                <a:ea typeface="Consolas"/>
              </a:rPr>
              <a:t>-- Tentativa de deletar editora que tem livros cadastrados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27;p11"/>
          <p:cNvSpPr/>
          <p:nvPr/>
        </p:nvSpPr>
        <p:spPr>
          <a:xfrm>
            <a:off x="594360" y="152712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DELETE FROM </a:t>
            </a:r>
            <a:r>
              <a:rPr b="0" lang="en-US" sz="12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editora </a:t>
            </a:r>
            <a:r>
              <a:rPr b="1" lang="en-US" sz="1200" strike="noStrike" u="none">
                <a:solidFill>
                  <a:srgbClr val="569cd6"/>
                </a:solidFill>
                <a:effectLst/>
                <a:uFillTx/>
                <a:latin typeface="Consolas"/>
                <a:ea typeface="Consolas"/>
              </a:rPr>
              <a:t>WHERE </a:t>
            </a:r>
            <a:r>
              <a:rPr b="0" lang="en-US" sz="12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codEditora</a:t>
            </a:r>
            <a:r>
              <a:rPr b="0" lang="en-US" sz="1200" strike="noStrike" u="none">
                <a:solidFill>
                  <a:srgbClr val="b5cea8"/>
                </a:solidFill>
                <a:effectLst/>
                <a:uFillTx/>
                <a:latin typeface="Consolas"/>
                <a:ea typeface="Consolas"/>
              </a:rPr>
              <a:t> = 1;  </a:t>
            </a:r>
            <a:r>
              <a:rPr b="0" i="1" lang="en-US" sz="1100" strike="noStrike" u="none">
                <a:solidFill>
                  <a:srgbClr val="f09595"/>
                </a:solidFill>
                <a:effectLst/>
                <a:uFillTx/>
                <a:latin typeface="Calibri"/>
                <a:ea typeface="Calibri"/>
              </a:rPr>
              <a:t>← bloqueado pela FK (RESTRICT é o padrão)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28;p11"/>
          <p:cNvSpPr/>
          <p:nvPr/>
        </p:nvSpPr>
        <p:spPr>
          <a:xfrm>
            <a:off x="457200" y="2057400"/>
            <a:ext cx="8320680" cy="25560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9;p11"/>
          <p:cNvSpPr/>
          <p:nvPr/>
        </p:nvSpPr>
        <p:spPr>
          <a:xfrm>
            <a:off x="594360" y="205740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32d2d"/>
                </a:solidFill>
                <a:effectLst/>
                <a:uFillTx/>
                <a:latin typeface="Consolas"/>
                <a:ea typeface="Consolas"/>
              </a:rPr>
              <a:t>ERROR 1451: Cannot delete or update a parent row: a foreign key constraint fails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30;p11"/>
          <p:cNvSpPr/>
          <p:nvPr/>
        </p:nvSpPr>
        <p:spPr>
          <a:xfrm>
            <a:off x="457200" y="2423160"/>
            <a:ext cx="8320680" cy="347040"/>
          </a:xfrm>
          <a:prstGeom prst="rect">
            <a:avLst/>
          </a:prstGeom>
          <a:solidFill>
            <a:srgbClr val="eaf3de"/>
          </a:solidFill>
          <a:ln w="9525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31;p11"/>
          <p:cNvSpPr/>
          <p:nvPr/>
        </p:nvSpPr>
        <p:spPr>
          <a:xfrm>
            <a:off x="594360" y="2423160"/>
            <a:ext cx="8137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Isso é integridade referencial funcionando! O banco protege seus dados de inconsistências.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32;p11"/>
          <p:cNvSpPr/>
          <p:nvPr/>
        </p:nvSpPr>
        <p:spPr>
          <a:xfrm>
            <a:off x="457200" y="29260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Soft delete — a alternativa inteligente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3;p11"/>
          <p:cNvSpPr/>
          <p:nvPr/>
        </p:nvSpPr>
        <p:spPr>
          <a:xfrm>
            <a:off x="457200" y="3291840"/>
            <a:ext cx="8320680" cy="1416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4;p11"/>
          <p:cNvSpPr/>
          <p:nvPr/>
        </p:nvSpPr>
        <p:spPr>
          <a:xfrm>
            <a:off x="457200" y="3291840"/>
            <a:ext cx="72720" cy="1416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5;p11"/>
          <p:cNvSpPr/>
          <p:nvPr/>
        </p:nvSpPr>
        <p:spPr>
          <a:xfrm>
            <a:off x="640080" y="336492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Em vez de apagar, marcamos como inativo. Os dados continuam no banco, mas o sistema os ignora nas operações normais.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6;p11"/>
          <p:cNvSpPr/>
          <p:nvPr/>
        </p:nvSpPr>
        <p:spPr>
          <a:xfrm>
            <a:off x="5760720" y="3291840"/>
            <a:ext cx="2925720" cy="1416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7;p11"/>
          <p:cNvSpPr/>
          <p:nvPr/>
        </p:nvSpPr>
        <p:spPr>
          <a:xfrm>
            <a:off x="5852160" y="3364920"/>
            <a:ext cx="2742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-- Soft delete do membro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UPDATE membro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SET ativo = FALSE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6d6a0"/>
                </a:solidFill>
                <a:effectLst/>
                <a:uFillTx/>
                <a:latin typeface="Consolas"/>
                <a:ea typeface="Consolas"/>
              </a:rPr>
              <a:t>WHERE codigo = 1;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38;p11"/>
          <p:cNvSpPr/>
          <p:nvPr/>
        </p:nvSpPr>
        <p:spPr>
          <a:xfrm>
            <a:off x="640080" y="385884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Vantagens: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39;p11"/>
          <p:cNvSpPr/>
          <p:nvPr/>
        </p:nvSpPr>
        <p:spPr>
          <a:xfrm>
            <a:off x="640080" y="4114800"/>
            <a:ext cx="48459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✓  Histórico preservado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40;p11"/>
          <p:cNvSpPr/>
          <p:nvPr/>
        </p:nvSpPr>
        <p:spPr>
          <a:xfrm>
            <a:off x="640080" y="4316040"/>
            <a:ext cx="48459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✓  Fácil de restaurar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41;p11"/>
          <p:cNvSpPr/>
          <p:nvPr/>
        </p:nvSpPr>
        <p:spPr>
          <a:xfrm>
            <a:off x="640080" y="4517280"/>
            <a:ext cx="48459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936f"/>
                </a:solidFill>
                <a:effectLst/>
                <a:uFillTx/>
                <a:latin typeface="Calibri"/>
                <a:ea typeface="Calibri"/>
              </a:rPr>
              <a:t>✓  Auditorias intactas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42;p11"/>
          <p:cNvSpPr/>
          <p:nvPr/>
        </p:nvSpPr>
        <p:spPr>
          <a:xfrm>
            <a:off x="457200" y="4818960"/>
            <a:ext cx="8320680" cy="34704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43;p11"/>
          <p:cNvSpPr/>
          <p:nvPr/>
        </p:nvSpPr>
        <p:spPr>
          <a:xfrm>
            <a:off x="594360" y="4818960"/>
            <a:ext cx="8137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32d2d"/>
                </a:solidFill>
                <a:effectLst/>
                <a:uFillTx/>
                <a:latin typeface="Calibri"/>
                <a:ea typeface="Calibri"/>
              </a:rPr>
              <a:t>Requer a coluna: ALTER TABLE membro ADD ativo BOOLEAN DEFAULT TRUE; e WHERE ativo = TRUE nas consultas.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349;p12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50;p12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Resumo — INSERT · UPDATE · DELETE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51;p12"/>
          <p:cNvSpPr/>
          <p:nvPr/>
        </p:nvSpPr>
        <p:spPr>
          <a:xfrm>
            <a:off x="365760" y="914400"/>
            <a:ext cx="2559960" cy="383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52;p12"/>
          <p:cNvSpPr/>
          <p:nvPr/>
        </p:nvSpPr>
        <p:spPr>
          <a:xfrm>
            <a:off x="2971800" y="914400"/>
            <a:ext cx="1919880" cy="38376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53;p12"/>
          <p:cNvSpPr/>
          <p:nvPr/>
        </p:nvSpPr>
        <p:spPr>
          <a:xfrm>
            <a:off x="2971800" y="9144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INSERT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4;p12"/>
          <p:cNvSpPr/>
          <p:nvPr/>
        </p:nvSpPr>
        <p:spPr>
          <a:xfrm>
            <a:off x="4937760" y="914400"/>
            <a:ext cx="1919880" cy="3837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5;p12"/>
          <p:cNvSpPr/>
          <p:nvPr/>
        </p:nvSpPr>
        <p:spPr>
          <a:xfrm>
            <a:off x="4937760" y="9144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UPDATE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6;p12"/>
          <p:cNvSpPr/>
          <p:nvPr/>
        </p:nvSpPr>
        <p:spPr>
          <a:xfrm>
            <a:off x="6903720" y="914400"/>
            <a:ext cx="1919880" cy="3837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7;p12"/>
          <p:cNvSpPr/>
          <p:nvPr/>
        </p:nvSpPr>
        <p:spPr>
          <a:xfrm>
            <a:off x="6903720" y="9144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DELETE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8;p12"/>
          <p:cNvSpPr/>
          <p:nvPr/>
        </p:nvSpPr>
        <p:spPr>
          <a:xfrm>
            <a:off x="365760" y="1325880"/>
            <a:ext cx="255996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9;p12"/>
          <p:cNvSpPr/>
          <p:nvPr/>
        </p:nvSpPr>
        <p:spPr>
          <a:xfrm>
            <a:off x="457200" y="132588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Para que serve?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60;p12"/>
          <p:cNvSpPr/>
          <p:nvPr/>
        </p:nvSpPr>
        <p:spPr>
          <a:xfrm>
            <a:off x="2971800" y="132588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61;p12"/>
          <p:cNvSpPr/>
          <p:nvPr/>
        </p:nvSpPr>
        <p:spPr>
          <a:xfrm>
            <a:off x="3063240" y="132588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Adicionar novos registros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62;p12"/>
          <p:cNvSpPr/>
          <p:nvPr/>
        </p:nvSpPr>
        <p:spPr>
          <a:xfrm>
            <a:off x="4937760" y="132588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3;p12"/>
          <p:cNvSpPr/>
          <p:nvPr/>
        </p:nvSpPr>
        <p:spPr>
          <a:xfrm>
            <a:off x="5029200" y="132588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Modificar registros existentes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64;p12"/>
          <p:cNvSpPr/>
          <p:nvPr/>
        </p:nvSpPr>
        <p:spPr>
          <a:xfrm>
            <a:off x="6903720" y="132588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65;p12"/>
          <p:cNvSpPr/>
          <p:nvPr/>
        </p:nvSpPr>
        <p:spPr>
          <a:xfrm>
            <a:off x="6995160" y="132588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Remover registros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6;p12"/>
          <p:cNvSpPr/>
          <p:nvPr/>
        </p:nvSpPr>
        <p:spPr>
          <a:xfrm>
            <a:off x="365760" y="1984320"/>
            <a:ext cx="255996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7;p12"/>
          <p:cNvSpPr/>
          <p:nvPr/>
        </p:nvSpPr>
        <p:spPr>
          <a:xfrm>
            <a:off x="457200" y="198432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Precisa de WHERE?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68;p12"/>
          <p:cNvSpPr/>
          <p:nvPr/>
        </p:nvSpPr>
        <p:spPr>
          <a:xfrm>
            <a:off x="2971800" y="1984320"/>
            <a:ext cx="191988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69;p12"/>
          <p:cNvSpPr/>
          <p:nvPr/>
        </p:nvSpPr>
        <p:spPr>
          <a:xfrm>
            <a:off x="3063240" y="198432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70;p12"/>
          <p:cNvSpPr/>
          <p:nvPr/>
        </p:nvSpPr>
        <p:spPr>
          <a:xfrm>
            <a:off x="4937760" y="1984320"/>
            <a:ext cx="191988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71;p12"/>
          <p:cNvSpPr/>
          <p:nvPr/>
        </p:nvSpPr>
        <p:spPr>
          <a:xfrm>
            <a:off x="5029200" y="198432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 — obrigatório na prática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72;p12"/>
          <p:cNvSpPr/>
          <p:nvPr/>
        </p:nvSpPr>
        <p:spPr>
          <a:xfrm>
            <a:off x="6903720" y="1984320"/>
            <a:ext cx="191988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73;p12"/>
          <p:cNvSpPr/>
          <p:nvPr/>
        </p:nvSpPr>
        <p:spPr>
          <a:xfrm>
            <a:off x="6995160" y="198432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 — obrigatório na prática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74;p12"/>
          <p:cNvSpPr/>
          <p:nvPr/>
        </p:nvSpPr>
        <p:spPr>
          <a:xfrm>
            <a:off x="365760" y="2642760"/>
            <a:ext cx="255996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75;p12"/>
          <p:cNvSpPr/>
          <p:nvPr/>
        </p:nvSpPr>
        <p:spPr>
          <a:xfrm>
            <a:off x="457200" y="264276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Respeita FK?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376;p12"/>
          <p:cNvSpPr/>
          <p:nvPr/>
        </p:nvSpPr>
        <p:spPr>
          <a:xfrm>
            <a:off x="2971800" y="264276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377;p12"/>
          <p:cNvSpPr/>
          <p:nvPr/>
        </p:nvSpPr>
        <p:spPr>
          <a:xfrm>
            <a:off x="3063240" y="264276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 (pai deve existir)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78;p12"/>
          <p:cNvSpPr/>
          <p:nvPr/>
        </p:nvSpPr>
        <p:spPr>
          <a:xfrm>
            <a:off x="4937760" y="264276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379;p12"/>
          <p:cNvSpPr/>
          <p:nvPr/>
        </p:nvSpPr>
        <p:spPr>
          <a:xfrm>
            <a:off x="5029200" y="264276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80;p12"/>
          <p:cNvSpPr/>
          <p:nvPr/>
        </p:nvSpPr>
        <p:spPr>
          <a:xfrm>
            <a:off x="6903720" y="264276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81;p12"/>
          <p:cNvSpPr/>
          <p:nvPr/>
        </p:nvSpPr>
        <p:spPr>
          <a:xfrm>
            <a:off x="6995160" y="264276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 (RESTRICT bloqueia)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82;p12"/>
          <p:cNvSpPr/>
          <p:nvPr/>
        </p:nvSpPr>
        <p:spPr>
          <a:xfrm>
            <a:off x="365760" y="3300840"/>
            <a:ext cx="255996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83;p12"/>
          <p:cNvSpPr/>
          <p:nvPr/>
        </p:nvSpPr>
        <p:spPr>
          <a:xfrm>
            <a:off x="457200" y="330084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Afeta AUTO_INC?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84;p12"/>
          <p:cNvSpPr/>
          <p:nvPr/>
        </p:nvSpPr>
        <p:spPr>
          <a:xfrm>
            <a:off x="2971800" y="3300840"/>
            <a:ext cx="191988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85;p12"/>
          <p:cNvSpPr/>
          <p:nvPr/>
        </p:nvSpPr>
        <p:spPr>
          <a:xfrm>
            <a:off x="3063240" y="330084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 (gera novo id)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86;p12"/>
          <p:cNvSpPr/>
          <p:nvPr/>
        </p:nvSpPr>
        <p:spPr>
          <a:xfrm>
            <a:off x="4937760" y="3300840"/>
            <a:ext cx="191988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87;p12"/>
          <p:cNvSpPr/>
          <p:nvPr/>
        </p:nvSpPr>
        <p:spPr>
          <a:xfrm>
            <a:off x="5029200" y="330084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388;p12"/>
          <p:cNvSpPr/>
          <p:nvPr/>
        </p:nvSpPr>
        <p:spPr>
          <a:xfrm>
            <a:off x="6903720" y="3300840"/>
            <a:ext cx="1919880" cy="621360"/>
          </a:xfrm>
          <a:prstGeom prst="rect">
            <a:avLst/>
          </a:prstGeom>
          <a:solidFill>
            <a:srgbClr val="eef4f8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389;p12"/>
          <p:cNvSpPr/>
          <p:nvPr/>
        </p:nvSpPr>
        <p:spPr>
          <a:xfrm>
            <a:off x="6995160" y="330084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390;p12"/>
          <p:cNvSpPr/>
          <p:nvPr/>
        </p:nvSpPr>
        <p:spPr>
          <a:xfrm>
            <a:off x="365760" y="3959280"/>
            <a:ext cx="255996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391;p12"/>
          <p:cNvSpPr/>
          <p:nvPr/>
        </p:nvSpPr>
        <p:spPr>
          <a:xfrm>
            <a:off x="457200" y="395928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Risco principal?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92;p12"/>
          <p:cNvSpPr/>
          <p:nvPr/>
        </p:nvSpPr>
        <p:spPr>
          <a:xfrm>
            <a:off x="2971800" y="395928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93;p12"/>
          <p:cNvSpPr/>
          <p:nvPr/>
        </p:nvSpPr>
        <p:spPr>
          <a:xfrm>
            <a:off x="3063240" y="395928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Ordem errada / tipo errado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94;p12"/>
          <p:cNvSpPr/>
          <p:nvPr/>
        </p:nvSpPr>
        <p:spPr>
          <a:xfrm>
            <a:off x="4937760" y="395928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95;p12"/>
          <p:cNvSpPr/>
          <p:nvPr/>
        </p:nvSpPr>
        <p:spPr>
          <a:xfrm>
            <a:off x="5029200" y="395928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Esquecer o WHERE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96;p12"/>
          <p:cNvSpPr/>
          <p:nvPr/>
        </p:nvSpPr>
        <p:spPr>
          <a:xfrm>
            <a:off x="6903720" y="3959280"/>
            <a:ext cx="19198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397;p12"/>
          <p:cNvSpPr/>
          <p:nvPr/>
        </p:nvSpPr>
        <p:spPr>
          <a:xfrm>
            <a:off x="6995160" y="3959280"/>
            <a:ext cx="1782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Esquecer o WHERE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398;p12"/>
          <p:cNvSpPr/>
          <p:nvPr/>
        </p:nvSpPr>
        <p:spPr>
          <a:xfrm>
            <a:off x="365760" y="4754880"/>
            <a:ext cx="8503560" cy="347040"/>
          </a:xfrm>
          <a:prstGeom prst="rect">
            <a:avLst/>
          </a:prstGeom>
          <a:solidFill>
            <a:srgbClr val="eaf3de"/>
          </a:solidFill>
          <a:ln w="9525">
            <a:solidFill>
              <a:srgbClr val="1a93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399;p12"/>
          <p:cNvSpPr/>
          <p:nvPr/>
        </p:nvSpPr>
        <p:spPr>
          <a:xfrm>
            <a:off x="502920" y="475488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Regra de ouro: sempre teste um SELECT com o mesmo WHERE antes de executar UPDATE ou DELETE.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405;p13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6360" bIns="36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406;p13"/>
          <p:cNvSpPr/>
          <p:nvPr/>
        </p:nvSpPr>
        <p:spPr>
          <a:xfrm>
            <a:off x="0" y="73080"/>
            <a:ext cx="411120" cy="5069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407;p13"/>
          <p:cNvSpPr/>
          <p:nvPr/>
        </p:nvSpPr>
        <p:spPr>
          <a:xfrm>
            <a:off x="685800" y="4572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Resumo da aula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08;p13"/>
          <p:cNvSpPr/>
          <p:nvPr/>
        </p:nvSpPr>
        <p:spPr>
          <a:xfrm>
            <a:off x="685800" y="1097280"/>
            <a:ext cx="8046360" cy="51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409;p13"/>
          <p:cNvSpPr/>
          <p:nvPr/>
        </p:nvSpPr>
        <p:spPr>
          <a:xfrm>
            <a:off x="822960" y="109728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 DML manipula dados — INSERT cria, UPDATE modifica, DELETE remove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10;p13"/>
          <p:cNvSpPr/>
          <p:nvPr/>
        </p:nvSpPr>
        <p:spPr>
          <a:xfrm>
            <a:off x="685800" y="1673280"/>
            <a:ext cx="8046360" cy="51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411;p13"/>
          <p:cNvSpPr/>
          <p:nvPr/>
        </p:nvSpPr>
        <p:spPr>
          <a:xfrm>
            <a:off x="822960" y="167328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 INSERT: liste sempre as colunas explicitamente. Pai antes do filho (ordem de FK).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12;p13"/>
          <p:cNvSpPr/>
          <p:nvPr/>
        </p:nvSpPr>
        <p:spPr>
          <a:xfrm>
            <a:off x="685800" y="2249280"/>
            <a:ext cx="8046360" cy="51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13;p13"/>
          <p:cNvSpPr/>
          <p:nvPr/>
        </p:nvSpPr>
        <p:spPr>
          <a:xfrm>
            <a:off x="822960" y="224928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 AUTO_INCREMENT e DEFAULT dispensam informação no INSERT — o banco cuida.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14;p13"/>
          <p:cNvSpPr/>
          <p:nvPr/>
        </p:nvSpPr>
        <p:spPr>
          <a:xfrm>
            <a:off x="685800" y="2825640"/>
            <a:ext cx="8046360" cy="51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415;p13"/>
          <p:cNvSpPr/>
          <p:nvPr/>
        </p:nvSpPr>
        <p:spPr>
          <a:xfrm>
            <a:off x="822960" y="282564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 UPDATE e DELETE sem WHERE afetam TODAS as linhas — escreva o WHERE primeiro.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16;p13"/>
          <p:cNvSpPr/>
          <p:nvPr/>
        </p:nvSpPr>
        <p:spPr>
          <a:xfrm>
            <a:off x="685800" y="3401640"/>
            <a:ext cx="8046360" cy="51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17;p13"/>
          <p:cNvSpPr/>
          <p:nvPr/>
        </p:nvSpPr>
        <p:spPr>
          <a:xfrm>
            <a:off x="822960" y="340164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 ON DELETE RESTRICT bloqueia remoção de pais com filhos — integridade garantida.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18;p13"/>
          <p:cNvSpPr/>
          <p:nvPr/>
        </p:nvSpPr>
        <p:spPr>
          <a:xfrm>
            <a:off x="685800" y="3977640"/>
            <a:ext cx="8046360" cy="51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19;p13"/>
          <p:cNvSpPr/>
          <p:nvPr/>
        </p:nvSpPr>
        <p:spPr>
          <a:xfrm>
            <a:off x="822960" y="397764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6.  Soft delete (ativo = FALSE) é preferível a DELETE físico em sistemas reais.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20;p13"/>
          <p:cNvSpPr/>
          <p:nvPr/>
        </p:nvSpPr>
        <p:spPr>
          <a:xfrm>
            <a:off x="685800" y="466344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Próxima aula: DQL — SELECT, WHERE, ORDER BY, filtragem e projeção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2026-05-11T22:15:25Z</dcterms:created>
  <dc:creator>PptxGenJS</dc:creator>
  <dc:description/>
  <dc:language>pt-BR</dc:language>
  <cp:lastModifiedBy/>
  <dcterms:modified xsi:type="dcterms:W3CDTF">2026-05-11T22:01:29Z</dcterms:modified>
  <cp:revision>1</cp:revision>
  <dc:subject/>
  <dc:title/>
</cp:coreProperties>
</file>