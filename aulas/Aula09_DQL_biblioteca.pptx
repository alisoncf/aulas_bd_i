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(confira com biblioteca_dados.sql)
Principal:
SELECT em.data_retirada, em.data_devolucao, l.titulo, x.numTombo, m.matricula, t.descricao
FROM emprestimo em
INNER JOIN exemplar x ON em.fkExemplar = x.codigo
INNER JOIN livro l ON x.fkLivro = l.codigo
INNER JOIN membro m ON em.fkMembro = m.codigo
INNER JOIN tipo_membro t ON m.fkTipoMembro = t.codigo
ORDER BY em.data_retirada;   -- 5 linhas
1) SELECT titulo, ano FROM livro WHERE ano &lt; 1970 ORDER BY ano;   -- Tropas e Boiadas, O Tronco, Poemas dos Becos de Goiás
2) SELECT nome FROM autor WHERE nacionalidade = 'Brasileira' ORDER BY nome;   -- Bernardo Élis, Cora Coralina, Hugo de Carvalho Ramos
3) SELECT x.numTombo, l.titulo FROM exemplar x INNER JOIN livro l ON x.fkLivro = l.codigo WHERE x.disponivel = 1;   -- T-0002, T-0004, T-0005
4) SELECT a.nome, l.titulo FROM autor a LEFT JOIN autoria au ON au.fkAutor = a.codigo LEFT JOIN livro l ON l.codigo = au.fkLivro;   -- Mia Couto com NULL
5) SELECT m.matricula FROM membro m LEFT JOIN emprestimo em ON em.fkMembro = m.codigo WHERE em.numero IS NULL;   -- S0050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" name="Image 0" descr="/home/claude/v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I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463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— Consulta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3108960"/>
            <a:ext cx="201168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— SELECT · WHERE · ORDER BY · DISTINCT · JOIN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Biblioteca  ·  MySQL/MariaDB  ·  3 horas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600200"/>
            <a:ext cx="2651760" cy="118872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veremos hoje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básico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93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FROM, projeção de colunas, alias e DISTINCT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37760" y="1143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993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Operadores, AND/OR, LIKE, IN, BETWEEN e IS NULL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0233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867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ASC/DESC, várias colunas, LIMIT e a ordem das cláusulas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0233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93776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867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INNER, LEFT e RIGHT JOIN — inclusive a tabela associativa autoria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 — o banco da biblioteca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editora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codEditora PK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nomeEditora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82296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livro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codigo PK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ISBN (opt)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titulo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ano (opt)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fkEditora FK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2296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autoria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fkAutor PK/FK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fkLivro PK/FK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ordem (opt)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82296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codigo PK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nacionalidade (opt)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exemplar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codigo PK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fkLivro FK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numTombo UNIQUE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disponivel DEFAULT 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260604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emprestimo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numero PK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fkExemplar FK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fkMembro FK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data_retirada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data_devolucao (opt)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60604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membro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codigo PK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matricula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fkTipoMembro FK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60604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tipo_membro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codigo PK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descricao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12" name="Text 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EAF3DE"/>
          </a:solidFill>
          <a:ln w="9525">
            <a:solidFill>
              <a:srgbClr val="27500A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com o script biblioteca_dados.sql: 6 livros, 5 autores, 4 editoras, 6 exemplares e 5 empréstimos.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que vamos consultar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423160"/>
                <a:gridCol w="548640"/>
                <a:gridCol w="9601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codigo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titulo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fkEditora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Tronco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sobre a Cegueira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Tropas e Boiadas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Vintém de Cobre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Evangelho segundo Jesus Cristo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9496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editora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codEditora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nomeEditora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José Olympio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Companhia das Letras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Editora UFG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394960" y="2423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2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2697480"/>
          <a:ext cx="6858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12344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codigo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nacionalidade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Cora Coralina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Brasileira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Bernardo Élis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Brasileira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José Saramago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Portuguesa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Hugo de C. Ramos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Brasileira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 Couto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Moçambicana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57200" y="3063240"/>
            <a:ext cx="4572000" cy="914400"/>
          </a:xfrm>
          <a:prstGeom prst="rect">
            <a:avLst/>
          </a:prstGeom>
          <a:solidFill>
            <a:srgbClr val="E6F1F7"/>
          </a:solidFill>
          <a:ln w="9525">
            <a:solidFill>
              <a:srgbClr val="065A8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pequenas de propósito: dá para conferir cada resultado de cabeça. Repare na editora Kelps (sem livros) e em Mia Couto (sem livros) — eles vão aparecer nos JOINs.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Emprestimo, exemplar e membro estão no mesmo script — veremos quando precisarmos.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— Data Query Language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24328" cy="3566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5" name="Image 0" descr="/home/claude/v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1051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3736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dados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031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registros sem modificar nada. O banco permanece intacto após um SELECT.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17520"/>
            <a:ext cx="2258568" cy="123444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868680"/>
            <a:ext cx="2624328" cy="3566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/home/claude/v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515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47288" y="173736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e projeta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21031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decide QUAIS linhas (WHERE) e QUAIS colunas (SELECT col1, col2) quer ver.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447288" y="3017520"/>
            <a:ext cx="2258568" cy="123444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71616" y="868680"/>
            <a:ext cx="2624328" cy="3566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2" descr="/home/claude/v/ppt/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0515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54496" y="173736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tabelas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210312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cruzam dados de várias tabelas em uma única consulta.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54496" y="3017520"/>
            <a:ext cx="2258568" cy="123444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nomeEditora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não altera dados — é sempre seguro executar uma consulta.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 FROM — anatomia de uma consulta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402336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define QUAIS colunas aparecem (projeção)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define DE QUAL tabela os dados vêm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606040"/>
                <a:gridCol w="6400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codigo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titulo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Tronco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sobre a Cegueira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Tropas e Boiadas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Vintém de Cobre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Evangelho segundo Jesus Cristo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834640"/>
            <a:ext cx="4023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2834640"/>
            <a:ext cx="4023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008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específicas (recomendado)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291840"/>
            <a:ext cx="3657600" cy="54864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977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só o que você precisa e deixa claro o que a consulta usa.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(use com moderação)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3291840"/>
            <a:ext cx="3657600" cy="54864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977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todas as colunas — ótimo para explorar, mas evite em sistemas reais (tráfego e acoplamento).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— renomeando colunas e tabelas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de coluna — muda o cabeçalho do resultado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2336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'Título'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'Publicação'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Título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Publicação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Tronco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sobre a Cegueira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2468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de tabela — um apelido curto para a tabela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788920"/>
            <a:ext cx="402336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ou: FROM livro 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27889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é opcional: livro l e livro AS l são a mesma coisa.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no alias de coluna permitem espaços e acentos.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alias de tabela vai ser essencial nos JOINs, quando duas tabelas têm colunas com o mesmo nome (codigo!).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AEEDA"/>
          </a:solidFill>
          <a:ln w="9525">
            <a:solidFill>
              <a:srgbClr val="BA7517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alias de coluna vale no ORDER BY, mas não no WHERE — vamos ver por quê no slide da ordem das cláusulas.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eliminando duplicatas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— sem DISTINCT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393192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11887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fkEditora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8288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linhas,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repetição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— com DISTINCT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051560"/>
            <a:ext cx="393192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11887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fkEditora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12648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linhas,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repetição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3063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na biblioteca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337560"/>
            <a:ext cx="822960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nacionalidade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quais nacionalidades temos no acervo?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fkMembro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emprestimo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quais membros já pegaram livros?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vale para a COMBINAÇÃO das colunas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E6F1F7"/>
          </a:solidFill>
          <a:ln w="9525">
            <a:solidFill>
              <a:srgbClr val="065A8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atua na linha inteira do resultado, não em uma coluna isolada.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— filtrando linhas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comparação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24712"/>
            <a:ext cx="402336" cy="40233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106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33502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fkEditora =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9272" y="1124712"/>
            <a:ext cx="402336" cy="40233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13048" y="1106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133502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ano &lt;&gt; 1965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08192" y="1124712"/>
            <a:ext cx="402336" cy="40233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1106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que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133502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ano &gt; 1990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709928"/>
            <a:ext cx="2651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1783080"/>
            <a:ext cx="402336" cy="40233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1764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que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ano &lt; 1960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1709928"/>
            <a:ext cx="2651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9272" y="1783080"/>
            <a:ext cx="402336" cy="40233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813048" y="1764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ou igual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813048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ano &gt;= 1965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1709928"/>
            <a:ext cx="2651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08192" y="1783080"/>
            <a:ext cx="402336" cy="40233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01968" y="1764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ou igual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601968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codigo &lt;= 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468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condições — AND · OR · NOT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Livros publicados depois de 1980 pela editora 2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Livros da editora 1 OU da editora 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 inverte a condição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AEEDA"/>
          </a:solidFill>
          <a:ln w="9525">
            <a:solidFill>
              <a:srgbClr val="BA7517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é avaliado antes de OR. Na dúvida, use parênteses: WHERE (fkEditora = 1 OR fkEditora = 3) AND ano &gt; 1960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— LIKE e 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960120"/>
            <a:ext cx="822960" cy="31089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9326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padrão em texto.  % = qualquer sequência  ·  _ = exatamente um caractere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3657600" cy="128016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Títulos que começam com 'O 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 %'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'Goi' em qualquer posição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'%Goi%'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 Tronco · O Evangelho segundo Jesus Cristo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Poemas dos Becos de Goiás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49040"/>
            <a:ext cx="3657600" cy="822960"/>
          </a:xfrm>
          <a:prstGeom prst="rect">
            <a:avLst/>
          </a:prstGeom>
          <a:solidFill>
            <a:srgbClr val="E6F1F7"/>
          </a:solidFill>
          <a:ln w="9525">
            <a:solidFill>
              <a:srgbClr val="065A8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nosso banco (collation …_ai_ci), LIKE ignora maiúsculas e acentos: '%jose%' encontra José.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0233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960120"/>
            <a:ext cx="822960" cy="310896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9326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o valor pertence a uma lista. Substitui vários OR.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508760"/>
            <a:ext cx="3657600" cy="128016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Autores portugueses ou moçambicanos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nacionalidade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'Portuguesa'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'Moçambicana'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926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José Saramago · Mia Couto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749040"/>
            <a:ext cx="3657600" cy="822960"/>
          </a:xfrm>
          <a:prstGeom prst="rect">
            <a:avLst/>
          </a:prstGeom>
          <a:solidFill>
            <a:srgbClr val="E6F1F7"/>
          </a:solidFill>
          <a:ln w="9525">
            <a:solidFill>
              <a:srgbClr val="065A8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faz o contrário: todos que NÃO estão na lista.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— BETWEEN e IS NULL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960120"/>
            <a:ext cx="1188720" cy="31089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932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inclusivo — os dois limites entram. Números e datas.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365760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Livros publicados entre 1950 e 1990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6858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titulo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Tronco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Vintém de Cobre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3474720"/>
            <a:ext cx="36576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Datas também funcionam: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data_retirada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'2026-09-01'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'2026-09-30'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ano &gt;= 1950 AND ano &lt;= 1990.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40233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46320" y="960120"/>
            <a:ext cx="1188720" cy="310896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NULL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932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se o campo está vazio (sem valor).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508760"/>
            <a:ext cx="365760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Empréstimos em aberto (não devolvidos)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data_retirada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emprestimo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data_devolucao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514600"/>
          <a:ext cx="6858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numero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data_retirada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4846320" y="3520440"/>
            <a:ext cx="3657600" cy="640080"/>
          </a:xfrm>
          <a:prstGeom prst="rect">
            <a:avLst/>
          </a:prstGeom>
          <a:solidFill>
            <a:srgbClr val="FCEBEB"/>
          </a:solidFill>
          <a:ln w="9525">
            <a:solidFill>
              <a:srgbClr val="A32D2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data_devolucao = NULL  →  0 linhas, sempre!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não é igual a nada — nem a outro NULL.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8463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NULL → empréstimos já devolvidos.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— ordenando resultados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4572000" cy="118872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Livros do mais recente ao mais antigo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Autores em ordem alfabética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2402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822960" cy="310896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Ascendente (padrão)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90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A→Z · 0→9 · datas antigas → recentes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2240280"/>
            <a:ext cx="22402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71800" y="2377440"/>
            <a:ext cx="822960" cy="310896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Descendente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0906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Z→A · 9→0 · datas recentes → antigas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4572000" cy="411480"/>
          </a:xfrm>
          <a:prstGeom prst="rect">
            <a:avLst/>
          </a:prstGeom>
          <a:solidFill>
            <a:srgbClr val="E6F1F7"/>
          </a:solidFill>
          <a:ln w="9525">
            <a:solidFill>
              <a:srgbClr val="065A8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nome  é o mesmo que  ORDER BY nome ASC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777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ORDER BY ano DESC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titulo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sobre a Cegueira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Evangelho segundo Jesus Cristo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Vintém de Cobre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Tronco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Tropas e Boiadas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303520" y="2926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ORDER BY, a ordem das linhas não é garantida — nunca confie nela.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com várias colunas — e LIMIT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Desempate: primeiro por editora, depois por título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420624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6858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fkEditora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titulo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Tronco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sobre a Cegueira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Evangelho segundo Jesus Cristo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Tropas e Boiadas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Vintém de Cobre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703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2ª coluna só decide quando a 1ª empata.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777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— só as primeiras linhas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051560"/>
            <a:ext cx="374904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Os 3 empréstimos mais recentes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data_retirada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emprestimo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data_retirada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103120"/>
          <a:ext cx="6858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numero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data_retirada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937760" y="3200400"/>
            <a:ext cx="3749040" cy="548640"/>
          </a:xfrm>
          <a:prstGeom prst="rect">
            <a:avLst/>
          </a:prstGeom>
          <a:solidFill>
            <a:srgbClr val="FAEEDA"/>
          </a:solidFill>
          <a:ln w="9525">
            <a:solidFill>
              <a:srgbClr val="BA7517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sem ORDER BY devolve "3 linhas quaisquer". Combine sempre os dois.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E6F1F7"/>
          </a:solidFill>
          <a:ln w="9525">
            <a:solidFill>
              <a:srgbClr val="065A8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comum em sistemas: "os 10 mais recentes", "o livro mais antigo" → ORDER BY … LIMIT 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das cláusulas — escrita × execução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escrevemos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777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banco executa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SELECT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FROM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48256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JOIN … 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WHERE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ORDER BY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LIMIT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1097280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FROM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1572768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JOIN … 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2048256"/>
            <a:ext cx="2286000" cy="384048"/>
          </a:xfrm>
          <a:prstGeom prst="rect">
            <a:avLst/>
          </a:prstGeom>
          <a:solidFill>
            <a:srgbClr val="FAEEDA"/>
          </a:solidFill>
          <a:ln w="9525">
            <a:solidFill>
              <a:srgbClr val="BA7517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WHERE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523744"/>
            <a:ext cx="2286000" cy="384048"/>
          </a:xfrm>
          <a:prstGeom prst="rect">
            <a:avLst/>
          </a:prstGeom>
          <a:solidFill>
            <a:srgbClr val="FAEEDA"/>
          </a:solidFill>
          <a:ln w="9525">
            <a:solidFill>
              <a:srgbClr val="BA7517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SELECT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999232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ORDER BY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3474720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LIMIT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822960"/>
            <a:ext cx="29260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94360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prática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2801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WHERE roda antes do SELECT — então ainda não conhece os alias de coluna.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011680"/>
            <a:ext cx="256032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1054: Unknown column 'pub'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200400"/>
            <a:ext cx="256032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ok!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ORDER BY roda depois: aí o alias já existe.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— por que precisamos combinar tabelas?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— o nome da editora está em outra tabela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8229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codigo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titulo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fkEditora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sobre a Cegueira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Tropas e Boiadas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389120" y="1188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codEditora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nomeEditora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José Olympio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Companhia das Letras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Editora UFG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2194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— JOIN cruza as tabelas pela chave (FK = PK)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2468880"/>
            <a:ext cx="475488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'Livro'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nomeEditora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'Editora'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codEditora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468880"/>
          <a:ext cx="68580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4173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Livro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Editora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José Olympio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sobre a Cegueira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Companhia das Letras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Tropas e Boiadas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Editora UFG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457200" y="3840480"/>
            <a:ext cx="4754880" cy="548640"/>
          </a:xfrm>
          <a:prstGeom prst="rect">
            <a:avLst/>
          </a:prstGeom>
          <a:solidFill>
            <a:srgbClr val="EAF3DE"/>
          </a:solidFill>
          <a:ln w="9525">
            <a:solidFill>
              <a:srgbClr val="27500A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usa a relação que você já definiu com FOREIGN KEY — é o modelo relacional em ação.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só o que tem par nas duas tabelas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194560" cy="1828800"/>
          </a:xfrm>
          <a:prstGeom prst="ellipse">
            <a:avLst/>
          </a:prstGeom>
          <a:solidFill>
            <a:srgbClr val="065A82">
              <a:alpha val="45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005840"/>
            <a:ext cx="2194560" cy="1828800"/>
          </a:xfrm>
          <a:prstGeom prst="ellipse">
            <a:avLst/>
          </a:prstGeom>
          <a:solidFill>
            <a:srgbClr val="06D6A0">
              <a:alpha val="55000"/>
            </a:srgbClr>
          </a:solidFill>
          <a:ln w="19050">
            <a:solidFill>
              <a:srgbClr val="1A93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5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737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∩ 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os registros que existem nas DUAS tabelas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868680"/>
            <a:ext cx="4297680" cy="114300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'Livro'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'Editora'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codEditora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sozinho = INNER JOIN.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514600"/>
            <a:ext cx="4297680" cy="685800"/>
          </a:xfrm>
          <a:prstGeom prst="rect">
            <a:avLst/>
          </a:prstGeom>
          <a:solidFill>
            <a:srgbClr val="FAEEDA"/>
          </a:solidFill>
          <a:ln w="9525">
            <a:solidFill>
              <a:srgbClr val="BA7517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editora Kelps não aparece no resultado: ela não tem nenhum livro. INNER JOIN descarta quem não tem par.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E6F1F7"/>
          </a:solidFill>
          <a:ln w="9525">
            <a:solidFill>
              <a:srgbClr val="065A8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ON como uma frase: "junte cada livro com a editora cujo codEditora é igual ao fkEditora do livro".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Encadeando JOINs — a tabela associativa autoria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e autor são N:N — a ligação passa por autoria. São dois JOINs: livro → autoria → autor.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572000" cy="13258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'Livro'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'Autor'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autoria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fkLivro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fkAutor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Livro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Tronco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Bernardo Élis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Cora Coralina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Vintém de Cobre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Cora Coralina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Tropas e Boiadas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Hugo de Carvalho Ramos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sobre a Cegueira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José Saramago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Evangelho segundo J. Cristo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José Saramago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788920"/>
            <a:ext cx="128016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 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7889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7400" y="2788920"/>
            <a:ext cx="128016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autoria au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27889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0" y="2788920"/>
            <a:ext cx="1280160" cy="411480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 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AEEDA"/>
          </a:solidFill>
          <a:ln w="9525">
            <a:solidFill>
              <a:srgbClr val="BA7517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Couto não aparece: não há nenhuma linha dele em autoria. Com LEFT JOIN partindo de autor, ele apareceria com NULL.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FCEBEB"/>
          </a:solidFill>
          <a:ln w="9525">
            <a:solidFill>
              <a:srgbClr val="A32D2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JOIN precisa do seu ON. Esqueceu o ON? O banco combina TODAS as linhas com TODAS (produto cartesiano).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— tudo da esquerda, com ou sem par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4572000" cy="10972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Todas as editoras, mesmo sem livros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nomeEditora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codEditora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868680"/>
          <a:ext cx="68580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nomeEditora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titulo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José Olympio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José Olympio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Tronco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Companhia das Letras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sobre a Cegueira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Companhia das Letras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Evangelho segundo J. Cristo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Editora UFG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Tropas e Boiadas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Editora UFG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Vintém de Cobre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i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Kelps não tem livros: aparece com NULL nas colunas da direita.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43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Truque clássico — achar registros órfãos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017520"/>
            <a:ext cx="4572000" cy="10972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Editoras sem nenhum livro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nomeEditora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fkEditora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codEditora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→ Kelps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3017520"/>
            <a:ext cx="3383280" cy="1097280"/>
          </a:xfrm>
          <a:prstGeom prst="rect">
            <a:avLst/>
          </a:prstGeom>
          <a:solidFill>
            <a:srgbClr val="E6F1F7"/>
          </a:solidFill>
          <a:ln w="9525">
            <a:solidFill>
              <a:srgbClr val="065A8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da esquerda é a que vem no FROM. Ela manda: todas as suas linhas aparecem.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— tudo da direita, com ou sem par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4572000" cy="10972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Todos os livros, mesmo sem exemplar físico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numTombo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fkLivro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86868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titulo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numTombo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Tronco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Ensaio sobre a Cegueira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Tropas e Boiadas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Vintém de Cobre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Evangelho segundo J. Cristo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i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Evangelho… está cadastrado, mas a biblioteca não tem nenhum exemplar dele.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43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resultado com LEFT JOIN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017520"/>
            <a:ext cx="457200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numTombo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fkLivro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3017520"/>
            <a:ext cx="3383280" cy="1097280"/>
          </a:xfrm>
          <a:prstGeom prst="rect">
            <a:avLst/>
          </a:prstGeom>
          <a:solidFill>
            <a:srgbClr val="EAF3DE"/>
          </a:solidFill>
          <a:ln w="9525">
            <a:solidFill>
              <a:srgbClr val="27500A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LEFT JOIN é muito mais comum. Todo RIGHT JOIN pode virar LEFT JOIN trocando a ordem das tabelas.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— comparativo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INNER JOIN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LEFT JOIN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RIGHT JOIN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AA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 cruzamento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Tudo da esquerda + cruzamento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Tudo da direita + cruzamento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par?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 é excluída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nas colunas da direita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nas colunas da esquerda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relacionados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Encontrar registros órfãos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Raro (prefira LEFT)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biblioteca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Livro + editora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Editoras sem livros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Livros sem exemplar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E6F1F7"/>
          </a:solidFill>
          <a:ln w="9525">
            <a:solidFill>
              <a:srgbClr val="065A8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Pergunta-chave antes de escolher o JOIN: "quero ver também quem NÃO tem par?" Se sim → LEFT JOIN. Se não → INNER JOIN.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 — empréstimos em aberto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196596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numTombo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matricula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descricao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data_retirada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emprestimo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fkExemplar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fkLivro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fkMembro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tipo_membro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fkTipoMembro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data_devolucao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data_retirada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68580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868680"/>
                <a:gridCol w="868680"/>
                <a:gridCol w="868680"/>
                <a:gridCol w="13258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titulo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numTombo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matricula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tipo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data_retirada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Poemas dos Becos de Goiás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Tronco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Vintém de Cobre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T-0006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766560" y="3017520"/>
            <a:ext cx="1920240" cy="1005840"/>
          </a:xfrm>
          <a:prstGeom prst="rect">
            <a:avLst/>
          </a:prstGeom>
          <a:solidFill>
            <a:srgbClr val="EAF3DE"/>
          </a:solidFill>
          <a:ln w="9525">
            <a:solidFill>
              <a:srgbClr val="27500A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curtos + um JOIN por linha + ON alinhado = SQL que dá para ler (e corrigir).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cláusulas da aula em uma consulta só: SELECT, alias, JOIN, WHERE, IS NULL e ORDER BY.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aula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define QUAIS colunas ver (projeção). Prefira colunas explícitas a SELECT *.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elimina linhas duplicadas — considera a combinação de colunas.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filtra QUAIS linhas aparecem: AND, OR, NOT, LIKE, IN, BETWEEN e IS NULL (nunca = NULL).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ordena (ASC é o padrão); LIMIT corta o resultado. Sem ORDER BY, não há ordem garantida.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executa FROM → WHERE → SELECT → ORDER BY: por isso o alias não funciona no WHERE.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traz só o que tem par; LEFT JOIN traz tudo da esquerda (NULL onde não há par).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funções de agregação — COUNT, SUM, AVG, MAX, MIN, GROUP BY e HAVING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solidFill>
            <a:srgbClr val="E6F1F7"/>
          </a:solidFill>
          <a:ln w="9525">
            <a:solidFill>
              <a:srgbClr val="065A82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— Liste todos os empréstimos com a data de retirada, a data de devolução, o título do livro, o número de tombo, a matrícula e o tipo do membro, ordenando pela data de retirada.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56232"/>
            <a:ext cx="329184" cy="329184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título e ano dos livros publicados antes de 1970, do mais antigo para o mais recente.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8229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329184" cy="329184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3957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os autores brasileiros em ordem alfabética.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8229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90088"/>
            <a:ext cx="329184" cy="329184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626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 tombo e o título dos exemplares disponíveis (disponivel = 1).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83864"/>
            <a:ext cx="8229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557016"/>
            <a:ext cx="329184" cy="329184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295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todos os autores e os títulos dos seus livros — inclusive autores sem livro.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50792"/>
            <a:ext cx="8229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123944"/>
            <a:ext cx="329184" cy="329184"/>
          </a:xfrm>
          <a:prstGeom prst="rect">
            <a:avLst/>
          </a:prstGeom>
          <a:solidFill>
            <a:srgbClr val="1B9A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0965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membros nunca fizeram empréstimo? Mostre a matrícula. (dica: LEFT JOIN + IS NULL)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DQL — Consulta de Dados (Biblioteca)</dc:title>
  <dc:subject>PptxGenJS Presentation</dc:subject>
  <dc:creator>PptxGenJS</dc:creator>
  <cp:lastModifiedBy>PptxGenJS</cp:lastModifiedBy>
  <cp:revision>1</cp:revision>
  <dcterms:created xsi:type="dcterms:W3CDTF">2026-09-30T22:05:15Z</dcterms:created>
  <dcterms:modified xsi:type="dcterms:W3CDTF">2026-09-30T22:05:15Z</dcterms:modified>
</cp:coreProperties>
</file>